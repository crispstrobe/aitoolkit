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9" r:id="rId1"/>
  </p:sldMasterIdLst>
  <p:notesMasterIdLst>
    <p:notesMasterId r:id="rId33"/>
  </p:notesMasterIdLst>
  <p:handoutMasterIdLst>
    <p:handoutMasterId r:id="rId34"/>
  </p:handoutMasterIdLst>
  <p:sldIdLst>
    <p:sldId id="1091" r:id="rId2"/>
    <p:sldId id="257" r:id="rId3"/>
    <p:sldId id="1125" r:id="rId4"/>
    <p:sldId id="1072" r:id="rId5"/>
    <p:sldId id="1126" r:id="rId6"/>
    <p:sldId id="1070" r:id="rId7"/>
    <p:sldId id="1127" r:id="rId8"/>
    <p:sldId id="1128" r:id="rId9"/>
    <p:sldId id="1129" r:id="rId10"/>
    <p:sldId id="1130" r:id="rId11"/>
    <p:sldId id="1131" r:id="rId12"/>
    <p:sldId id="1132" r:id="rId13"/>
    <p:sldId id="1133" r:id="rId14"/>
    <p:sldId id="1138" r:id="rId15"/>
    <p:sldId id="1139" r:id="rId16"/>
    <p:sldId id="1141" r:id="rId17"/>
    <p:sldId id="1142" r:id="rId18"/>
    <p:sldId id="1134" r:id="rId19"/>
    <p:sldId id="1135" r:id="rId20"/>
    <p:sldId id="1136" r:id="rId21"/>
    <p:sldId id="1121" r:id="rId22"/>
    <p:sldId id="1077" r:id="rId23"/>
    <p:sldId id="1076" r:id="rId24"/>
    <p:sldId id="1106" r:id="rId25"/>
    <p:sldId id="286" r:id="rId26"/>
    <p:sldId id="1105" r:id="rId27"/>
    <p:sldId id="1143" r:id="rId28"/>
    <p:sldId id="1137" r:id="rId29"/>
    <p:sldId id="1145" r:id="rId30"/>
    <p:sldId id="1144" r:id="rId31"/>
    <p:sldId id="1092" r:id="rId32"/>
  </p:sldIdLst>
  <p:sldSz cx="9144000" cy="6858000" type="screen4x3"/>
  <p:notesSz cx="6670675" cy="99298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>
          <p15:clr>
            <a:srgbClr val="A4A3A4"/>
          </p15:clr>
        </p15:guide>
        <p15:guide id="2" pos="210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022" autoAdjust="0"/>
    <p:restoredTop sz="90874" autoAdjust="0"/>
  </p:normalViewPr>
  <p:slideViewPr>
    <p:cSldViewPr>
      <p:cViewPr varScale="1">
        <p:scale>
          <a:sx n="95" d="100"/>
          <a:sy n="95" d="100"/>
        </p:scale>
        <p:origin x="1200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-1764" y="-84"/>
      </p:cViewPr>
      <p:guideLst>
        <p:guide orient="horz" pos="3126"/>
        <p:guide pos="210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handoutMaster" Target="handoutMasters/handout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8A7737FC-5EDA-6A0B-1668-6DAC2442E9F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250" cy="4968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7288" tIns="48645" rIns="97288" bIns="48645" numCol="1" anchor="t" anchorCtr="0" compatLnSpc="1">
            <a:prstTxWarp prst="textNoShape">
              <a:avLst/>
            </a:prstTxWarp>
          </a:bodyPr>
          <a:lstStyle>
            <a:lvl1pPr defTabSz="973138" eaLnBrk="1" hangingPunct="1">
              <a:defRPr sz="1300" b="0"/>
            </a:lvl1pPr>
          </a:lstStyle>
          <a:p>
            <a:pPr>
              <a:defRPr/>
            </a:pPr>
            <a:endParaRPr lang="de-DE" altLang="en-DE"/>
          </a:p>
        </p:txBody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BF01268F-8C4C-76A8-1AE7-F9E5EF507A5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81425" y="0"/>
            <a:ext cx="2889250" cy="4968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7288" tIns="48645" rIns="97288" bIns="48645" numCol="1" anchor="t" anchorCtr="0" compatLnSpc="1">
            <a:prstTxWarp prst="textNoShape">
              <a:avLst/>
            </a:prstTxWarp>
          </a:bodyPr>
          <a:lstStyle>
            <a:lvl1pPr algn="r" defTabSz="973138" eaLnBrk="1" hangingPunct="1">
              <a:defRPr sz="1300" b="0"/>
            </a:lvl1pPr>
          </a:lstStyle>
          <a:p>
            <a:pPr>
              <a:defRPr/>
            </a:pPr>
            <a:endParaRPr lang="de-DE" altLang="en-DE"/>
          </a:p>
        </p:txBody>
      </p:sp>
      <p:sp>
        <p:nvSpPr>
          <p:cNvPr id="66564" name="Rectangle 4">
            <a:extLst>
              <a:ext uri="{FF2B5EF4-FFF2-40B4-BE49-F238E27FC236}">
                <a16:creationId xmlns:a16="http://schemas.microsoft.com/office/drawing/2014/main" id="{58D58BA9-43D8-9153-7F87-5BD25A871DD6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2925"/>
            <a:ext cx="2889250" cy="4968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7288" tIns="48645" rIns="97288" bIns="48645" numCol="1" anchor="b" anchorCtr="0" compatLnSpc="1">
            <a:prstTxWarp prst="textNoShape">
              <a:avLst/>
            </a:prstTxWarp>
          </a:bodyPr>
          <a:lstStyle>
            <a:lvl1pPr defTabSz="973138" eaLnBrk="1" hangingPunct="1">
              <a:defRPr sz="1300" b="0"/>
            </a:lvl1pPr>
          </a:lstStyle>
          <a:p>
            <a:pPr>
              <a:defRPr/>
            </a:pPr>
            <a:endParaRPr lang="de-DE" altLang="en-DE"/>
          </a:p>
        </p:txBody>
      </p:sp>
      <p:sp>
        <p:nvSpPr>
          <p:cNvPr id="66565" name="Rectangle 5">
            <a:extLst>
              <a:ext uri="{FF2B5EF4-FFF2-40B4-BE49-F238E27FC236}">
                <a16:creationId xmlns:a16="http://schemas.microsoft.com/office/drawing/2014/main" id="{5ECFE61E-CF7A-B16E-1933-4C402B875D94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81425" y="9432925"/>
            <a:ext cx="2889250" cy="4968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7288" tIns="48645" rIns="97288" bIns="48645" numCol="1" anchor="b" anchorCtr="0" compatLnSpc="1">
            <a:prstTxWarp prst="textNoShape">
              <a:avLst/>
            </a:prstTxWarp>
          </a:bodyPr>
          <a:lstStyle>
            <a:lvl1pPr algn="r" defTabSz="973138" eaLnBrk="1" hangingPunct="1">
              <a:defRPr sz="1300" b="0" smtClean="0"/>
            </a:lvl1pPr>
          </a:lstStyle>
          <a:p>
            <a:pPr>
              <a:defRPr/>
            </a:pPr>
            <a:fld id="{83E4D618-A0DC-A74A-BE4A-111CE15BB290}" type="slidenum">
              <a:rPr lang="de-DE" altLang="en-DE"/>
              <a:pPr>
                <a:defRPr/>
              </a:pPr>
              <a:t>‹#›</a:t>
            </a:fld>
            <a:endParaRPr lang="de-DE" altLang="en-D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24D5CDC6-A7B6-6ADB-719A-86053BFAF94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250" cy="4968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7288" tIns="48645" rIns="97288" bIns="48645" numCol="1" anchor="t" anchorCtr="0" compatLnSpc="1">
            <a:prstTxWarp prst="textNoShape">
              <a:avLst/>
            </a:prstTxWarp>
          </a:bodyPr>
          <a:lstStyle>
            <a:lvl1pPr defTabSz="973138" eaLnBrk="1" hangingPunct="1">
              <a:defRPr sz="1300" b="0"/>
            </a:lvl1pPr>
          </a:lstStyle>
          <a:p>
            <a:pPr>
              <a:defRPr/>
            </a:pPr>
            <a:endParaRPr lang="de-DE" altLang="en-DE"/>
          </a:p>
        </p:txBody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09B561C5-D268-DD07-FB06-239AA8368CB2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781425" y="0"/>
            <a:ext cx="2889250" cy="4968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7288" tIns="48645" rIns="97288" bIns="48645" numCol="1" anchor="t" anchorCtr="0" compatLnSpc="1">
            <a:prstTxWarp prst="textNoShape">
              <a:avLst/>
            </a:prstTxWarp>
          </a:bodyPr>
          <a:lstStyle>
            <a:lvl1pPr algn="r" defTabSz="973138" eaLnBrk="1" hangingPunct="1">
              <a:defRPr sz="1300" b="0"/>
            </a:lvl1pPr>
          </a:lstStyle>
          <a:p>
            <a:pPr>
              <a:defRPr/>
            </a:pPr>
            <a:endParaRPr lang="de-DE" altLang="en-DE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C6CBCCC9-867D-7093-150C-43BAF39F26D3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54075" y="746125"/>
            <a:ext cx="4965700" cy="37242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8613" name="Rectangle 5">
            <a:extLst>
              <a:ext uri="{FF2B5EF4-FFF2-40B4-BE49-F238E27FC236}">
                <a16:creationId xmlns:a16="http://schemas.microsoft.com/office/drawing/2014/main" id="{2030306F-6AD1-0FD7-CC47-3DD52AC14F1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89000" y="4716463"/>
            <a:ext cx="4892675" cy="44672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7288" tIns="48645" rIns="97288" bIns="4864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en-DE" noProof="0"/>
              <a:t>Klicken Sie, um die Formate des Vorlagentextes zu bearbeiten</a:t>
            </a:r>
          </a:p>
          <a:p>
            <a:pPr lvl="1"/>
            <a:r>
              <a:rPr lang="de-DE" altLang="en-DE" noProof="0"/>
              <a:t>Zweite Ebene</a:t>
            </a:r>
          </a:p>
          <a:p>
            <a:pPr lvl="2"/>
            <a:r>
              <a:rPr lang="de-DE" altLang="en-DE" noProof="0"/>
              <a:t>Dritte Ebene</a:t>
            </a:r>
          </a:p>
          <a:p>
            <a:pPr lvl="3"/>
            <a:r>
              <a:rPr lang="de-DE" altLang="en-DE" noProof="0"/>
              <a:t>Vierte Ebene</a:t>
            </a:r>
          </a:p>
          <a:p>
            <a:pPr lvl="4"/>
            <a:r>
              <a:rPr lang="de-DE" altLang="en-DE" noProof="0"/>
              <a:t>Fünfte Ebene</a:t>
            </a:r>
          </a:p>
        </p:txBody>
      </p:sp>
      <p:sp>
        <p:nvSpPr>
          <p:cNvPr id="68614" name="Rectangle 6">
            <a:extLst>
              <a:ext uri="{FF2B5EF4-FFF2-40B4-BE49-F238E27FC236}">
                <a16:creationId xmlns:a16="http://schemas.microsoft.com/office/drawing/2014/main" id="{DCA7CDD9-B407-1A3F-C868-9F07276FA46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2925"/>
            <a:ext cx="2889250" cy="4968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7288" tIns="48645" rIns="97288" bIns="48645" numCol="1" anchor="b" anchorCtr="0" compatLnSpc="1">
            <a:prstTxWarp prst="textNoShape">
              <a:avLst/>
            </a:prstTxWarp>
          </a:bodyPr>
          <a:lstStyle>
            <a:lvl1pPr defTabSz="973138" eaLnBrk="1" hangingPunct="1">
              <a:defRPr sz="1300" b="0"/>
            </a:lvl1pPr>
          </a:lstStyle>
          <a:p>
            <a:pPr>
              <a:defRPr/>
            </a:pPr>
            <a:endParaRPr lang="de-DE" altLang="en-DE"/>
          </a:p>
        </p:txBody>
      </p:sp>
      <p:sp>
        <p:nvSpPr>
          <p:cNvPr id="68615" name="Rectangle 7">
            <a:extLst>
              <a:ext uri="{FF2B5EF4-FFF2-40B4-BE49-F238E27FC236}">
                <a16:creationId xmlns:a16="http://schemas.microsoft.com/office/drawing/2014/main" id="{BF9136BB-61F1-914C-E1B1-E63C59D79C4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81425" y="9432925"/>
            <a:ext cx="2889250" cy="4968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7288" tIns="48645" rIns="97288" bIns="48645" numCol="1" anchor="b" anchorCtr="0" compatLnSpc="1">
            <a:prstTxWarp prst="textNoShape">
              <a:avLst/>
            </a:prstTxWarp>
          </a:bodyPr>
          <a:lstStyle>
            <a:lvl1pPr algn="r" defTabSz="973138" eaLnBrk="1" hangingPunct="1">
              <a:defRPr sz="1300" b="0" smtClean="0"/>
            </a:lvl1pPr>
          </a:lstStyle>
          <a:p>
            <a:pPr>
              <a:defRPr/>
            </a:pPr>
            <a:fld id="{2864DF67-1095-7D49-AC34-B94B5FE93543}" type="slidenum">
              <a:rPr lang="de-DE" altLang="en-DE"/>
              <a:pPr>
                <a:defRPr/>
              </a:pPr>
              <a:t>‹#›</a:t>
            </a:fld>
            <a:endParaRPr lang="de-DE" altLang="en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864DF67-1095-7D49-AC34-B94B5FE93543}" type="slidenum">
              <a:rPr lang="de-DE" altLang="en-DE" smtClean="0"/>
              <a:pPr>
                <a:defRPr/>
              </a:pPr>
              <a:t>2</a:t>
            </a:fld>
            <a:endParaRPr lang="de-DE" altLang="en-DE"/>
          </a:p>
        </p:txBody>
      </p:sp>
    </p:spTree>
    <p:extLst>
      <p:ext uri="{BB962C8B-B14F-4D97-AF65-F5344CB8AC3E}">
        <p14:creationId xmlns:p14="http://schemas.microsoft.com/office/powerpoint/2010/main" val="36642897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45FB1-FC38-35CE-9169-F26EB03DF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>
            <a:extLst>
              <a:ext uri="{FF2B5EF4-FFF2-40B4-BE49-F238E27FC236}">
                <a16:creationId xmlns:a16="http://schemas.microsoft.com/office/drawing/2014/main" id="{734F4F88-6E2A-69F2-B8C0-E8965795ED7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731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731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731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731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086F22C-C419-BB45-BD56-BFB59F0895BD}" type="slidenum">
              <a:rPr lang="de-DE" altLang="en-DE" sz="1300" b="0"/>
              <a:pPr/>
              <a:t>3</a:t>
            </a:fld>
            <a:endParaRPr lang="de-DE" altLang="en-DE" sz="1300" b="0"/>
          </a:p>
        </p:txBody>
      </p:sp>
      <p:sp>
        <p:nvSpPr>
          <p:cNvPr id="18434" name="Rectangle 2">
            <a:extLst>
              <a:ext uri="{FF2B5EF4-FFF2-40B4-BE49-F238E27FC236}">
                <a16:creationId xmlns:a16="http://schemas.microsoft.com/office/drawing/2014/main" id="{3DCE5B2B-3929-692F-4020-92B0F349B3F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FD3E9C7B-FB5F-4D5B-D4AA-7ECC44F8F2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de-DE" altLang="en-DE"/>
          </a:p>
        </p:txBody>
      </p:sp>
    </p:spTree>
    <p:extLst>
      <p:ext uri="{BB962C8B-B14F-4D97-AF65-F5344CB8AC3E}">
        <p14:creationId xmlns:p14="http://schemas.microsoft.com/office/powerpoint/2010/main" val="5383515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>
            <a:extLst>
              <a:ext uri="{FF2B5EF4-FFF2-40B4-BE49-F238E27FC236}">
                <a16:creationId xmlns:a16="http://schemas.microsoft.com/office/drawing/2014/main" id="{824382FC-A782-680D-5D40-E2D1A547EE4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731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731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731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731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086F22C-C419-BB45-BD56-BFB59F0895BD}" type="slidenum">
              <a:rPr lang="de-DE" altLang="en-DE" sz="1300" b="0"/>
              <a:pPr/>
              <a:t>4</a:t>
            </a:fld>
            <a:endParaRPr lang="de-DE" altLang="en-DE" sz="1300" b="0"/>
          </a:p>
        </p:txBody>
      </p:sp>
      <p:sp>
        <p:nvSpPr>
          <p:cNvPr id="18434" name="Rectangle 2">
            <a:extLst>
              <a:ext uri="{FF2B5EF4-FFF2-40B4-BE49-F238E27FC236}">
                <a16:creationId xmlns:a16="http://schemas.microsoft.com/office/drawing/2014/main" id="{21DDDB75-92E8-394E-A781-3881681EB5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6CC27BD1-4038-569F-4E5B-F5A3A8BCC0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de-DE" altLang="en-DE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DD9CA-60E2-7998-12F6-51D56B6FE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>
            <a:extLst>
              <a:ext uri="{FF2B5EF4-FFF2-40B4-BE49-F238E27FC236}">
                <a16:creationId xmlns:a16="http://schemas.microsoft.com/office/drawing/2014/main" id="{BB24FB41-AAA4-05A8-72C8-D29242DF2DF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731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731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731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731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086F22C-C419-BB45-BD56-BFB59F0895BD}" type="slidenum">
              <a:rPr lang="de-DE" altLang="en-DE" sz="1300" b="0"/>
              <a:pPr/>
              <a:t>5</a:t>
            </a:fld>
            <a:endParaRPr lang="de-DE" altLang="en-DE" sz="1300" b="0"/>
          </a:p>
        </p:txBody>
      </p:sp>
      <p:sp>
        <p:nvSpPr>
          <p:cNvPr id="18434" name="Rectangle 2">
            <a:extLst>
              <a:ext uri="{FF2B5EF4-FFF2-40B4-BE49-F238E27FC236}">
                <a16:creationId xmlns:a16="http://schemas.microsoft.com/office/drawing/2014/main" id="{63577ECC-368C-CEAE-A98D-BB1C0A4DBA7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63540F8B-9BC4-0DB4-7D95-6250C9E438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de-DE" altLang="en-DE"/>
          </a:p>
        </p:txBody>
      </p:sp>
    </p:spTree>
    <p:extLst>
      <p:ext uri="{BB962C8B-B14F-4D97-AF65-F5344CB8AC3E}">
        <p14:creationId xmlns:p14="http://schemas.microsoft.com/office/powerpoint/2010/main" val="1751681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7">
            <a:extLst>
              <a:ext uri="{FF2B5EF4-FFF2-40B4-BE49-F238E27FC236}">
                <a16:creationId xmlns:a16="http://schemas.microsoft.com/office/drawing/2014/main" id="{4C269DE6-DE2E-ACBB-C8C5-AE28B31D0DB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731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731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731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731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052C6A7-B9E4-4E4A-8534-8B19C4EC9406}" type="slidenum">
              <a:rPr lang="de-DE" altLang="en-DE" sz="1300" b="0"/>
              <a:pPr/>
              <a:t>6</a:t>
            </a:fld>
            <a:endParaRPr lang="de-DE" altLang="en-DE" sz="1300" b="0"/>
          </a:p>
        </p:txBody>
      </p:sp>
      <p:sp>
        <p:nvSpPr>
          <p:cNvPr id="10242" name="Rectangle 2">
            <a:extLst>
              <a:ext uri="{FF2B5EF4-FFF2-40B4-BE49-F238E27FC236}">
                <a16:creationId xmlns:a16="http://schemas.microsoft.com/office/drawing/2014/main" id="{6BAF7E1C-8EED-C6E4-B9E6-7186C570656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9457940E-E7AF-CC73-C5CD-6B89A40117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de-DE" altLang="en-DE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4CD01-F03C-B610-2B7A-41EF58784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7">
            <a:extLst>
              <a:ext uri="{FF2B5EF4-FFF2-40B4-BE49-F238E27FC236}">
                <a16:creationId xmlns:a16="http://schemas.microsoft.com/office/drawing/2014/main" id="{0076A9A4-8E6F-047E-8FDB-360E8CEC49C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731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731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731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731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052C6A7-B9E4-4E4A-8534-8B19C4EC9406}" type="slidenum">
              <a:rPr lang="de-DE" altLang="en-DE" sz="1300" b="0"/>
              <a:pPr/>
              <a:t>7</a:t>
            </a:fld>
            <a:endParaRPr lang="de-DE" altLang="en-DE" sz="1300" b="0"/>
          </a:p>
        </p:txBody>
      </p:sp>
      <p:sp>
        <p:nvSpPr>
          <p:cNvPr id="10242" name="Rectangle 2">
            <a:extLst>
              <a:ext uri="{FF2B5EF4-FFF2-40B4-BE49-F238E27FC236}">
                <a16:creationId xmlns:a16="http://schemas.microsoft.com/office/drawing/2014/main" id="{6DE21EA2-9315-E476-C5F8-2B47B085489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542B82E5-8E78-FD71-F47A-EB49AE194B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de-DE" altLang="en-DE"/>
          </a:p>
        </p:txBody>
      </p:sp>
    </p:spTree>
    <p:extLst>
      <p:ext uri="{BB962C8B-B14F-4D97-AF65-F5344CB8AC3E}">
        <p14:creationId xmlns:p14="http://schemas.microsoft.com/office/powerpoint/2010/main" val="30862487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F5AFC-D8EC-09CB-EB72-941E33D92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7">
            <a:extLst>
              <a:ext uri="{FF2B5EF4-FFF2-40B4-BE49-F238E27FC236}">
                <a16:creationId xmlns:a16="http://schemas.microsoft.com/office/drawing/2014/main" id="{2A0342A3-062B-855C-2E98-2174358707B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731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731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731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731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052C6A7-B9E4-4E4A-8534-8B19C4EC9406}" type="slidenum">
              <a:rPr lang="de-DE" altLang="en-DE" sz="1300" b="0"/>
              <a:pPr/>
              <a:t>8</a:t>
            </a:fld>
            <a:endParaRPr lang="de-DE" altLang="en-DE" sz="1300" b="0"/>
          </a:p>
        </p:txBody>
      </p:sp>
      <p:sp>
        <p:nvSpPr>
          <p:cNvPr id="10242" name="Rectangle 2">
            <a:extLst>
              <a:ext uri="{FF2B5EF4-FFF2-40B4-BE49-F238E27FC236}">
                <a16:creationId xmlns:a16="http://schemas.microsoft.com/office/drawing/2014/main" id="{3C7F95D1-020F-928C-BD1A-9C96EB1369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C24726C1-A1CE-55D8-E0EA-D036C75665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de-DE" altLang="en-DE"/>
          </a:p>
        </p:txBody>
      </p:sp>
    </p:spTree>
    <p:extLst>
      <p:ext uri="{BB962C8B-B14F-4D97-AF65-F5344CB8AC3E}">
        <p14:creationId xmlns:p14="http://schemas.microsoft.com/office/powerpoint/2010/main" val="4574116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5D8C2-029C-5720-3A38-D8664CD7A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7">
            <a:extLst>
              <a:ext uri="{FF2B5EF4-FFF2-40B4-BE49-F238E27FC236}">
                <a16:creationId xmlns:a16="http://schemas.microsoft.com/office/drawing/2014/main" id="{67BAC508-EB5E-D3AD-751D-15B469D2568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731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731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731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731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052C6A7-B9E4-4E4A-8534-8B19C4EC9406}" type="slidenum">
              <a:rPr lang="de-DE" altLang="en-DE" sz="1300" b="0"/>
              <a:pPr/>
              <a:t>9</a:t>
            </a:fld>
            <a:endParaRPr lang="de-DE" altLang="en-DE" sz="1300" b="0"/>
          </a:p>
        </p:txBody>
      </p:sp>
      <p:sp>
        <p:nvSpPr>
          <p:cNvPr id="10242" name="Rectangle 2">
            <a:extLst>
              <a:ext uri="{FF2B5EF4-FFF2-40B4-BE49-F238E27FC236}">
                <a16:creationId xmlns:a16="http://schemas.microsoft.com/office/drawing/2014/main" id="{8BEAC065-A94E-A424-8FFF-82261B0A63F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2DD32DA9-C3C1-9298-9390-5072EA2B03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de-DE" altLang="en-DE"/>
          </a:p>
        </p:txBody>
      </p:sp>
    </p:spTree>
    <p:extLst>
      <p:ext uri="{BB962C8B-B14F-4D97-AF65-F5344CB8AC3E}">
        <p14:creationId xmlns:p14="http://schemas.microsoft.com/office/powerpoint/2010/main" val="5666422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0662B-F294-A7A6-90E1-3E22BF2CA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7">
            <a:extLst>
              <a:ext uri="{FF2B5EF4-FFF2-40B4-BE49-F238E27FC236}">
                <a16:creationId xmlns:a16="http://schemas.microsoft.com/office/drawing/2014/main" id="{F9D54210-47D8-E972-C3BB-20084055C1B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731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731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731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731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052C6A7-B9E4-4E4A-8534-8B19C4EC9406}" type="slidenum">
              <a:rPr lang="de-DE" altLang="en-DE" sz="1300" b="0"/>
              <a:pPr/>
              <a:t>10</a:t>
            </a:fld>
            <a:endParaRPr lang="de-DE" altLang="en-DE" sz="1300" b="0"/>
          </a:p>
        </p:txBody>
      </p:sp>
      <p:sp>
        <p:nvSpPr>
          <p:cNvPr id="10242" name="Rectangle 2">
            <a:extLst>
              <a:ext uri="{FF2B5EF4-FFF2-40B4-BE49-F238E27FC236}">
                <a16:creationId xmlns:a16="http://schemas.microsoft.com/office/drawing/2014/main" id="{AAFA3051-4DBB-B782-928A-DADA3E8A06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88399E6A-D008-6AE3-0DFD-32CB5415FC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de-DE" altLang="en-DE" dirty="0"/>
          </a:p>
        </p:txBody>
      </p:sp>
    </p:spTree>
    <p:extLst>
      <p:ext uri="{BB962C8B-B14F-4D97-AF65-F5344CB8AC3E}">
        <p14:creationId xmlns:p14="http://schemas.microsoft.com/office/powerpoint/2010/main" val="2677925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B1365-7D51-4BC5-0E71-C1DEFEEBD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7">
            <a:extLst>
              <a:ext uri="{FF2B5EF4-FFF2-40B4-BE49-F238E27FC236}">
                <a16:creationId xmlns:a16="http://schemas.microsoft.com/office/drawing/2014/main" id="{DE5F6D43-3589-5B31-68BD-F2A4C1C918F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731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731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731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731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052C6A7-B9E4-4E4A-8534-8B19C4EC9406}" type="slidenum">
              <a:rPr lang="de-DE" altLang="en-DE" sz="1300" b="0"/>
              <a:pPr/>
              <a:t>11</a:t>
            </a:fld>
            <a:endParaRPr lang="de-DE" altLang="en-DE" sz="1300" b="0"/>
          </a:p>
        </p:txBody>
      </p:sp>
      <p:sp>
        <p:nvSpPr>
          <p:cNvPr id="10242" name="Rectangle 2">
            <a:extLst>
              <a:ext uri="{FF2B5EF4-FFF2-40B4-BE49-F238E27FC236}">
                <a16:creationId xmlns:a16="http://schemas.microsoft.com/office/drawing/2014/main" id="{0E6C1CE1-9FAE-8163-F004-1752E0F6E4C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16A34968-37CF-0C56-C090-34E630556A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de-DE" altLang="en-DE" dirty="0"/>
          </a:p>
        </p:txBody>
      </p:sp>
    </p:spTree>
    <p:extLst>
      <p:ext uri="{BB962C8B-B14F-4D97-AF65-F5344CB8AC3E}">
        <p14:creationId xmlns:p14="http://schemas.microsoft.com/office/powerpoint/2010/main" val="21162690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10D0A-8E0F-1B28-AEA8-54B6C1815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7">
            <a:extLst>
              <a:ext uri="{FF2B5EF4-FFF2-40B4-BE49-F238E27FC236}">
                <a16:creationId xmlns:a16="http://schemas.microsoft.com/office/drawing/2014/main" id="{A1985B1E-FFED-4DB9-AC36-2429104F25E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731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731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731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731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052C6A7-B9E4-4E4A-8534-8B19C4EC9406}" type="slidenum">
              <a:rPr lang="de-DE" altLang="en-DE" sz="1300" b="0"/>
              <a:pPr/>
              <a:t>12</a:t>
            </a:fld>
            <a:endParaRPr lang="de-DE" altLang="en-DE" sz="1300" b="0"/>
          </a:p>
        </p:txBody>
      </p:sp>
      <p:sp>
        <p:nvSpPr>
          <p:cNvPr id="10242" name="Rectangle 2">
            <a:extLst>
              <a:ext uri="{FF2B5EF4-FFF2-40B4-BE49-F238E27FC236}">
                <a16:creationId xmlns:a16="http://schemas.microsoft.com/office/drawing/2014/main" id="{29F94B93-47FE-BFCE-B65F-8B8DAAD07BF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541F6ED0-31F0-96CE-95A3-CF3FE5F068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de-DE" altLang="en-DE" dirty="0"/>
          </a:p>
        </p:txBody>
      </p:sp>
    </p:spTree>
    <p:extLst>
      <p:ext uri="{BB962C8B-B14F-4D97-AF65-F5344CB8AC3E}">
        <p14:creationId xmlns:p14="http://schemas.microsoft.com/office/powerpoint/2010/main" val="8995577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AA5EC-F0E0-ED9B-9F36-EB463B503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7">
            <a:extLst>
              <a:ext uri="{FF2B5EF4-FFF2-40B4-BE49-F238E27FC236}">
                <a16:creationId xmlns:a16="http://schemas.microsoft.com/office/drawing/2014/main" id="{688C0BCD-7596-56BB-FB0A-EC434798402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731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731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731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731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052C6A7-B9E4-4E4A-8534-8B19C4EC9406}" type="slidenum">
              <a:rPr lang="de-DE" altLang="en-DE" sz="1300" b="0"/>
              <a:pPr/>
              <a:t>13</a:t>
            </a:fld>
            <a:endParaRPr lang="de-DE" altLang="en-DE" sz="1300" b="0"/>
          </a:p>
        </p:txBody>
      </p:sp>
      <p:sp>
        <p:nvSpPr>
          <p:cNvPr id="10242" name="Rectangle 2">
            <a:extLst>
              <a:ext uri="{FF2B5EF4-FFF2-40B4-BE49-F238E27FC236}">
                <a16:creationId xmlns:a16="http://schemas.microsoft.com/office/drawing/2014/main" id="{A92296DD-F206-FDC1-8D71-387257AB59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BC883CA0-B640-DB20-0FDC-AE964214A2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de-DE" altLang="en-DE"/>
          </a:p>
        </p:txBody>
      </p:sp>
    </p:spTree>
    <p:extLst>
      <p:ext uri="{BB962C8B-B14F-4D97-AF65-F5344CB8AC3E}">
        <p14:creationId xmlns:p14="http://schemas.microsoft.com/office/powerpoint/2010/main" val="6179900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3D49A-CDFB-58FE-1003-FD7D30265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7">
            <a:extLst>
              <a:ext uri="{FF2B5EF4-FFF2-40B4-BE49-F238E27FC236}">
                <a16:creationId xmlns:a16="http://schemas.microsoft.com/office/drawing/2014/main" id="{64B5999B-D816-955D-BB07-8C811CB6E86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731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731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731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731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052C6A7-B9E4-4E4A-8534-8B19C4EC9406}" type="slidenum">
              <a:rPr lang="de-DE" altLang="en-DE" sz="1300" b="0"/>
              <a:pPr/>
              <a:t>14</a:t>
            </a:fld>
            <a:endParaRPr lang="de-DE" altLang="en-DE" sz="1300" b="0"/>
          </a:p>
        </p:txBody>
      </p:sp>
      <p:sp>
        <p:nvSpPr>
          <p:cNvPr id="10242" name="Rectangle 2">
            <a:extLst>
              <a:ext uri="{FF2B5EF4-FFF2-40B4-BE49-F238E27FC236}">
                <a16:creationId xmlns:a16="http://schemas.microsoft.com/office/drawing/2014/main" id="{F3812726-533B-E049-09B0-D7C97AD875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00E20D53-97AB-5CCC-AD12-79F3A98AB0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de-DE" altLang="en-DE"/>
          </a:p>
        </p:txBody>
      </p:sp>
    </p:spTree>
    <p:extLst>
      <p:ext uri="{BB962C8B-B14F-4D97-AF65-F5344CB8AC3E}">
        <p14:creationId xmlns:p14="http://schemas.microsoft.com/office/powerpoint/2010/main" val="25001535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6572F-BCA8-4351-7CCC-0A2F6F913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7">
            <a:extLst>
              <a:ext uri="{FF2B5EF4-FFF2-40B4-BE49-F238E27FC236}">
                <a16:creationId xmlns:a16="http://schemas.microsoft.com/office/drawing/2014/main" id="{13A1E068-CE6D-84A1-56B3-89FF18D5980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731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731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731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731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052C6A7-B9E4-4E4A-8534-8B19C4EC9406}" type="slidenum">
              <a:rPr lang="de-DE" altLang="en-DE" sz="1300" b="0"/>
              <a:pPr/>
              <a:t>15</a:t>
            </a:fld>
            <a:endParaRPr lang="de-DE" altLang="en-DE" sz="1300" b="0"/>
          </a:p>
        </p:txBody>
      </p:sp>
      <p:sp>
        <p:nvSpPr>
          <p:cNvPr id="10242" name="Rectangle 2">
            <a:extLst>
              <a:ext uri="{FF2B5EF4-FFF2-40B4-BE49-F238E27FC236}">
                <a16:creationId xmlns:a16="http://schemas.microsoft.com/office/drawing/2014/main" id="{37D5272F-1317-B1E5-B9AE-CD1B09D0DF0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C5D34080-152C-2431-F907-A3231B5B5F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de-DE" altLang="en-DE"/>
          </a:p>
        </p:txBody>
      </p:sp>
    </p:spTree>
    <p:extLst>
      <p:ext uri="{BB962C8B-B14F-4D97-AF65-F5344CB8AC3E}">
        <p14:creationId xmlns:p14="http://schemas.microsoft.com/office/powerpoint/2010/main" val="22614590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06FB7-4217-6DA4-76BA-E3AFF3D4D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7">
            <a:extLst>
              <a:ext uri="{FF2B5EF4-FFF2-40B4-BE49-F238E27FC236}">
                <a16:creationId xmlns:a16="http://schemas.microsoft.com/office/drawing/2014/main" id="{4BAC51BC-6957-0B12-8D95-C4C7E6F5F7A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731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731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731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731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052C6A7-B9E4-4E4A-8534-8B19C4EC9406}" type="slidenum">
              <a:rPr lang="de-DE" altLang="en-DE" sz="1300" b="0"/>
              <a:pPr/>
              <a:t>16</a:t>
            </a:fld>
            <a:endParaRPr lang="de-DE" altLang="en-DE" sz="1300" b="0"/>
          </a:p>
        </p:txBody>
      </p:sp>
      <p:sp>
        <p:nvSpPr>
          <p:cNvPr id="10242" name="Rectangle 2">
            <a:extLst>
              <a:ext uri="{FF2B5EF4-FFF2-40B4-BE49-F238E27FC236}">
                <a16:creationId xmlns:a16="http://schemas.microsoft.com/office/drawing/2014/main" id="{80AF2D79-99AD-1276-8809-4AE63790CCF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E001A88C-98C3-5FCF-3018-AC0E3E6B02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de-DE" altLang="en-DE"/>
          </a:p>
        </p:txBody>
      </p:sp>
    </p:spTree>
    <p:extLst>
      <p:ext uri="{BB962C8B-B14F-4D97-AF65-F5344CB8AC3E}">
        <p14:creationId xmlns:p14="http://schemas.microsoft.com/office/powerpoint/2010/main" val="12164791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3530C-77BD-BC51-568B-B8C015E7F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>
            <a:extLst>
              <a:ext uri="{FF2B5EF4-FFF2-40B4-BE49-F238E27FC236}">
                <a16:creationId xmlns:a16="http://schemas.microsoft.com/office/drawing/2014/main" id="{BE3B4D44-AFF1-9047-00AB-336529EF10D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731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731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731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731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086F22C-C419-BB45-BD56-BFB59F0895BD}" type="slidenum">
              <a:rPr lang="de-DE" altLang="en-DE" sz="1300" b="0"/>
              <a:pPr/>
              <a:t>17</a:t>
            </a:fld>
            <a:endParaRPr lang="de-DE" altLang="en-DE" sz="1300" b="0"/>
          </a:p>
        </p:txBody>
      </p:sp>
      <p:sp>
        <p:nvSpPr>
          <p:cNvPr id="18434" name="Rectangle 2">
            <a:extLst>
              <a:ext uri="{FF2B5EF4-FFF2-40B4-BE49-F238E27FC236}">
                <a16:creationId xmlns:a16="http://schemas.microsoft.com/office/drawing/2014/main" id="{F641888F-2553-3EC7-98AF-FB12BBD1B94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CD41A585-7E9F-7C8B-0B7F-E104113813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de-DE" altLang="en-DE"/>
          </a:p>
        </p:txBody>
      </p:sp>
    </p:spTree>
    <p:extLst>
      <p:ext uri="{BB962C8B-B14F-4D97-AF65-F5344CB8AC3E}">
        <p14:creationId xmlns:p14="http://schemas.microsoft.com/office/powerpoint/2010/main" val="13591687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0E141-5F91-7885-EAB1-178236B3A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7">
            <a:extLst>
              <a:ext uri="{FF2B5EF4-FFF2-40B4-BE49-F238E27FC236}">
                <a16:creationId xmlns:a16="http://schemas.microsoft.com/office/drawing/2014/main" id="{4EA32934-5A7E-E50C-0280-0668AA84EB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731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731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731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731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052C6A7-B9E4-4E4A-8534-8B19C4EC9406}" type="slidenum">
              <a:rPr lang="de-DE" altLang="en-DE" sz="1300" b="0"/>
              <a:pPr/>
              <a:t>18</a:t>
            </a:fld>
            <a:endParaRPr lang="de-DE" altLang="en-DE" sz="1300" b="0"/>
          </a:p>
        </p:txBody>
      </p:sp>
      <p:sp>
        <p:nvSpPr>
          <p:cNvPr id="10242" name="Rectangle 2">
            <a:extLst>
              <a:ext uri="{FF2B5EF4-FFF2-40B4-BE49-F238E27FC236}">
                <a16:creationId xmlns:a16="http://schemas.microsoft.com/office/drawing/2014/main" id="{8AB7DD32-60A3-EF7B-8C0E-B4FFE27CC21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5373E35D-BF31-D777-A3EE-F892DCB370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de-DE" altLang="en-DE"/>
          </a:p>
        </p:txBody>
      </p:sp>
    </p:spTree>
    <p:extLst>
      <p:ext uri="{BB962C8B-B14F-4D97-AF65-F5344CB8AC3E}">
        <p14:creationId xmlns:p14="http://schemas.microsoft.com/office/powerpoint/2010/main" val="13708596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B543E-FAA9-5B37-0531-691FA43B8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7">
            <a:extLst>
              <a:ext uri="{FF2B5EF4-FFF2-40B4-BE49-F238E27FC236}">
                <a16:creationId xmlns:a16="http://schemas.microsoft.com/office/drawing/2014/main" id="{386A239C-D6A2-B6D8-BF34-EF3FD72D2B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731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731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731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731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052C6A7-B9E4-4E4A-8534-8B19C4EC9406}" type="slidenum">
              <a:rPr lang="de-DE" altLang="en-DE" sz="1300" b="0"/>
              <a:pPr/>
              <a:t>19</a:t>
            </a:fld>
            <a:endParaRPr lang="de-DE" altLang="en-DE" sz="1300" b="0"/>
          </a:p>
        </p:txBody>
      </p:sp>
      <p:sp>
        <p:nvSpPr>
          <p:cNvPr id="10242" name="Rectangle 2">
            <a:extLst>
              <a:ext uri="{FF2B5EF4-FFF2-40B4-BE49-F238E27FC236}">
                <a16:creationId xmlns:a16="http://schemas.microsoft.com/office/drawing/2014/main" id="{10355F20-1CA5-CA06-4986-2E53D742EA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813CECD3-A813-393A-E9D4-3410B2BE55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de-DE" altLang="en-DE"/>
          </a:p>
        </p:txBody>
      </p:sp>
    </p:spTree>
    <p:extLst>
      <p:ext uri="{BB962C8B-B14F-4D97-AF65-F5344CB8AC3E}">
        <p14:creationId xmlns:p14="http://schemas.microsoft.com/office/powerpoint/2010/main" val="1423427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3A43E-8276-331E-F3DB-16FEDFF6E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7">
            <a:extLst>
              <a:ext uri="{FF2B5EF4-FFF2-40B4-BE49-F238E27FC236}">
                <a16:creationId xmlns:a16="http://schemas.microsoft.com/office/drawing/2014/main" id="{94F74E27-3555-821E-8D79-6BF75C72D33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731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731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731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731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052C6A7-B9E4-4E4A-8534-8B19C4EC9406}" type="slidenum">
              <a:rPr lang="de-DE" altLang="en-DE" sz="1300" b="0"/>
              <a:pPr/>
              <a:t>20</a:t>
            </a:fld>
            <a:endParaRPr lang="de-DE" altLang="en-DE" sz="1300" b="0"/>
          </a:p>
        </p:txBody>
      </p:sp>
      <p:sp>
        <p:nvSpPr>
          <p:cNvPr id="10242" name="Rectangle 2">
            <a:extLst>
              <a:ext uri="{FF2B5EF4-FFF2-40B4-BE49-F238E27FC236}">
                <a16:creationId xmlns:a16="http://schemas.microsoft.com/office/drawing/2014/main" id="{44D44794-C965-D728-EE29-D55E6DCF6E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29E6F891-42D1-E4DD-4DE4-8D74CFD457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de-DE" altLang="en-DE" dirty="0"/>
          </a:p>
        </p:txBody>
      </p:sp>
    </p:spTree>
    <p:extLst>
      <p:ext uri="{BB962C8B-B14F-4D97-AF65-F5344CB8AC3E}">
        <p14:creationId xmlns:p14="http://schemas.microsoft.com/office/powerpoint/2010/main" val="196207558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>
            <a:extLst>
              <a:ext uri="{FF2B5EF4-FFF2-40B4-BE49-F238E27FC236}">
                <a16:creationId xmlns:a16="http://schemas.microsoft.com/office/drawing/2014/main" id="{B659AC08-826E-D496-0169-5FEE27A56C0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731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731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731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731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BBECA26-B7BF-6B48-8E1F-319CA66DF452}" type="slidenum">
              <a:rPr lang="de-DE" altLang="en-DE" sz="1300" b="0"/>
              <a:pPr/>
              <a:t>21</a:t>
            </a:fld>
            <a:endParaRPr lang="de-DE" altLang="en-DE" sz="1300" b="0"/>
          </a:p>
        </p:txBody>
      </p:sp>
      <p:sp>
        <p:nvSpPr>
          <p:cNvPr id="34818" name="Rectangle 2">
            <a:extLst>
              <a:ext uri="{FF2B5EF4-FFF2-40B4-BE49-F238E27FC236}">
                <a16:creationId xmlns:a16="http://schemas.microsoft.com/office/drawing/2014/main" id="{EEEBE730-D450-AF7B-FA57-51041D9B3A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AE0FB3DA-3FF1-DF47-6B8B-A944BF1E68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de-DE" altLang="en-DE"/>
          </a:p>
        </p:txBody>
      </p:sp>
    </p:spTree>
    <p:extLst>
      <p:ext uri="{BB962C8B-B14F-4D97-AF65-F5344CB8AC3E}">
        <p14:creationId xmlns:p14="http://schemas.microsoft.com/office/powerpoint/2010/main" val="261818553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>
            <a:extLst>
              <a:ext uri="{FF2B5EF4-FFF2-40B4-BE49-F238E27FC236}">
                <a16:creationId xmlns:a16="http://schemas.microsoft.com/office/drawing/2014/main" id="{32BBFD32-1591-1F34-E427-C34BD03832E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731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731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731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731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47B54B0-8E31-B44C-BBE4-1A325C2D4100}" type="slidenum">
              <a:rPr lang="de-DE" altLang="en-DE" sz="1300" b="0"/>
              <a:pPr/>
              <a:t>22</a:t>
            </a:fld>
            <a:endParaRPr lang="de-DE" altLang="en-DE" sz="1300" b="0"/>
          </a:p>
        </p:txBody>
      </p:sp>
      <p:sp>
        <p:nvSpPr>
          <p:cNvPr id="26626" name="Rectangle 2">
            <a:extLst>
              <a:ext uri="{FF2B5EF4-FFF2-40B4-BE49-F238E27FC236}">
                <a16:creationId xmlns:a16="http://schemas.microsoft.com/office/drawing/2014/main" id="{3C655B8C-7F3C-A649-9318-ED22F59F50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3C08A827-5D51-C6E5-3698-43990B8404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de-DE" altLang="en-DE"/>
          </a:p>
        </p:txBody>
      </p:sp>
    </p:spTree>
    <p:extLst>
      <p:ext uri="{BB962C8B-B14F-4D97-AF65-F5344CB8AC3E}">
        <p14:creationId xmlns:p14="http://schemas.microsoft.com/office/powerpoint/2010/main" val="386554500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7">
            <a:extLst>
              <a:ext uri="{FF2B5EF4-FFF2-40B4-BE49-F238E27FC236}">
                <a16:creationId xmlns:a16="http://schemas.microsoft.com/office/drawing/2014/main" id="{8B24A013-EFA4-CE44-66D6-8FFFEF5907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731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731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731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731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4D4A62A-D5C4-344A-8B91-83A0EB4078AC}" type="slidenum">
              <a:rPr lang="de-DE" altLang="en-DE" sz="1300" b="0"/>
              <a:pPr/>
              <a:t>23</a:t>
            </a:fld>
            <a:endParaRPr lang="de-DE" altLang="en-DE" sz="1300" b="0"/>
          </a:p>
        </p:txBody>
      </p:sp>
      <p:sp>
        <p:nvSpPr>
          <p:cNvPr id="24578" name="Rectangle 2">
            <a:extLst>
              <a:ext uri="{FF2B5EF4-FFF2-40B4-BE49-F238E27FC236}">
                <a16:creationId xmlns:a16="http://schemas.microsoft.com/office/drawing/2014/main" id="{E7C64206-BD64-4726-ECE6-2DA22AEDB10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07FFE303-65EF-F415-1BA1-465031530F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de-DE" altLang="en-DE"/>
          </a:p>
        </p:txBody>
      </p:sp>
    </p:spTree>
    <p:extLst>
      <p:ext uri="{BB962C8B-B14F-4D97-AF65-F5344CB8AC3E}">
        <p14:creationId xmlns:p14="http://schemas.microsoft.com/office/powerpoint/2010/main" val="392472023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>
            <a:extLst>
              <a:ext uri="{FF2B5EF4-FFF2-40B4-BE49-F238E27FC236}">
                <a16:creationId xmlns:a16="http://schemas.microsoft.com/office/drawing/2014/main" id="{D9E3F028-4F8A-3F2F-6AD7-A1780079E4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731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731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731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731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63E49F3-8751-C94B-B8F8-184C2F7C5393}" type="slidenum">
              <a:rPr lang="de-DE" altLang="en-DE" sz="1300" b="0"/>
              <a:pPr/>
              <a:t>24</a:t>
            </a:fld>
            <a:endParaRPr lang="de-DE" altLang="en-DE" sz="1300" b="0"/>
          </a:p>
        </p:txBody>
      </p:sp>
      <p:sp>
        <p:nvSpPr>
          <p:cNvPr id="8194" name="Rectangle 2">
            <a:extLst>
              <a:ext uri="{FF2B5EF4-FFF2-40B4-BE49-F238E27FC236}">
                <a16:creationId xmlns:a16="http://schemas.microsoft.com/office/drawing/2014/main" id="{03252B40-4BAA-49B6-B8AD-B09A2404FF9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06612250-1C40-7EC8-FC2B-31898ACDC7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de-DE" altLang="en-DE"/>
          </a:p>
        </p:txBody>
      </p:sp>
    </p:spTree>
    <p:extLst>
      <p:ext uri="{BB962C8B-B14F-4D97-AF65-F5344CB8AC3E}">
        <p14:creationId xmlns:p14="http://schemas.microsoft.com/office/powerpoint/2010/main" val="302826525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>
            <a:extLst>
              <a:ext uri="{FF2B5EF4-FFF2-40B4-BE49-F238E27FC236}">
                <a16:creationId xmlns:a16="http://schemas.microsoft.com/office/drawing/2014/main" id="{D9E3F028-4F8A-3F2F-6AD7-A1780079E4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731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731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731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731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63E49F3-8751-C94B-B8F8-184C2F7C5393}" type="slidenum">
              <a:rPr lang="de-DE" altLang="en-DE" sz="1300" b="0"/>
              <a:pPr/>
              <a:t>26</a:t>
            </a:fld>
            <a:endParaRPr lang="de-DE" altLang="en-DE" sz="1300" b="0"/>
          </a:p>
        </p:txBody>
      </p:sp>
      <p:sp>
        <p:nvSpPr>
          <p:cNvPr id="8194" name="Rectangle 2">
            <a:extLst>
              <a:ext uri="{FF2B5EF4-FFF2-40B4-BE49-F238E27FC236}">
                <a16:creationId xmlns:a16="http://schemas.microsoft.com/office/drawing/2014/main" id="{03252B40-4BAA-49B6-B8AD-B09A2404FF9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06612250-1C40-7EC8-FC2B-31898ACDC7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de-DE" altLang="en-DE" dirty="0"/>
          </a:p>
        </p:txBody>
      </p:sp>
    </p:spTree>
    <p:extLst>
      <p:ext uri="{BB962C8B-B14F-4D97-AF65-F5344CB8AC3E}">
        <p14:creationId xmlns:p14="http://schemas.microsoft.com/office/powerpoint/2010/main" val="132561736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27B8A-EE78-ED6C-C0BE-6075E8A66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7">
            <a:extLst>
              <a:ext uri="{FF2B5EF4-FFF2-40B4-BE49-F238E27FC236}">
                <a16:creationId xmlns:a16="http://schemas.microsoft.com/office/drawing/2014/main" id="{FA6DF270-22AA-272F-20F5-08259D12422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731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731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731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731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052C6A7-B9E4-4E4A-8534-8B19C4EC9406}" type="slidenum">
              <a:rPr lang="de-DE" altLang="en-DE" sz="1300" b="0"/>
              <a:pPr/>
              <a:t>27</a:t>
            </a:fld>
            <a:endParaRPr lang="de-DE" altLang="en-DE" sz="1300" b="0"/>
          </a:p>
        </p:txBody>
      </p:sp>
      <p:sp>
        <p:nvSpPr>
          <p:cNvPr id="10242" name="Rectangle 2">
            <a:extLst>
              <a:ext uri="{FF2B5EF4-FFF2-40B4-BE49-F238E27FC236}">
                <a16:creationId xmlns:a16="http://schemas.microsoft.com/office/drawing/2014/main" id="{B4976250-45EC-322A-A855-6CB4C2E491D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E9276FE6-269D-34FA-77A3-FBF8DF17F6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de-DE" altLang="en-DE" dirty="0"/>
          </a:p>
        </p:txBody>
      </p:sp>
    </p:spTree>
    <p:extLst>
      <p:ext uri="{BB962C8B-B14F-4D97-AF65-F5344CB8AC3E}">
        <p14:creationId xmlns:p14="http://schemas.microsoft.com/office/powerpoint/2010/main" val="12446308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26863-9FE8-F884-DB21-AD261A6D9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7">
            <a:extLst>
              <a:ext uri="{FF2B5EF4-FFF2-40B4-BE49-F238E27FC236}">
                <a16:creationId xmlns:a16="http://schemas.microsoft.com/office/drawing/2014/main" id="{66C05AB0-3620-DCB0-E0C9-9E0CC5512DC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731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731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731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731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052C6A7-B9E4-4E4A-8534-8B19C4EC9406}" type="slidenum">
              <a:rPr lang="de-DE" altLang="en-DE" sz="1300" b="0"/>
              <a:pPr/>
              <a:t>28</a:t>
            </a:fld>
            <a:endParaRPr lang="de-DE" altLang="en-DE" sz="1300" b="0"/>
          </a:p>
        </p:txBody>
      </p:sp>
      <p:sp>
        <p:nvSpPr>
          <p:cNvPr id="10242" name="Rectangle 2">
            <a:extLst>
              <a:ext uri="{FF2B5EF4-FFF2-40B4-BE49-F238E27FC236}">
                <a16:creationId xmlns:a16="http://schemas.microsoft.com/office/drawing/2014/main" id="{67D1608B-D17C-3114-240F-48DF5F943E7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11B86FB3-151C-D5DD-456F-720398C3BD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de-DE" altLang="en-DE" dirty="0"/>
          </a:p>
        </p:txBody>
      </p:sp>
    </p:spTree>
    <p:extLst>
      <p:ext uri="{BB962C8B-B14F-4D97-AF65-F5344CB8AC3E}">
        <p14:creationId xmlns:p14="http://schemas.microsoft.com/office/powerpoint/2010/main" val="189042631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18A3D-0866-36E7-7080-34915503F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7">
            <a:extLst>
              <a:ext uri="{FF2B5EF4-FFF2-40B4-BE49-F238E27FC236}">
                <a16:creationId xmlns:a16="http://schemas.microsoft.com/office/drawing/2014/main" id="{29A42A27-8ABF-EE30-8471-89B11E1B3FA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731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731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731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731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731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052C6A7-B9E4-4E4A-8534-8B19C4EC9406}" type="slidenum">
              <a:rPr lang="de-DE" altLang="en-DE" sz="1300" b="0"/>
              <a:pPr/>
              <a:t>29</a:t>
            </a:fld>
            <a:endParaRPr lang="de-DE" altLang="en-DE" sz="1300" b="0"/>
          </a:p>
        </p:txBody>
      </p:sp>
      <p:sp>
        <p:nvSpPr>
          <p:cNvPr id="10242" name="Rectangle 2">
            <a:extLst>
              <a:ext uri="{FF2B5EF4-FFF2-40B4-BE49-F238E27FC236}">
                <a16:creationId xmlns:a16="http://schemas.microsoft.com/office/drawing/2014/main" id="{9DCAB06E-7295-DC63-00BC-6FAE475AAB9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F1E887ED-1816-D6D2-DD2C-5A84B7BBC3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de-DE" altLang="en-DE" dirty="0"/>
          </a:p>
        </p:txBody>
      </p:sp>
    </p:spTree>
    <p:extLst>
      <p:ext uri="{BB962C8B-B14F-4D97-AF65-F5344CB8AC3E}">
        <p14:creationId xmlns:p14="http://schemas.microsoft.com/office/powerpoint/2010/main" val="67640083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4BDDE-7A7A-718A-1FF2-46A78D595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96DE32-6018-602E-0399-AD58441AED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067F60-490A-837F-5A03-437097A544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6892F3-C73B-2570-1510-2956623921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864DF67-1095-7D49-AC34-B94B5FE93543}" type="slidenum">
              <a:rPr lang="de-DE" altLang="en-DE" smtClean="0"/>
              <a:pPr>
                <a:defRPr/>
              </a:pPr>
              <a:t>30</a:t>
            </a:fld>
            <a:endParaRPr lang="de-DE" altLang="en-DE"/>
          </a:p>
        </p:txBody>
      </p:sp>
    </p:spTree>
    <p:extLst>
      <p:ext uri="{BB962C8B-B14F-4D97-AF65-F5344CB8AC3E}">
        <p14:creationId xmlns:p14="http://schemas.microsoft.com/office/powerpoint/2010/main" val="388301466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gradFill rotWithShape="0">
          <a:gsLst>
            <a:gs pos="0">
              <a:schemeClr val="bg2"/>
            </a:gs>
            <a:gs pos="100000">
              <a:schemeClr val="bg1"/>
            </a:gs>
          </a:gsLst>
          <a:path path="rect">
            <a:fillToRect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9" name="Rectangle 5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905000"/>
            <a:ext cx="7772400" cy="11430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/>
            </a:lvl1pPr>
          </a:lstStyle>
          <a:p>
            <a:pPr lvl="0"/>
            <a:r>
              <a:rPr lang="de-DE" altLang="en-DE" noProof="0"/>
              <a:t>Klicken Sie, um das Titelformat zu bearbeiten</a:t>
            </a:r>
          </a:p>
        </p:txBody>
      </p:sp>
      <p:sp>
        <p:nvSpPr>
          <p:cNvPr id="36870" name="Rectangle 6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686050" y="3492500"/>
            <a:ext cx="6102350" cy="17526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r">
              <a:buFont typeface="Wingdings" pitchFamily="2" charset="2"/>
              <a:buNone/>
              <a:defRPr/>
            </a:lvl1pPr>
          </a:lstStyle>
          <a:p>
            <a:pPr lvl="0"/>
            <a:r>
              <a:rPr lang="de-DE" altLang="en-DE" noProof="0"/>
              <a:t>Klicken Sie, um das Format des Untertitelmasters zu bearbeiten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DFBE3DCE-4F32-ABAD-5096-6AD497A81B3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3359150" y="634365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+mn-lt"/>
              </a:defRPr>
            </a:lvl1pPr>
          </a:lstStyle>
          <a:p>
            <a:pPr>
              <a:defRPr/>
            </a:pPr>
            <a:endParaRPr lang="de-DE" altLang="en-DE"/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99397146-23AA-8D29-D25E-97C6FE70A68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6019800" y="634365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latin typeface="+mn-lt"/>
              </a:defRPr>
            </a:lvl1pPr>
          </a:lstStyle>
          <a:p>
            <a:pPr>
              <a:defRPr/>
            </a:pPr>
            <a:r>
              <a:rPr lang="de-DE" altLang="en-DE"/>
              <a:t>Gliederung</a:t>
            </a: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CACBEB70-8AFF-DB81-BA00-1A183575152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125413" y="6361113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b="0" smtClean="0">
                <a:latin typeface="+mn-lt"/>
              </a:defRPr>
            </a:lvl1pPr>
          </a:lstStyle>
          <a:p>
            <a:pPr>
              <a:defRPr/>
            </a:pPr>
            <a:fld id="{4F44D559-62F0-BD4E-ACBC-D365DFCBD1F1}" type="slidenum">
              <a:rPr lang="de-DE" altLang="en-DE"/>
              <a:pPr>
                <a:defRPr/>
              </a:pPr>
              <a:t>‹#›</a:t>
            </a:fld>
            <a:endParaRPr lang="de-DE" altLang="en-DE"/>
          </a:p>
        </p:txBody>
      </p:sp>
    </p:spTree>
    <p:extLst>
      <p:ext uri="{BB962C8B-B14F-4D97-AF65-F5344CB8AC3E}">
        <p14:creationId xmlns:p14="http://schemas.microsoft.com/office/powerpoint/2010/main" val="95221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492327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72089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3150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457764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626595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1805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73147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DE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43537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219275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78309715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2" tx1="lt1" bg2="dk1" tx2="lt2" accent1="accent1" accent2="accent2" accent3="accent3" accent4="accent4" accent5="accent5" accent6="accent6" hlink="hlink" folHlink="folHlink"/>
  <p:sldLayoutIdLst>
    <p:sldLayoutId id="2147483672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CCFF33"/>
        </a:buClr>
        <a:buSzPct val="70000"/>
        <a:buFont typeface="Wingdings" pitchFamily="2" charset="2"/>
        <a:buChar char="n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5000"/>
        <a:buFont typeface="Wingdings" pitchFamily="2" charset="2"/>
        <a:buChar char="n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99CC"/>
        </a:buClr>
        <a:buSzPct val="65000"/>
        <a:buFont typeface="Wingdings" pitchFamily="2" charset="2"/>
        <a:buChar char="n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microsoft.com/office/2007/relationships/hdphoto" Target="../media/hdphoto1.wdp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Relationship Id="rId4" Type="http://schemas.microsoft.com/office/2007/relationships/hdphoto" Target="../media/hdphoto2.wdp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2">
            <a:extLst>
              <a:ext uri="{FF2B5EF4-FFF2-40B4-BE49-F238E27FC236}">
                <a16:creationId xmlns:a16="http://schemas.microsoft.com/office/drawing/2014/main" id="{81563515-4575-4A9C-C3CC-3BD759F95EB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1372393"/>
            <a:ext cx="9144000" cy="31035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8980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/>
            <a:r>
              <a:rPr b="1" i="1" sz="3800">
                <a:latin typeface="Times New Roman"/>
              </a:rPr>
              <a:t>In </a:t>
            </a:r>
            <a:r>
              <a:rPr b="1" i="1" sz="3800">
                <a:latin typeface="Times New Roman"/>
              </a:rPr>
              <a:t>altitude </a:t>
            </a:r>
            <a:r>
              <a:rPr b="1" i="1" sz="3800">
                <a:latin typeface="Times New Roman"/>
              </a:rPr>
              <a:t>intelligentiaeThe </a:t>
            </a:r>
            <a:r>
              <a:rPr b="1" i="1" sz="3800">
                <a:latin typeface="Times New Roman"/>
              </a:rPr>
              <a:t>transformation </a:t>
            </a:r>
            <a:r>
              <a:rPr b="1" i="1" sz="3800">
                <a:latin typeface="Times New Roman"/>
              </a:rPr>
              <a:t>of </a:t>
            </a:r>
            <a:r>
              <a:rPr sz="3800">
                <a:latin typeface="Times New Roman"/>
              </a:rPr>
              <a:t>the </a:t>
            </a:r>
            <a:r>
              <a:rPr b="1" i="1" sz="3800">
                <a:latin typeface="Times New Roman"/>
              </a:rPr>
              <a:t>scientific </a:t>
            </a:r>
            <a:r>
              <a:rPr b="1" i="1" sz="3800">
                <a:latin typeface="Times New Roman"/>
              </a:rPr>
              <a:t>theory </a:t>
            </a:r>
            <a:r>
              <a:rPr b="1" i="1" sz="3800">
                <a:latin typeface="Times New Roman"/>
              </a:rPr>
              <a:t>of </a:t>
            </a:r>
            <a:r>
              <a:rPr b="1" i="1" sz="3800">
                <a:latin typeface="Times New Roman"/>
              </a:rPr>
              <a:t>theology </a:t>
            </a:r>
            <a:r>
              <a:rPr b="1" i="1" sz="3800">
                <a:latin typeface="Times New Roman"/>
              </a:rPr>
              <a:t>at </a:t>
            </a:r>
            <a:r>
              <a:rPr b="1" i="1" sz="3800">
                <a:latin typeface="Times New Roman"/>
              </a:rPr>
              <a:t>Cusanus</a:t>
            </a:r>
          </a:p>
        </p:txBody>
      </p:sp>
      <p:sp>
        <p:nvSpPr>
          <p:cNvPr id="6146" name="Rectangle 3">
            <a:extLst>
              <a:ext uri="{FF2B5EF4-FFF2-40B4-BE49-F238E27FC236}">
                <a16:creationId xmlns:a16="http://schemas.microsoft.com/office/drawing/2014/main" id="{0CA646DE-B42E-3144-AA39-1DBF3D97112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979613" y="5981700"/>
            <a:ext cx="7035800" cy="6159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/>
            <a:r>
              <a:rPr sz="1800">
                <a:latin typeface="Times New Roman"/>
              </a:rPr>
              <a:t>Dr. </a:t>
            </a:r>
            <a:r>
              <a:rPr sz="1800">
                <a:latin typeface="Times New Roman"/>
              </a:rPr>
              <a:t>Christian </a:t>
            </a:r>
            <a:r>
              <a:rPr sz="1800">
                <a:latin typeface="Times New Roman"/>
              </a:rPr>
              <a:t>Strobel</a:t>
            </a:r>
          </a:p>
        </p:txBody>
      </p:sp>
      <p:pic>
        <p:nvPicPr>
          <p:cNvPr id="6147" name="Picture 1029">
            <a:extLst>
              <a:ext uri="{FF2B5EF4-FFF2-40B4-BE49-F238E27FC236}">
                <a16:creationId xmlns:a16="http://schemas.microsoft.com/office/drawing/2014/main" id="{4BD653F0-339C-4BE9-5C06-21E7836F29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25"/>
          <a:stretch>
            <a:fillRect/>
          </a:stretch>
        </p:blipFill>
        <p:spPr bwMode="invGray">
          <a:xfrm>
            <a:off x="0" y="0"/>
            <a:ext cx="91440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8" name="Picture 1030">
            <a:extLst>
              <a:ext uri="{FF2B5EF4-FFF2-40B4-BE49-F238E27FC236}">
                <a16:creationId xmlns:a16="http://schemas.microsoft.com/office/drawing/2014/main" id="{3F8DC852-CD45-0433-779F-20D8CA1E1E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4232" y="5901438"/>
            <a:ext cx="4495800" cy="96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9" name="Picture 1030">
            <a:extLst>
              <a:ext uri="{FF2B5EF4-FFF2-40B4-BE49-F238E27FC236}">
                <a16:creationId xmlns:a16="http://schemas.microsoft.com/office/drawing/2014/main" id="{4CCB212A-FC63-C2F3-2A69-674634D79F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4101" y="3068960"/>
            <a:ext cx="6369050" cy="877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2F97C-C957-80F0-09D0-70D2CFC16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>
            <a:extLst>
              <a:ext uri="{FF2B5EF4-FFF2-40B4-BE49-F238E27FC236}">
                <a16:creationId xmlns:a16="http://schemas.microsoft.com/office/drawing/2014/main" id="{185C7797-B75C-1198-B7C9-EEA4C7FB37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81543"/>
            <a:ext cx="9144000" cy="3847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/>
            <a:r>
              <a:rPr sz="2000">
                <a:latin typeface="Calibri"/>
              </a:rPr>
              <a:t>... </a:t>
            </a:r>
            <a:r>
              <a:rPr sz="2000">
                <a:latin typeface="Calibri"/>
              </a:rPr>
              <a:t>ducatur </a:t>
            </a:r>
            <a:r>
              <a:rPr sz="2000">
                <a:latin typeface="Calibri"/>
              </a:rPr>
              <a:t>navis </a:t>
            </a:r>
            <a:r>
              <a:rPr sz="2000">
                <a:latin typeface="Calibri"/>
              </a:rPr>
              <a:t>fidei </a:t>
            </a:r>
            <a:r>
              <a:rPr sz="2000">
                <a:latin typeface="Calibri"/>
              </a:rPr>
              <a:t>in </a:t>
            </a:r>
            <a:r>
              <a:rPr sz="2000">
                <a:latin typeface="Calibri"/>
              </a:rPr>
              <a:t>altitude </a:t>
            </a:r>
            <a:r>
              <a:rPr sz="2000">
                <a:latin typeface="Calibri"/>
              </a:rPr>
              <a:t>intelligentiae... </a:t>
            </a:r>
            <a:r>
              <a:rPr sz="2000">
                <a:latin typeface="Calibri"/>
              </a:rPr>
              <a:t>when </a:t>
            </a:r>
            <a:r>
              <a:rPr sz="2000">
                <a:latin typeface="Calibri"/>
              </a:rPr>
              <a:t>in </a:t>
            </a:r>
            <a:r>
              <a:rPr sz="2000">
                <a:latin typeface="Calibri"/>
              </a:rPr>
              <a:t>altitude </a:t>
            </a:r>
            <a:r>
              <a:rPr sz="2000">
                <a:latin typeface="Calibri"/>
              </a:rPr>
              <a:t>sapienti- </a:t>
            </a:r>
            <a:r>
              <a:rPr sz="2000">
                <a:latin typeface="Calibri"/>
              </a:rPr>
              <a:t>ae </a:t>
            </a:r>
            <a:r>
              <a:rPr sz="2000">
                <a:latin typeface="Calibri"/>
              </a:rPr>
              <a:t>vident </a:t>
            </a:r>
            <a:r>
              <a:rPr sz="2000">
                <a:latin typeface="Calibri"/>
              </a:rPr>
              <a:t>fidem.</a:t>
            </a:r>
          </a:p>
          <a:p>
            <a:pPr/>
          </a:p>
          <a:p>
            <a:pPr/>
            <a:r>
              <a:rPr sz="2800">
                <a:latin typeface="Calibri"/>
              </a:rPr>
              <a:t>... </a:t>
            </a:r>
            <a:r>
              <a:rPr sz="2800">
                <a:latin typeface="Calibri"/>
              </a:rPr>
              <a:t>when </a:t>
            </a:r>
            <a:r>
              <a:rPr sz="2800">
                <a:latin typeface="Calibri"/>
              </a:rPr>
              <a:t>the </a:t>
            </a:r>
            <a:r>
              <a:rPr sz="2800">
                <a:latin typeface="Calibri"/>
              </a:rPr>
              <a:t>ship </a:t>
            </a:r>
            <a:r>
              <a:rPr sz="2800">
                <a:latin typeface="Calibri"/>
              </a:rPr>
              <a:t>of </a:t>
            </a:r>
            <a:r>
              <a:rPr sz="2800">
                <a:latin typeface="Calibri"/>
              </a:rPr>
              <a:t>faith </a:t>
            </a:r>
            <a:r>
              <a:rPr sz="2800">
                <a:latin typeface="Calibri"/>
              </a:rPr>
              <a:t>is </a:t>
            </a:r>
            <a:r>
              <a:rPr sz="2800">
                <a:latin typeface="Calibri"/>
              </a:rPr>
              <a:t>led </a:t>
            </a:r>
            <a:r>
              <a:rPr sz="2800">
                <a:latin typeface="Calibri"/>
              </a:rPr>
              <a:t>to </a:t>
            </a:r>
            <a:r>
              <a:rPr sz="2800">
                <a:latin typeface="Calibri"/>
              </a:rPr>
              <a:t>the </a:t>
            </a:r>
            <a:r>
              <a:rPr sz="2800">
                <a:latin typeface="Calibri"/>
              </a:rPr>
              <a:t>heights </a:t>
            </a:r>
            <a:r>
              <a:rPr sz="2800">
                <a:latin typeface="Calibri"/>
              </a:rPr>
              <a:t>of </a:t>
            </a:r>
            <a:r>
              <a:rPr sz="2800">
                <a:latin typeface="Calibri"/>
              </a:rPr>
              <a:t>insight... </a:t>
            </a:r>
            <a:r>
              <a:rPr sz="2800">
                <a:latin typeface="Calibri"/>
              </a:rPr>
              <a:t>when </a:t>
            </a:r>
            <a:r>
              <a:rPr sz="2800">
                <a:latin typeface="Calibri"/>
              </a:rPr>
              <a:t>they </a:t>
            </a:r>
            <a:r>
              <a:rPr sz="2800">
                <a:latin typeface="Calibri"/>
              </a:rPr>
              <a:t>see </a:t>
            </a:r>
            <a:r>
              <a:rPr sz="2800">
                <a:latin typeface="Calibri"/>
              </a:rPr>
              <a:t>faith </a:t>
            </a:r>
            <a:r>
              <a:rPr sz="2800">
                <a:latin typeface="Calibri"/>
              </a:rPr>
              <a:t>at </a:t>
            </a:r>
            <a:r>
              <a:rPr sz="2800">
                <a:latin typeface="Calibri"/>
              </a:rPr>
              <a:t>the </a:t>
            </a:r>
            <a:r>
              <a:rPr sz="2800">
                <a:latin typeface="Calibri"/>
              </a:rPr>
              <a:t>height </a:t>
            </a:r>
            <a:r>
              <a:rPr sz="2800">
                <a:latin typeface="Calibri"/>
              </a:rPr>
              <a:t>of </a:t>
            </a:r>
            <a:r>
              <a:rPr sz="2800">
                <a:latin typeface="Calibri"/>
              </a:rPr>
              <a:t>wisdom...</a:t>
            </a:r>
          </a:p>
          <a:p>
            <a:pPr/>
          </a:p>
          <a:p>
            <a:pPr/>
          </a:p>
          <a:p>
            <a:pPr algn="r"/>
            <a:r>
              <a:rPr sz="1800">
                <a:latin typeface="Calibri"/>
              </a:rPr>
              <a:t>Cusanus: </a:t>
            </a:r>
            <a:r>
              <a:rPr sz="1800">
                <a:latin typeface="Calibri"/>
              </a:rPr>
              <a:t>Sermo </a:t>
            </a:r>
            <a:r>
              <a:rPr sz="1800">
                <a:latin typeface="Calibri"/>
              </a:rPr>
              <a:t>CXCIII </a:t>
            </a:r>
            <a:r>
              <a:rPr sz="1800">
                <a:latin typeface="Calibri"/>
              </a:rPr>
              <a:t>no. </a:t>
            </a:r>
            <a:r>
              <a:rPr sz="1800">
                <a:latin typeface="Calibri"/>
              </a:rPr>
              <a:t>6 </a:t>
            </a:r>
            <a:r>
              <a:rPr sz="1800">
                <a:latin typeface="Calibri"/>
              </a:rPr>
              <a:t>(see </a:t>
            </a:r>
            <a:r>
              <a:rPr sz="1800">
                <a:latin typeface="Calibri"/>
              </a:rPr>
              <a:t>also </a:t>
            </a:r>
            <a:r>
              <a:rPr sz="1800">
                <a:latin typeface="Calibri"/>
              </a:rPr>
              <a:t>De </a:t>
            </a:r>
            <a:r>
              <a:rPr sz="1800">
                <a:latin typeface="Calibri"/>
              </a:rPr>
              <a:t>filiatione </a:t>
            </a:r>
            <a:r>
              <a:rPr sz="1800">
                <a:latin typeface="Calibri"/>
              </a:rPr>
              <a:t>Dei </a:t>
            </a:r>
            <a:r>
              <a:rPr sz="1800">
                <a:latin typeface="Calibri"/>
              </a:rPr>
              <a:t>no. </a:t>
            </a:r>
            <a:r>
              <a:rPr sz="1800">
                <a:latin typeface="Calibri"/>
              </a:rPr>
              <a:t>64; </a:t>
            </a:r>
            <a:r>
              <a:rPr sz="1800">
                <a:latin typeface="Calibri"/>
              </a:rPr>
              <a:t>De </a:t>
            </a:r>
            <a:r>
              <a:rPr sz="1800">
                <a:latin typeface="Calibri"/>
              </a:rPr>
              <a:t>pace </a:t>
            </a:r>
            <a:r>
              <a:rPr sz="1800">
                <a:latin typeface="Calibri"/>
              </a:rPr>
              <a:t>fidei </a:t>
            </a:r>
            <a:r>
              <a:rPr sz="1800">
                <a:latin typeface="Calibri"/>
              </a:rPr>
              <a:t>no. </a:t>
            </a:r>
            <a:r>
              <a:rPr sz="1800">
                <a:latin typeface="Calibri"/>
              </a:rPr>
              <a:t>2)</a:t>
            </a:r>
          </a:p>
        </p:txBody>
      </p:sp>
    </p:spTree>
    <p:extLst>
      <p:ext uri="{BB962C8B-B14F-4D97-AF65-F5344CB8AC3E}">
        <p14:creationId xmlns:p14="http://schemas.microsoft.com/office/powerpoint/2010/main" val="3847825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>
            <a:extLst>
              <a:ext uri="{FF2B5EF4-FFF2-40B4-BE49-F238E27FC236}">
                <a16:creationId xmlns:a16="http://schemas.microsoft.com/office/drawing/2014/main" id="{E3623715-5F1A-1E0A-6263-CBEFFD182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35267"/>
            <a:ext cx="9144000" cy="47397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/>
            <a:r>
              <a:rPr sz="2000">
                <a:latin typeface="Calibri"/>
              </a:rPr>
              <a:t>Non </a:t>
            </a:r>
            <a:r>
              <a:rPr sz="2000">
                <a:latin typeface="Calibri"/>
              </a:rPr>
              <a:t>potest </a:t>
            </a:r>
            <a:r>
              <a:rPr sz="2000">
                <a:latin typeface="Calibri"/>
              </a:rPr>
              <a:t>pax </a:t>
            </a:r>
            <a:r>
              <a:rPr sz="2000">
                <a:latin typeface="Calibri"/>
              </a:rPr>
              <a:t>videri </a:t>
            </a:r>
            <a:r>
              <a:rPr sz="2000">
                <a:latin typeface="Calibri"/>
              </a:rPr>
              <a:t>nisi </a:t>
            </a:r>
            <a:r>
              <a:rPr sz="2000">
                <a:latin typeface="Calibri"/>
              </a:rPr>
              <a:t>in </a:t>
            </a:r>
            <a:r>
              <a:rPr sz="2000">
                <a:latin typeface="Calibri"/>
              </a:rPr>
              <a:t>coincidentia </a:t>
            </a:r>
            <a:r>
              <a:rPr sz="2000">
                <a:latin typeface="Calibri"/>
              </a:rPr>
              <a:t>extremorum... </a:t>
            </a:r>
            <a:r>
              <a:rPr sz="2000">
                <a:latin typeface="Calibri"/>
              </a:rPr>
              <a:t>De </a:t>
            </a:r>
            <a:r>
              <a:rPr sz="2000">
                <a:latin typeface="Calibri"/>
              </a:rPr>
              <a:t>medio </a:t>
            </a:r>
            <a:r>
              <a:rPr sz="2000">
                <a:latin typeface="Calibri"/>
              </a:rPr>
              <a:t>pacis, </a:t>
            </a:r>
            <a:r>
              <a:rPr sz="2000">
                <a:latin typeface="Calibri"/>
              </a:rPr>
              <a:t>per </a:t>
            </a:r>
            <a:r>
              <a:rPr sz="2000">
                <a:latin typeface="Calibri"/>
              </a:rPr>
              <a:t>quod </a:t>
            </a:r>
            <a:r>
              <a:rPr sz="2000">
                <a:latin typeface="Calibri"/>
              </a:rPr>
              <a:t>videtur </a:t>
            </a:r>
            <a:r>
              <a:rPr sz="2000">
                <a:latin typeface="Calibri"/>
              </a:rPr>
              <a:t>stabilis </a:t>
            </a:r>
            <a:r>
              <a:rPr sz="2000">
                <a:latin typeface="Calibri"/>
              </a:rPr>
              <a:t>veritas, </a:t>
            </a:r>
            <a:r>
              <a:rPr sz="2000">
                <a:latin typeface="Calibri"/>
              </a:rPr>
              <a:t>non </a:t>
            </a:r>
            <a:r>
              <a:rPr sz="2000">
                <a:latin typeface="Calibri"/>
              </a:rPr>
              <a:t>est </a:t>
            </a:r>
            <a:r>
              <a:rPr sz="2000">
                <a:latin typeface="Calibri"/>
              </a:rPr>
              <a:t>scientia... </a:t>
            </a:r>
            <a:r>
              <a:rPr sz="2000">
                <a:latin typeface="Calibri"/>
              </a:rPr>
              <a:t>Videntur </a:t>
            </a:r>
            <a:r>
              <a:rPr sz="2000">
                <a:latin typeface="Calibri"/>
              </a:rPr>
              <a:t>igitur </a:t>
            </a:r>
            <a:r>
              <a:rPr sz="2000">
                <a:latin typeface="Calibri"/>
              </a:rPr>
              <a:t>omnes </a:t>
            </a:r>
            <a:r>
              <a:rPr sz="2000">
                <a:latin typeface="Calibri"/>
              </a:rPr>
              <a:t>scientiae </a:t>
            </a:r>
            <a:r>
              <a:rPr sz="2000">
                <a:latin typeface="Calibri"/>
              </a:rPr>
              <a:t>non </a:t>
            </a:r>
            <a:r>
              <a:rPr sz="2000">
                <a:latin typeface="Calibri"/>
              </a:rPr>
              <a:t>esse </a:t>
            </a:r>
            <a:r>
              <a:rPr sz="2000">
                <a:latin typeface="Calibri"/>
              </a:rPr>
              <a:t>nisi </a:t>
            </a:r>
            <a:r>
              <a:rPr sz="2000">
                <a:latin typeface="Calibri"/>
              </a:rPr>
              <a:t>modi </a:t>
            </a:r>
            <a:r>
              <a:rPr sz="2000">
                <a:latin typeface="Calibri"/>
              </a:rPr>
              <a:t>exprimendi </a:t>
            </a:r>
            <a:r>
              <a:rPr sz="2000">
                <a:latin typeface="Calibri"/>
              </a:rPr>
              <a:t>visionem </a:t>
            </a:r>
            <a:r>
              <a:rPr sz="2000">
                <a:latin typeface="Calibri"/>
              </a:rPr>
              <a:t>pacis.</a:t>
            </a:r>
          </a:p>
          <a:p>
            <a:pPr/>
            <a:r>
              <a:rPr sz="2800">
                <a:latin typeface="Calibri"/>
              </a:rPr>
              <a:t>Peace </a:t>
            </a:r>
            <a:r>
              <a:rPr sz="2800">
                <a:latin typeface="Calibri"/>
              </a:rPr>
              <a:t>can </a:t>
            </a:r>
            <a:r>
              <a:rPr sz="2800">
                <a:latin typeface="Calibri"/>
              </a:rPr>
              <a:t>only </a:t>
            </a:r>
            <a:r>
              <a:rPr sz="2800">
                <a:latin typeface="Calibri"/>
              </a:rPr>
              <a:t>be </a:t>
            </a:r>
            <a:r>
              <a:rPr sz="2800">
                <a:latin typeface="Calibri"/>
              </a:rPr>
              <a:t>seen </a:t>
            </a:r>
            <a:r>
              <a:rPr sz="2800">
                <a:latin typeface="Calibri"/>
              </a:rPr>
              <a:t>in </a:t>
            </a:r>
            <a:r>
              <a:rPr sz="2800">
                <a:latin typeface="Calibri"/>
              </a:rPr>
              <a:t>the </a:t>
            </a:r>
            <a:r>
              <a:rPr sz="2800">
                <a:latin typeface="Calibri"/>
              </a:rPr>
              <a:t>collapse </a:t>
            </a:r>
            <a:r>
              <a:rPr sz="2800">
                <a:latin typeface="Calibri"/>
              </a:rPr>
              <a:t>of </a:t>
            </a:r>
            <a:r>
              <a:rPr sz="2800">
                <a:latin typeface="Calibri"/>
              </a:rPr>
              <a:t>extremes...Over </a:t>
            </a:r>
            <a:r>
              <a:rPr sz="2800">
                <a:latin typeface="Calibri"/>
              </a:rPr>
              <a:t>the </a:t>
            </a:r>
            <a:r>
              <a:rPr sz="2800">
                <a:latin typeface="Calibri"/>
              </a:rPr>
              <a:t>center </a:t>
            </a:r>
            <a:r>
              <a:rPr sz="2800">
                <a:latin typeface="Calibri"/>
              </a:rPr>
              <a:t>of </a:t>
            </a:r>
            <a:r>
              <a:rPr sz="2800">
                <a:latin typeface="Calibri"/>
              </a:rPr>
              <a:t>peace, </a:t>
            </a:r>
            <a:r>
              <a:rPr sz="2800">
                <a:latin typeface="Calibri"/>
              </a:rPr>
              <a:t>through </a:t>
            </a:r>
            <a:r>
              <a:rPr sz="2800">
                <a:latin typeface="Calibri"/>
              </a:rPr>
              <a:t>which </a:t>
            </a:r>
            <a:r>
              <a:rPr sz="2800">
                <a:latin typeface="Calibri"/>
              </a:rPr>
              <a:t>the </a:t>
            </a:r>
            <a:r>
              <a:rPr sz="2800">
                <a:latin typeface="Calibri"/>
              </a:rPr>
              <a:t>constant </a:t>
            </a:r>
            <a:r>
              <a:rPr sz="2800">
                <a:latin typeface="Calibri"/>
              </a:rPr>
              <a:t>truth </a:t>
            </a:r>
            <a:r>
              <a:rPr sz="2800">
                <a:latin typeface="Calibri"/>
              </a:rPr>
              <a:t>is </a:t>
            </a:r>
            <a:r>
              <a:rPr sz="2800">
                <a:latin typeface="Calibri"/>
              </a:rPr>
              <a:t>seen, </a:t>
            </a:r>
            <a:r>
              <a:rPr sz="2800">
                <a:latin typeface="Calibri"/>
              </a:rPr>
              <a:t>there </a:t>
            </a:r>
            <a:r>
              <a:rPr sz="2800">
                <a:latin typeface="Calibri"/>
              </a:rPr>
              <a:t>is </a:t>
            </a:r>
            <a:r>
              <a:rPr sz="2800">
                <a:latin typeface="Calibri"/>
              </a:rPr>
              <a:t>no </a:t>
            </a:r>
            <a:r>
              <a:rPr sz="2800">
                <a:latin typeface="Calibri"/>
              </a:rPr>
              <a:t>science... </a:t>
            </a:r>
            <a:r>
              <a:rPr sz="2800">
                <a:latin typeface="Calibri"/>
              </a:rPr>
              <a:t>Therefore </a:t>
            </a:r>
            <a:r>
              <a:rPr sz="2800">
                <a:latin typeface="Calibri"/>
              </a:rPr>
              <a:t>all </a:t>
            </a:r>
            <a:r>
              <a:rPr sz="2800">
                <a:latin typeface="Calibri"/>
              </a:rPr>
              <a:t>sciences </a:t>
            </a:r>
            <a:r>
              <a:rPr sz="2800">
                <a:latin typeface="Calibri"/>
              </a:rPr>
              <a:t>seem </a:t>
            </a:r>
            <a:r>
              <a:rPr sz="2800">
                <a:latin typeface="Calibri"/>
              </a:rPr>
              <a:t>to </a:t>
            </a:r>
            <a:r>
              <a:rPr sz="2800">
                <a:latin typeface="Calibri"/>
              </a:rPr>
              <a:t>be </a:t>
            </a:r>
            <a:r>
              <a:rPr sz="2800">
                <a:latin typeface="Calibri"/>
              </a:rPr>
              <a:t>wise </a:t>
            </a:r>
            <a:r>
              <a:rPr sz="2800">
                <a:latin typeface="Calibri"/>
              </a:rPr>
              <a:t>men </a:t>
            </a:r>
            <a:r>
              <a:rPr sz="2800">
                <a:latin typeface="Calibri"/>
              </a:rPr>
              <a:t>expressing </a:t>
            </a:r>
            <a:r>
              <a:rPr sz="2800">
                <a:latin typeface="Calibri"/>
              </a:rPr>
              <a:t>the </a:t>
            </a:r>
            <a:r>
              <a:rPr sz="2800">
                <a:latin typeface="Calibri"/>
              </a:rPr>
              <a:t>spectacle </a:t>
            </a:r>
            <a:r>
              <a:rPr sz="2800">
                <a:latin typeface="Calibri"/>
              </a:rPr>
              <a:t>of </a:t>
            </a:r>
            <a:r>
              <a:rPr sz="2800">
                <a:latin typeface="Calibri"/>
              </a:rPr>
              <a:t>peace.</a:t>
            </a:r>
          </a:p>
          <a:p>
            <a:pPr/>
          </a:p>
          <a:p>
            <a:pPr/>
          </a:p>
          <a:p>
            <a:pPr algn="r"/>
            <a:r>
              <a:rPr sz="1800">
                <a:latin typeface="Calibri"/>
              </a:rPr>
              <a:t>Cusanus: </a:t>
            </a:r>
            <a:r>
              <a:rPr sz="1800">
                <a:latin typeface="Calibri"/>
              </a:rPr>
              <a:t>Sermo </a:t>
            </a:r>
            <a:r>
              <a:rPr sz="1800">
                <a:latin typeface="Calibri"/>
              </a:rPr>
              <a:t>CLXVIII </a:t>
            </a:r>
            <a:r>
              <a:rPr sz="1800">
                <a:latin typeface="Calibri"/>
              </a:rPr>
              <a:t>No </a:t>
            </a:r>
            <a:r>
              <a:rPr sz="1800"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BF2EB-032F-6842-153B-3D908B079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>
            <a:extLst>
              <a:ext uri="{FF2B5EF4-FFF2-40B4-BE49-F238E27FC236}">
                <a16:creationId xmlns:a16="http://schemas.microsoft.com/office/drawing/2014/main" id="{6CF70067-879A-C3CB-CF12-BE1C15F02D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548680"/>
            <a:ext cx="9144000" cy="54476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/>
            <a:r>
              <a:rPr sz="2800">
                <a:latin typeface="Calibri"/>
              </a:rPr>
              <a:t>philosophical </a:t>
            </a:r>
            <a:r>
              <a:rPr sz="2800">
                <a:latin typeface="Calibri"/>
              </a:rPr>
              <a:t>or </a:t>
            </a:r>
            <a:r>
              <a:rPr sz="2800">
                <a:latin typeface="Calibri"/>
              </a:rPr>
              <a:t>theological </a:t>
            </a:r>
            <a:r>
              <a:rPr sz="2800">
                <a:latin typeface="Calibri"/>
              </a:rPr>
              <a:t>starting </a:t>
            </a:r>
            <a:r>
              <a:rPr sz="2800">
                <a:latin typeface="Calibri"/>
              </a:rPr>
              <a:t>points </a:t>
            </a:r>
            <a:r>
              <a:rPr sz="2800">
                <a:latin typeface="Calibri"/>
              </a:rPr>
              <a:t>(discovery/founding </a:t>
            </a:r>
            <a:r>
              <a:rPr sz="2800">
                <a:latin typeface="Calibri"/>
              </a:rPr>
              <a:t>relationships)?</a:t>
            </a:r>
          </a:p>
          <a:p>
            <a:pPr/>
            <a:r>
              <a:rPr sz="1800">
                <a:latin typeface="Calibri"/>
              </a:rPr>
              <a:t>Precise </a:t>
            </a:r>
            <a:r>
              <a:rPr sz="1800">
                <a:latin typeface="Calibri"/>
              </a:rPr>
              <a:t>knowledge </a:t>
            </a:r>
            <a:r>
              <a:rPr sz="1800">
                <a:latin typeface="Calibri"/>
              </a:rPr>
              <a:t>of </a:t>
            </a:r>
            <a:r>
              <a:rPr sz="1800">
                <a:latin typeface="Calibri"/>
              </a:rPr>
              <a:t>the </a:t>
            </a:r>
            <a:r>
              <a:rPr sz="1800">
                <a:latin typeface="Calibri"/>
              </a:rPr>
              <a:t>essence </a:t>
            </a:r>
            <a:r>
              <a:rPr sz="1800">
                <a:latin typeface="Calibri"/>
              </a:rPr>
              <a:t>of </a:t>
            </a:r>
            <a:r>
              <a:rPr sz="1800">
                <a:latin typeface="Calibri"/>
              </a:rPr>
              <a:t>objective </a:t>
            </a:r>
            <a:r>
              <a:rPr sz="1800">
                <a:latin typeface="Calibri"/>
              </a:rPr>
              <a:t>objectivity</a:t>
            </a:r>
          </a:p>
          <a:p>
            <a:pPr/>
            <a:r>
              <a:rPr sz="1800">
                <a:latin typeface="Calibri"/>
              </a:rPr>
              <a:t>Neutral-objective </a:t>
            </a:r>
            <a:r>
              <a:rPr sz="1800">
                <a:latin typeface="Calibri"/>
              </a:rPr>
              <a:t>world </a:t>
            </a:r>
            <a:r>
              <a:rPr sz="1800">
                <a:latin typeface="Calibri"/>
              </a:rPr>
              <a:t>views</a:t>
            </a:r>
          </a:p>
          <a:p>
            <a:pPr/>
            <a:r>
              <a:rPr sz="1800">
                <a:latin typeface="Calibri"/>
              </a:rPr>
              <a:t>constitutive </a:t>
            </a:r>
            <a:r>
              <a:rPr sz="1800">
                <a:latin typeface="Calibri"/>
              </a:rPr>
              <a:t>perspective </a:t>
            </a:r>
            <a:r>
              <a:rPr sz="1800">
                <a:latin typeface="Calibri"/>
              </a:rPr>
              <a:t>mediation </a:t>
            </a:r>
            <a:r>
              <a:rPr sz="1800">
                <a:latin typeface="Calibri"/>
              </a:rPr>
              <a:t>of </a:t>
            </a:r>
            <a:r>
              <a:rPr sz="1800">
                <a:latin typeface="Calibri"/>
              </a:rPr>
              <a:t>human </a:t>
            </a:r>
            <a:r>
              <a:rPr sz="1800">
                <a:latin typeface="Calibri"/>
              </a:rPr>
              <a:t>knowledge </a:t>
            </a:r>
            <a:r>
              <a:rPr sz="1800">
                <a:latin typeface="Calibri"/>
              </a:rPr>
              <a:t>of </a:t>
            </a:r>
            <a:r>
              <a:rPr sz="1800">
                <a:latin typeface="Calibri"/>
              </a:rPr>
              <a:t>the </a:t>
            </a:r>
            <a:r>
              <a:rPr sz="1800">
                <a:latin typeface="Calibri"/>
              </a:rPr>
              <a:t>world</a:t>
            </a:r>
          </a:p>
          <a:p>
            <a:pPr/>
            <a:r>
              <a:rPr sz="1800">
                <a:latin typeface="Calibri"/>
              </a:rPr>
              <a:t>Interference </a:t>
            </a:r>
            <a:r>
              <a:rPr sz="1800">
                <a:latin typeface="Calibri"/>
              </a:rPr>
              <a:t>between </a:t>
            </a:r>
            <a:r>
              <a:rPr sz="1800">
                <a:latin typeface="Calibri"/>
              </a:rPr>
              <a:t>knowledge </a:t>
            </a:r>
            <a:r>
              <a:rPr sz="1800">
                <a:latin typeface="Calibri"/>
              </a:rPr>
              <a:t>of </a:t>
            </a:r>
            <a:r>
              <a:rPr sz="1800">
                <a:latin typeface="Calibri"/>
              </a:rPr>
              <a:t>value </a:t>
            </a:r>
            <a:r>
              <a:rPr sz="1800">
                <a:latin typeface="Calibri"/>
              </a:rPr>
              <a:t>and </a:t>
            </a:r>
            <a:r>
              <a:rPr sz="1800">
                <a:latin typeface="Calibri"/>
              </a:rPr>
              <a:t>facts</a:t>
            </a:r>
          </a:p>
          <a:p>
            <a:pPr/>
            <a:r>
              <a:rPr sz="1800">
                <a:latin typeface="Calibri"/>
              </a:rPr>
              <a:t>Constructivity, </a:t>
            </a:r>
            <a:r>
              <a:rPr sz="1800">
                <a:latin typeface="Calibri"/>
              </a:rPr>
              <a:t>language </a:t>
            </a:r>
            <a:r>
              <a:rPr sz="1800">
                <a:latin typeface="Calibri"/>
              </a:rPr>
              <a:t>and </a:t>
            </a:r>
            <a:r>
              <a:rPr sz="1800">
                <a:latin typeface="Calibri"/>
              </a:rPr>
              <a:t>cultural </a:t>
            </a:r>
            <a:r>
              <a:rPr sz="1800">
                <a:latin typeface="Calibri"/>
              </a:rPr>
              <a:t>conveyance </a:t>
            </a:r>
            <a:r>
              <a:rPr sz="1800">
                <a:latin typeface="Calibri"/>
              </a:rPr>
              <a:t>of </a:t>
            </a:r>
            <a:r>
              <a:rPr sz="1800">
                <a:latin typeface="Calibri"/>
              </a:rPr>
              <a:t>human </a:t>
            </a:r>
            <a:r>
              <a:rPr sz="1800">
                <a:latin typeface="Calibri"/>
              </a:rPr>
              <a:t>concepts</a:t>
            </a:r>
          </a:p>
          <a:p>
            <a:pPr/>
            <a:r>
              <a:rPr sz="1800">
                <a:latin typeface="Calibri"/>
              </a:rPr>
              <a:t>the </a:t>
            </a:r>
            <a:r>
              <a:rPr sz="1800">
                <a:latin typeface="Calibri"/>
              </a:rPr>
              <a:t>operational </a:t>
            </a:r>
            <a:r>
              <a:rPr sz="1800">
                <a:latin typeface="Calibri"/>
              </a:rPr>
              <a:t>nature </a:t>
            </a:r>
            <a:r>
              <a:rPr sz="1800">
                <a:latin typeface="Calibri"/>
              </a:rPr>
              <a:t>of </a:t>
            </a:r>
            <a:r>
              <a:rPr sz="1800">
                <a:latin typeface="Calibri"/>
              </a:rPr>
              <a:t>human </a:t>
            </a:r>
            <a:r>
              <a:rPr sz="1800">
                <a:latin typeface="Calibri"/>
              </a:rPr>
              <a:t>natural </a:t>
            </a:r>
            <a:r>
              <a:rPr sz="1800">
                <a:latin typeface="Calibri"/>
              </a:rPr>
              <a:t>knowledge;</a:t>
            </a:r>
          </a:p>
          <a:p>
            <a:pPr/>
            <a:r>
              <a:rPr sz="1800">
                <a:latin typeface="Calibri"/>
              </a:rPr>
              <a:t>Iterative-constructive </a:t>
            </a:r>
            <a:r>
              <a:rPr sz="1800">
                <a:latin typeface="Calibri"/>
              </a:rPr>
              <a:t>approach </a:t>
            </a:r>
            <a:r>
              <a:rPr sz="1800">
                <a:latin typeface="Calibri"/>
              </a:rPr>
              <a:t>to </a:t>
            </a:r>
            <a:r>
              <a:rPr sz="1800">
                <a:latin typeface="Calibri"/>
              </a:rPr>
              <a:t>infinity</a:t>
            </a:r>
          </a:p>
          <a:p>
            <a:pPr/>
            <a:r>
              <a:rPr sz="1800">
                <a:latin typeface="Calibri"/>
              </a:rPr>
              <a:t>The </a:t>
            </a:r>
            <a:r>
              <a:rPr sz="1800">
                <a:latin typeface="Calibri"/>
              </a:rPr>
              <a:t>interconnectivity </a:t>
            </a:r>
            <a:r>
              <a:rPr sz="1800">
                <a:latin typeface="Calibri"/>
              </a:rPr>
              <a:t>of </a:t>
            </a:r>
            <a:r>
              <a:rPr sz="1800">
                <a:latin typeface="Calibri"/>
              </a:rPr>
              <a:t>reality...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CAEC81A2-B15B-E55B-913E-B828294292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07" y="1628800"/>
            <a:ext cx="7494821" cy="1204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73578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7" name="Picture 4">
            <a:extLst>
              <a:ext uri="{FF2B5EF4-FFF2-40B4-BE49-F238E27FC236}">
                <a16:creationId xmlns:a16="http://schemas.microsoft.com/office/drawing/2014/main" id="{2BD0D8D6-7C46-F35B-81B6-4F2C04B661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0" y="764704"/>
            <a:ext cx="8964487" cy="1631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18" name="Rectangle 5">
            <a:extLst>
              <a:ext uri="{FF2B5EF4-FFF2-40B4-BE49-F238E27FC236}">
                <a16:creationId xmlns:a16="http://schemas.microsoft.com/office/drawing/2014/main" id="{2748AC1E-7AED-6A2E-D654-652391F217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124744"/>
            <a:ext cx="8964487" cy="573325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609600" indent="-609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1341438" indent="-5334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978025" indent="-4572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2538413" indent="-3810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3098800" indent="-3810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35560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40132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44704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9276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/>
            <a:r>
              <a:rPr sz="2900">
                <a:latin typeface="Calibri"/>
              </a:rPr>
              <a:t>Subject </a:t>
            </a:r>
            <a:r>
              <a:rPr sz="2900">
                <a:latin typeface="Calibri"/>
              </a:rPr>
              <a:t>of </a:t>
            </a:r>
            <a:r>
              <a:rPr sz="2900">
                <a:latin typeface="Calibri"/>
              </a:rPr>
              <a:t>theology</a:t>
            </a:r>
          </a:p>
          <a:p>
            <a:pPr/>
            <a:r>
              <a:rPr sz="2900">
                <a:latin typeface="Calibri"/>
              </a:rPr>
              <a:t>Uniformity </a:t>
            </a:r>
            <a:r>
              <a:rPr sz="2900">
                <a:latin typeface="Calibri"/>
              </a:rPr>
              <a:t>of </a:t>
            </a:r>
            <a:r>
              <a:rPr sz="2900">
                <a:latin typeface="Calibri"/>
              </a:rPr>
              <a:t>theology</a:t>
            </a:r>
          </a:p>
          <a:p>
            <a:pPr/>
            <a:r>
              <a:rPr sz="2900">
                <a:latin typeface="Calibri"/>
              </a:rPr>
              <a:t>Scientific </a:t>
            </a:r>
            <a:r>
              <a:rPr sz="2900">
                <a:latin typeface="Calibri"/>
              </a:rPr>
              <a:t>status </a:t>
            </a:r>
            <a:r>
              <a:rPr sz="2900">
                <a:latin typeface="Calibri"/>
              </a:rPr>
              <a:t>(scientia)</a:t>
            </a:r>
          </a:p>
          <a:p>
            <a:pPr/>
            <a:r>
              <a:rPr sz="2900">
                <a:latin typeface="Calibri"/>
              </a:rPr>
              <a:t>Method </a:t>
            </a:r>
            <a:r>
              <a:rPr sz="2900">
                <a:latin typeface="Calibri"/>
              </a:rPr>
              <a:t>of </a:t>
            </a:r>
            <a:r>
              <a:rPr sz="2900">
                <a:latin typeface="Calibri"/>
              </a:rPr>
              <a:t>theology</a:t>
            </a:r>
          </a:p>
          <a:p>
            <a:pPr/>
            <a:r>
              <a:rPr sz="2900">
                <a:latin typeface="Calibri"/>
              </a:rPr>
              <a:t>certainty </a:t>
            </a:r>
            <a:r>
              <a:rPr sz="2900">
                <a:latin typeface="Calibri"/>
              </a:rPr>
              <a:t>(epistemic </a:t>
            </a:r>
            <a:r>
              <a:rPr sz="2900">
                <a:latin typeface="Calibri"/>
              </a:rPr>
              <a:t>status) </a:t>
            </a:r>
            <a:r>
              <a:rPr sz="2900">
                <a:latin typeface="Calibri"/>
              </a:rPr>
              <a:t>of </a:t>
            </a:r>
            <a:r>
              <a:rPr sz="2900">
                <a:latin typeface="Calibri"/>
              </a:rPr>
              <a:t>theology</a:t>
            </a:r>
          </a:p>
        </p:txBody>
      </p:sp>
      <p:sp>
        <p:nvSpPr>
          <p:cNvPr id="9219" name="Rectangle 6">
            <a:extLst>
              <a:ext uri="{FF2B5EF4-FFF2-40B4-BE49-F238E27FC236}">
                <a16:creationId xmlns:a16="http://schemas.microsoft.com/office/drawing/2014/main" id="{CF0F6C89-0550-53E4-F02E-79919779BF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207118"/>
            <a:ext cx="8208963" cy="720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1341438" indent="-5334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978025" indent="-4572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2538413" indent="-3810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3098800" indent="-3810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35560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40132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44704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9276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/>
            <a:r>
              <a:rPr sz="3200">
                <a:latin typeface="Calibri"/>
              </a:rPr>
              <a:t>Basic </a:t>
            </a:r>
            <a:r>
              <a:rPr sz="3200">
                <a:latin typeface="Calibri"/>
              </a:rPr>
              <a:t>questions </a:t>
            </a:r>
            <a:r>
              <a:rPr sz="3200">
                <a:latin typeface="Calibri"/>
              </a:rPr>
              <a:t>of </a:t>
            </a:r>
            <a:r>
              <a:rPr sz="3200">
                <a:latin typeface="Calibri"/>
              </a:rPr>
              <a:t>theological </a:t>
            </a:r>
            <a:r>
              <a:rPr sz="3200">
                <a:latin typeface="Calibri"/>
              </a:rPr>
              <a:t>science </a:t>
            </a:r>
            <a:r>
              <a:rPr sz="3200">
                <a:latin typeface="Calibri"/>
              </a:rPr>
              <a:t>theory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879D9-C9A2-1B84-72DF-A80FDBD26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7" name="Picture 4">
            <a:extLst>
              <a:ext uri="{FF2B5EF4-FFF2-40B4-BE49-F238E27FC236}">
                <a16:creationId xmlns:a16="http://schemas.microsoft.com/office/drawing/2014/main" id="{95A1705E-B6E4-30F2-9DDE-958DC2BA37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0" y="764704"/>
            <a:ext cx="8964487" cy="1631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18" name="Rectangle 5">
            <a:extLst>
              <a:ext uri="{FF2B5EF4-FFF2-40B4-BE49-F238E27FC236}">
                <a16:creationId xmlns:a16="http://schemas.microsoft.com/office/drawing/2014/main" id="{BD65F603-AC0C-922C-332F-DC7AA55902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124744"/>
            <a:ext cx="8964487" cy="573325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609600" indent="-609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1341438" indent="-5334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978025" indent="-4572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2538413" indent="-3810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3098800" indent="-3810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35560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40132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44704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9276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/>
            <a:r>
              <a:rPr sz="2900">
                <a:latin typeface="Calibri"/>
              </a:rPr>
              <a:t>Subject </a:t>
            </a:r>
            <a:r>
              <a:rPr sz="2900">
                <a:latin typeface="Calibri"/>
              </a:rPr>
              <a:t>of </a:t>
            </a:r>
            <a:r>
              <a:rPr sz="2900">
                <a:latin typeface="Calibri"/>
              </a:rPr>
              <a:t>theology</a:t>
            </a:r>
          </a:p>
          <a:p>
            <a:pPr/>
            <a:r>
              <a:rPr sz="1800">
                <a:latin typeface="Calibri"/>
              </a:rPr>
              <a:t>The </a:t>
            </a:r>
            <a:r>
              <a:rPr sz="1800">
                <a:latin typeface="Calibri"/>
              </a:rPr>
              <a:t>work </a:t>
            </a:r>
            <a:r>
              <a:rPr sz="1800">
                <a:latin typeface="Calibri"/>
              </a:rPr>
              <a:t>of </a:t>
            </a:r>
            <a:r>
              <a:rPr sz="1800">
                <a:latin typeface="Calibri"/>
              </a:rPr>
              <a:t>redemption</a:t>
            </a:r>
          </a:p>
          <a:p>
            <a:pPr/>
            <a:r>
              <a:rPr sz="1800">
                <a:latin typeface="Calibri"/>
              </a:rPr>
              <a:t>The </a:t>
            </a:r>
            <a:r>
              <a:rPr sz="1800">
                <a:latin typeface="Calibri"/>
              </a:rPr>
              <a:t>Holy </a:t>
            </a:r>
            <a:r>
              <a:rPr sz="1800">
                <a:latin typeface="Calibri"/>
              </a:rPr>
              <a:t>Scriptures </a:t>
            </a:r>
            <a:r>
              <a:rPr sz="1800">
                <a:latin typeface="Calibri"/>
              </a:rPr>
              <a:t>(Robert </a:t>
            </a:r>
            <a:r>
              <a:rPr sz="1800">
                <a:latin typeface="Calibri"/>
              </a:rPr>
              <a:t>Kilwardby)</a:t>
            </a:r>
          </a:p>
          <a:p>
            <a:pPr/>
            <a:r>
              <a:rPr sz="1800">
                <a:latin typeface="Calibri"/>
              </a:rPr>
              <a:t>The </a:t>
            </a:r>
            <a:r>
              <a:rPr sz="1800">
                <a:latin typeface="Calibri"/>
              </a:rPr>
              <a:t>whole </a:t>
            </a:r>
            <a:r>
              <a:rPr sz="1800">
                <a:latin typeface="Calibri"/>
              </a:rPr>
              <a:t>Christ </a:t>
            </a:r>
            <a:r>
              <a:rPr sz="1800">
                <a:latin typeface="Calibri"/>
              </a:rPr>
              <a:t>(Franciscans)</a:t>
            </a:r>
          </a:p>
          <a:p>
            <a:pPr/>
            <a:r>
              <a:rPr sz="1800">
                <a:latin typeface="Calibri"/>
              </a:rPr>
              <a:t>res </a:t>
            </a:r>
            <a:r>
              <a:rPr sz="1800">
                <a:latin typeface="Calibri"/>
              </a:rPr>
              <a:t>et </a:t>
            </a:r>
            <a:r>
              <a:rPr sz="1800">
                <a:latin typeface="Calibri"/>
              </a:rPr>
              <a:t>signa </a:t>
            </a:r>
            <a:r>
              <a:rPr sz="1800">
                <a:latin typeface="Calibri"/>
              </a:rPr>
              <a:t>( </a:t>
            </a:r>
            <a:r>
              <a:rPr sz="1800">
                <a:latin typeface="Calibri"/>
              </a:rPr>
              <a:t>Augustine)</a:t>
            </a:r>
          </a:p>
          <a:p>
            <a:pPr/>
            <a:r>
              <a:rPr sz="1800">
                <a:latin typeface="Calibri"/>
              </a:rPr>
              <a:t>Law </a:t>
            </a:r>
            <a:r>
              <a:rPr sz="1800">
                <a:latin typeface="Calibri"/>
              </a:rPr>
              <a:t>(Wilhelm </a:t>
            </a:r>
            <a:r>
              <a:rPr sz="1800">
                <a:latin typeface="Calibri"/>
              </a:rPr>
              <a:t>de </a:t>
            </a:r>
            <a:r>
              <a:rPr sz="1800">
                <a:latin typeface="Calibri"/>
              </a:rPr>
              <a:t>la </a:t>
            </a:r>
            <a:r>
              <a:rPr sz="1800">
                <a:latin typeface="Calibri"/>
              </a:rPr>
              <a:t>Mare </a:t>
            </a:r>
            <a:r>
              <a:rPr sz="1800">
                <a:latin typeface="Calibri"/>
              </a:rPr>
              <a:t>and </a:t>
            </a:r>
            <a:r>
              <a:rPr sz="1800">
                <a:latin typeface="Calibri"/>
              </a:rPr>
              <a:t>others)</a:t>
            </a:r>
          </a:p>
          <a:p>
            <a:pPr/>
            <a:r>
              <a:rPr sz="1800">
                <a:latin typeface="Calibri"/>
              </a:rPr>
              <a:t>the </a:t>
            </a:r>
            <a:r>
              <a:rPr sz="1800">
                <a:latin typeface="Calibri"/>
              </a:rPr>
              <a:t>creed </a:t>
            </a:r>
            <a:r>
              <a:rPr sz="1800">
                <a:latin typeface="Calibri"/>
              </a:rPr>
              <a:t>object </a:t>
            </a:r>
            <a:r>
              <a:rPr sz="1800">
                <a:latin typeface="Calibri"/>
              </a:rPr>
              <a:t>(credible) </a:t>
            </a:r>
            <a:r>
              <a:rPr sz="1800">
                <a:latin typeface="Calibri"/>
              </a:rPr>
              <a:t>(Albert, </a:t>
            </a:r>
            <a:r>
              <a:rPr sz="1800">
                <a:latin typeface="Calibri"/>
              </a:rPr>
              <a:t>Bonaventura, </a:t>
            </a:r>
            <a:r>
              <a:rPr sz="1800">
                <a:latin typeface="Calibri"/>
              </a:rPr>
              <a:t>Peckham </a:t>
            </a:r>
            <a:r>
              <a:rPr sz="1800">
                <a:latin typeface="Calibri"/>
              </a:rPr>
              <a:t>etc.)</a:t>
            </a:r>
          </a:p>
          <a:p>
            <a:pPr/>
            <a:r>
              <a:rPr sz="1800">
                <a:latin typeface="Calibri"/>
              </a:rPr>
              <a:t>God </a:t>
            </a:r>
            <a:r>
              <a:rPr sz="1800">
                <a:latin typeface="Calibri"/>
              </a:rPr>
              <a:t>himself </a:t>
            </a:r>
            <a:r>
              <a:rPr sz="1800">
                <a:latin typeface="Calibri"/>
              </a:rPr>
              <a:t>(Heinrich </a:t>
            </a:r>
            <a:r>
              <a:rPr sz="1800">
                <a:latin typeface="Calibri"/>
              </a:rPr>
              <a:t>of </a:t>
            </a:r>
            <a:r>
              <a:rPr sz="1800">
                <a:latin typeface="Calibri"/>
              </a:rPr>
              <a:t>Ghent, </a:t>
            </a:r>
            <a:r>
              <a:rPr sz="1800">
                <a:latin typeface="Calibri"/>
              </a:rPr>
              <a:t>Thomas, </a:t>
            </a:r>
            <a:r>
              <a:rPr sz="1800">
                <a:latin typeface="Calibri"/>
              </a:rPr>
              <a:t>Ulrich, </a:t>
            </a:r>
            <a:r>
              <a:rPr sz="1800">
                <a:latin typeface="Calibri"/>
              </a:rPr>
              <a:t>Walter </a:t>
            </a:r>
            <a:r>
              <a:rPr sz="1800">
                <a:latin typeface="Calibri"/>
              </a:rPr>
              <a:t>of </a:t>
            </a:r>
            <a:r>
              <a:rPr sz="1800">
                <a:latin typeface="Calibri"/>
              </a:rPr>
              <a:t>Bruges, </a:t>
            </a:r>
            <a:r>
              <a:rPr sz="1800">
                <a:latin typeface="Calibri"/>
              </a:rPr>
              <a:t>etc.)</a:t>
            </a:r>
          </a:p>
          <a:p>
            <a:pPr/>
            <a:r>
              <a:rPr sz="1800">
                <a:latin typeface="Calibri"/>
              </a:rPr>
              <a:t>Simplicity, </a:t>
            </a:r>
            <a:r>
              <a:rPr sz="1800">
                <a:latin typeface="Calibri"/>
              </a:rPr>
              <a:t>the </a:t>
            </a:r>
            <a:r>
              <a:rPr sz="1800">
                <a:latin typeface="Calibri"/>
              </a:rPr>
              <a:t>unrecognizability </a:t>
            </a:r>
            <a:r>
              <a:rPr sz="1800">
                <a:latin typeface="Calibri"/>
              </a:rPr>
              <a:t>of </a:t>
            </a:r>
            <a:r>
              <a:rPr sz="1800">
                <a:latin typeface="Calibri"/>
              </a:rPr>
              <a:t>God? </a:t>
            </a:r>
            <a:r>
              <a:rPr sz="1800">
                <a:latin typeface="Calibri"/>
              </a:rPr>
              <a:t>(Summa </a:t>
            </a:r>
            <a:r>
              <a:rPr sz="1800">
                <a:latin typeface="Calibri"/>
              </a:rPr>
              <a:t>Halensis, </a:t>
            </a:r>
            <a:r>
              <a:rPr sz="1800">
                <a:latin typeface="Calibri"/>
              </a:rPr>
              <a:t>Odo </a:t>
            </a:r>
            <a:r>
              <a:rPr sz="1800">
                <a:latin typeface="Calibri"/>
              </a:rPr>
              <a:t>etc.)</a:t>
            </a:r>
          </a:p>
          <a:p>
            <a:pPr/>
            <a:r>
              <a:rPr sz="1800">
                <a:latin typeface="Calibri"/>
              </a:rPr>
              <a:t>God, </a:t>
            </a:r>
            <a:r>
              <a:rPr sz="1800">
                <a:latin typeface="Calibri"/>
              </a:rPr>
              <a:t>how </a:t>
            </a:r>
            <a:r>
              <a:rPr sz="1800">
                <a:latin typeface="Calibri"/>
              </a:rPr>
              <a:t>is </a:t>
            </a:r>
            <a:r>
              <a:rPr sz="1800">
                <a:latin typeface="Calibri"/>
              </a:rPr>
              <a:t>he </a:t>
            </a:r>
            <a:r>
              <a:rPr sz="1800">
                <a:latin typeface="Calibri"/>
              </a:rPr>
              <a:t>known </a:t>
            </a:r>
            <a:r>
              <a:rPr sz="1800">
                <a:latin typeface="Calibri"/>
              </a:rPr>
              <a:t>in </a:t>
            </a:r>
            <a:r>
              <a:rPr sz="1800">
                <a:latin typeface="Calibri"/>
              </a:rPr>
              <a:t>faith?</a:t>
            </a:r>
          </a:p>
          <a:p>
            <a:pPr/>
          </a:p>
        </p:txBody>
      </p:sp>
      <p:sp>
        <p:nvSpPr>
          <p:cNvPr id="9219" name="Rectangle 6">
            <a:extLst>
              <a:ext uri="{FF2B5EF4-FFF2-40B4-BE49-F238E27FC236}">
                <a16:creationId xmlns:a16="http://schemas.microsoft.com/office/drawing/2014/main" id="{FF08C432-F356-82AC-0886-85865D28E4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207118"/>
            <a:ext cx="8208963" cy="720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1341438" indent="-5334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978025" indent="-4572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2538413" indent="-3810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3098800" indent="-3810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35560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40132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44704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9276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/>
            <a:r>
              <a:rPr sz="3200">
                <a:latin typeface="Calibri"/>
              </a:rPr>
              <a:t>Basic </a:t>
            </a:r>
            <a:r>
              <a:rPr sz="3200">
                <a:latin typeface="Calibri"/>
              </a:rPr>
              <a:t>questions </a:t>
            </a:r>
            <a:r>
              <a:rPr sz="3200">
                <a:latin typeface="Calibri"/>
              </a:rPr>
              <a:t>of </a:t>
            </a:r>
            <a:r>
              <a:rPr sz="3200">
                <a:latin typeface="Calibri"/>
              </a:rPr>
              <a:t>theological </a:t>
            </a:r>
            <a:r>
              <a:rPr sz="3200">
                <a:latin typeface="Calibri"/>
              </a:rPr>
              <a:t>science </a:t>
            </a:r>
            <a:r>
              <a:rPr sz="3200">
                <a:latin typeface="Calibri"/>
              </a:rPr>
              <a:t>theory</a:t>
            </a:r>
          </a:p>
        </p:txBody>
      </p:sp>
    </p:spTree>
    <p:extLst>
      <p:ext uri="{BB962C8B-B14F-4D97-AF65-F5344CB8AC3E}">
        <p14:creationId xmlns:p14="http://schemas.microsoft.com/office/powerpoint/2010/main" val="14108617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5BED8-4459-B57F-24FF-6257FEFAD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7" name="Picture 4">
            <a:extLst>
              <a:ext uri="{FF2B5EF4-FFF2-40B4-BE49-F238E27FC236}">
                <a16:creationId xmlns:a16="http://schemas.microsoft.com/office/drawing/2014/main" id="{B005E3D3-AD48-966B-0CA6-CA501E58A2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0" y="673573"/>
            <a:ext cx="8964487" cy="1631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18" name="Rectangle 5">
            <a:extLst>
              <a:ext uri="{FF2B5EF4-FFF2-40B4-BE49-F238E27FC236}">
                <a16:creationId xmlns:a16="http://schemas.microsoft.com/office/drawing/2014/main" id="{F2E81C90-586A-1DF7-903C-678F5921E9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193"/>
            <a:ext cx="9252520" cy="594518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609600" indent="-609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1341438" indent="-5334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978025" indent="-4572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2538413" indent="-3810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3098800" indent="-3810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35560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40132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44704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9276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/>
            <a:r>
              <a:rPr sz="2900">
                <a:solidFill>
                  <a:srgbClr val="92D050"/>
                </a:solidFill>
                <a:latin typeface="Calibri"/>
              </a:rPr>
              <a:t>Unity </a:t>
            </a:r>
            <a:r>
              <a:rPr sz="2900">
                <a:solidFill>
                  <a:srgbClr val="92D050"/>
                </a:solidFill>
                <a:latin typeface="Calibri"/>
              </a:rPr>
              <a:t>of </a:t>
            </a:r>
            <a:r>
              <a:rPr sz="2900">
                <a:solidFill>
                  <a:srgbClr val="92D050"/>
                </a:solidFill>
                <a:latin typeface="Calibri"/>
              </a:rPr>
              <a:t>theology</a:t>
            </a:r>
          </a:p>
          <a:p>
            <a:pPr/>
            <a:r>
              <a:rPr sz="1800">
                <a:latin typeface="Calibri"/>
              </a:rPr>
              <a:t>Diversity </a:t>
            </a:r>
            <a:r>
              <a:rPr sz="1800">
                <a:latin typeface="Calibri"/>
              </a:rPr>
              <a:t>of </a:t>
            </a:r>
            <a:r>
              <a:rPr sz="1800">
                <a:latin typeface="Calibri"/>
              </a:rPr>
              <a:t>objects: </a:t>
            </a:r>
            <a:r>
              <a:rPr sz="1800">
                <a:latin typeface="Calibri"/>
              </a:rPr>
              <a:t>Creator </a:t>
            </a:r>
            <a:r>
              <a:rPr sz="1800">
                <a:latin typeface="Calibri"/>
              </a:rPr>
              <a:t>and </a:t>
            </a:r>
            <a:r>
              <a:rPr sz="1800">
                <a:latin typeface="Calibri"/>
              </a:rPr>
              <a:t>creature, </a:t>
            </a:r>
            <a:r>
              <a:rPr sz="1800">
                <a:latin typeface="Calibri"/>
              </a:rPr>
              <a:t>beliefs </a:t>
            </a:r>
            <a:r>
              <a:rPr sz="1800">
                <a:latin typeface="Calibri"/>
              </a:rPr>
              <a:t>and </a:t>
            </a:r>
            <a:r>
              <a:rPr sz="1800">
                <a:latin typeface="Calibri"/>
              </a:rPr>
              <a:t>customs, </a:t>
            </a:r>
            <a:r>
              <a:rPr sz="1800">
                <a:latin typeface="Calibri"/>
              </a:rPr>
              <a:t>Old </a:t>
            </a:r>
            <a:r>
              <a:rPr sz="1800">
                <a:latin typeface="Calibri"/>
              </a:rPr>
              <a:t>and </a:t>
            </a:r>
            <a:r>
              <a:rPr sz="1800">
                <a:latin typeface="Calibri"/>
              </a:rPr>
              <a:t>New </a:t>
            </a:r>
            <a:r>
              <a:rPr sz="1800">
                <a:latin typeface="Calibri"/>
              </a:rPr>
              <a:t>Testaments, </a:t>
            </a:r>
            <a:r>
              <a:rPr sz="1800">
                <a:latin typeface="Calibri"/>
              </a:rPr>
              <a:t>etc.)</a:t>
            </a:r>
          </a:p>
          <a:p>
            <a:pPr/>
            <a:r>
              <a:rPr sz="1800">
                <a:latin typeface="Calibri"/>
              </a:rPr>
              <a:t>infinitely </a:t>
            </a:r>
            <a:r>
              <a:rPr sz="1800">
                <a:latin typeface="Calibri"/>
              </a:rPr>
              <a:t>long </a:t>
            </a:r>
            <a:r>
              <a:rPr sz="1800">
                <a:latin typeface="Calibri"/>
              </a:rPr>
              <a:t>distance </a:t>
            </a:r>
            <a:r>
              <a:rPr sz="1800">
                <a:latin typeface="Calibri"/>
              </a:rPr>
              <a:t>creator </a:t>
            </a:r>
            <a:r>
              <a:rPr sz="1800">
                <a:latin typeface="Calibri"/>
              </a:rPr>
              <a:t>creature </a:t>
            </a:r>
            <a:r>
              <a:rPr sz="1800">
                <a:latin typeface="Calibri"/>
              </a:rPr>
              <a:t>(Odo)</a:t>
            </a:r>
          </a:p>
          <a:p>
            <a:pPr/>
            <a:r>
              <a:rPr sz="1800">
                <a:latin typeface="Calibri"/>
              </a:rPr>
              <a:t>Faith </a:t>
            </a:r>
            <a:r>
              <a:rPr sz="1800">
                <a:latin typeface="Calibri"/>
              </a:rPr>
              <a:t>and </a:t>
            </a:r>
            <a:r>
              <a:rPr sz="1800">
                <a:latin typeface="Calibri"/>
              </a:rPr>
              <a:t>morals? </a:t>
            </a:r>
            <a:r>
              <a:rPr sz="1800">
                <a:latin typeface="Calibri"/>
              </a:rPr>
              <a:t>(Richard </a:t>
            </a:r>
            <a:r>
              <a:rPr sz="1800">
                <a:latin typeface="Calibri"/>
              </a:rPr>
              <a:t>Fishacre), </a:t>
            </a:r>
            <a:r>
              <a:rPr sz="1800">
                <a:latin typeface="Calibri"/>
              </a:rPr>
              <a:t>practical </a:t>
            </a:r>
            <a:r>
              <a:rPr sz="1800">
                <a:latin typeface="Calibri"/>
              </a:rPr>
              <a:t>and </a:t>
            </a:r>
            <a:r>
              <a:rPr sz="1800">
                <a:latin typeface="Calibri"/>
              </a:rPr>
              <a:t>speculative </a:t>
            </a:r>
            <a:r>
              <a:rPr sz="1800">
                <a:latin typeface="Calibri"/>
              </a:rPr>
              <a:t>(Romanus)</a:t>
            </a:r>
          </a:p>
          <a:p>
            <a:pPr/>
            <a:r>
              <a:rPr sz="1800">
                <a:latin typeface="Calibri"/>
              </a:rPr>
              <a:t>ordinatio </a:t>
            </a:r>
            <a:r>
              <a:rPr sz="1800">
                <a:latin typeface="Calibri"/>
              </a:rPr>
              <a:t>ad </a:t>
            </a:r>
            <a:r>
              <a:rPr sz="1800">
                <a:latin typeface="Calibri"/>
              </a:rPr>
              <a:t>unum</a:t>
            </a:r>
          </a:p>
          <a:p>
            <a:pPr lvl="1"/>
            <a:r>
              <a:rPr sz="1800">
                <a:latin typeface="Calibri"/>
              </a:rPr>
              <a:t>God </a:t>
            </a:r>
            <a:r>
              <a:rPr sz="1800">
                <a:latin typeface="Calibri"/>
              </a:rPr>
              <a:t>as </a:t>
            </a:r>
            <a:r>
              <a:rPr sz="1800">
                <a:latin typeface="Calibri"/>
              </a:rPr>
              <a:t>Origin </a:t>
            </a:r>
            <a:r>
              <a:rPr sz="1800">
                <a:latin typeface="Calibri"/>
              </a:rPr>
              <a:t>and </a:t>
            </a:r>
            <a:r>
              <a:rPr sz="1800">
                <a:latin typeface="Calibri"/>
              </a:rPr>
              <a:t>Purpose</a:t>
            </a:r>
          </a:p>
          <a:p>
            <a:pPr lvl="1"/>
            <a:r>
              <a:rPr sz="1800">
                <a:latin typeface="Calibri"/>
              </a:rPr>
              <a:t>Christ </a:t>
            </a:r>
            <a:r>
              <a:rPr sz="1800">
                <a:latin typeface="Calibri"/>
              </a:rPr>
              <a:t>as </a:t>
            </a:r>
            <a:r>
              <a:rPr sz="1800">
                <a:latin typeface="Calibri"/>
              </a:rPr>
              <a:t>an </a:t>
            </a:r>
            <a:r>
              <a:rPr sz="1800">
                <a:latin typeface="Calibri"/>
              </a:rPr>
              <a:t>integral </a:t>
            </a:r>
            <a:r>
              <a:rPr sz="1800">
                <a:latin typeface="Calibri"/>
              </a:rPr>
              <a:t>whole</a:t>
            </a:r>
          </a:p>
          <a:p>
            <a:pPr lvl="1"/>
            <a:r>
              <a:rPr sz="1800">
                <a:latin typeface="Calibri"/>
              </a:rPr>
              <a:t>Unity </a:t>
            </a:r>
            <a:r>
              <a:rPr sz="1800">
                <a:latin typeface="Calibri"/>
              </a:rPr>
              <a:t>from </a:t>
            </a:r>
            <a:r>
              <a:rPr sz="1800">
                <a:latin typeface="Calibri"/>
              </a:rPr>
              <a:t>a </a:t>
            </a:r>
            <a:r>
              <a:rPr sz="1800">
                <a:latin typeface="Calibri"/>
              </a:rPr>
              <a:t>formal </a:t>
            </a:r>
            <a:r>
              <a:rPr sz="1800">
                <a:latin typeface="Calibri"/>
              </a:rPr>
              <a:t>standpoint</a:t>
            </a:r>
          </a:p>
          <a:p>
            <a:pPr lvl="1"/>
            <a:r>
              <a:rPr sz="1800">
                <a:latin typeface="Calibri"/>
              </a:rPr>
              <a:t>Reference </a:t>
            </a:r>
            <a:r>
              <a:rPr sz="1800">
                <a:latin typeface="Calibri"/>
              </a:rPr>
              <a:t>to </a:t>
            </a:r>
            <a:r>
              <a:rPr sz="1800">
                <a:latin typeface="Calibri"/>
              </a:rPr>
              <a:t>Revelation </a:t>
            </a:r>
            <a:r>
              <a:rPr sz="1800">
                <a:latin typeface="Calibri"/>
              </a:rPr>
              <a:t>(Thomas </a:t>
            </a:r>
            <a:r>
              <a:rPr sz="1800">
                <a:latin typeface="Calibri"/>
              </a:rPr>
              <a:t>and </a:t>
            </a:r>
            <a:r>
              <a:rPr sz="1800">
                <a:latin typeface="Calibri"/>
              </a:rPr>
              <a:t>others)</a:t>
            </a:r>
          </a:p>
          <a:p>
            <a:pPr lvl="1"/>
            <a:r>
              <a:rPr sz="1800">
                <a:latin typeface="Calibri"/>
              </a:rPr>
              <a:t>Recognition </a:t>
            </a:r>
            <a:r>
              <a:rPr sz="1800">
                <a:latin typeface="Calibri"/>
              </a:rPr>
              <a:t>of </a:t>
            </a:r>
            <a:r>
              <a:rPr sz="1800">
                <a:latin typeface="Calibri"/>
              </a:rPr>
              <a:t>God </a:t>
            </a:r>
            <a:r>
              <a:rPr sz="1800">
                <a:latin typeface="Calibri"/>
              </a:rPr>
              <a:t>by </a:t>
            </a:r>
            <a:r>
              <a:rPr sz="1800">
                <a:latin typeface="Calibri"/>
              </a:rPr>
              <a:t>reason, </a:t>
            </a:r>
            <a:r>
              <a:rPr sz="1800">
                <a:latin typeface="Calibri"/>
              </a:rPr>
              <a:t>determination </a:t>
            </a:r>
            <a:r>
              <a:rPr sz="1800">
                <a:latin typeface="Calibri"/>
              </a:rPr>
              <a:t>of </a:t>
            </a:r>
            <a:r>
              <a:rPr sz="1800">
                <a:latin typeface="Calibri"/>
              </a:rPr>
              <a:t>subject </a:t>
            </a:r>
            <a:r>
              <a:rPr sz="1800">
                <a:latin typeface="Calibri"/>
              </a:rPr>
              <a:t>rather </a:t>
            </a:r>
            <a:r>
              <a:rPr sz="1800">
                <a:latin typeface="Calibri"/>
              </a:rPr>
              <a:t>than </a:t>
            </a:r>
            <a:r>
              <a:rPr sz="1800">
                <a:latin typeface="Calibri"/>
              </a:rPr>
              <a:t>unifying </a:t>
            </a:r>
            <a:r>
              <a:rPr sz="1800">
                <a:latin typeface="Calibri"/>
              </a:rPr>
              <a:t>object </a:t>
            </a:r>
            <a:r>
              <a:rPr sz="1800">
                <a:latin typeface="Calibri"/>
              </a:rPr>
              <a:t>(Albert </a:t>
            </a:r>
            <a:r>
              <a:rPr sz="1800">
                <a:latin typeface="Calibri"/>
              </a:rPr>
              <a:t>et </a:t>
            </a:r>
            <a:r>
              <a:rPr sz="1800">
                <a:latin typeface="Calibri"/>
              </a:rPr>
              <a:t>al.)</a:t>
            </a:r>
          </a:p>
          <a:p>
            <a:pPr lvl="1"/>
            <a:r>
              <a:rPr sz="1800">
                <a:latin typeface="Calibri"/>
              </a:rPr>
              <a:t>theoretical </a:t>
            </a:r>
            <a:r>
              <a:rPr sz="1800">
                <a:latin typeface="Calibri"/>
              </a:rPr>
              <a:t>causes </a:t>
            </a:r>
            <a:r>
              <a:rPr sz="1800">
                <a:latin typeface="Calibri"/>
              </a:rPr>
              <a:t>(Albert, </a:t>
            </a:r>
            <a:r>
              <a:rPr sz="1800">
                <a:latin typeface="Calibri"/>
              </a:rPr>
              <a:t>Alexander, </a:t>
            </a:r>
            <a:r>
              <a:rPr sz="1800">
                <a:latin typeface="Calibri"/>
              </a:rPr>
              <a:t>Odo, </a:t>
            </a:r>
            <a:r>
              <a:rPr sz="1800">
                <a:latin typeface="Calibri"/>
              </a:rPr>
              <a:t>Anon. </a:t>
            </a:r>
            <a:r>
              <a:rPr sz="1800">
                <a:latin typeface="Calibri"/>
              </a:rPr>
              <a:t>Vat. </a:t>
            </a:r>
            <a:r>
              <a:rPr sz="1800">
                <a:latin typeface="Calibri"/>
              </a:rPr>
              <a:t>lat. </a:t>
            </a:r>
            <a:r>
              <a:rPr sz="1800">
                <a:latin typeface="Calibri"/>
              </a:rPr>
              <a:t>782, </a:t>
            </a:r>
            <a:r>
              <a:rPr sz="1800">
                <a:latin typeface="Calibri"/>
              </a:rPr>
              <a:t>Romanus </a:t>
            </a:r>
            <a:r>
              <a:rPr sz="1800">
                <a:latin typeface="Calibri"/>
              </a:rPr>
              <a:t>and </a:t>
            </a:r>
            <a:r>
              <a:rPr sz="1800">
                <a:latin typeface="Calibri"/>
              </a:rPr>
              <a:t>others)</a:t>
            </a:r>
          </a:p>
          <a:p>
            <a:pPr lvl="1"/>
          </a:p>
          <a:p>
            <a:pPr lvl="5"/>
          </a:p>
          <a:p>
            <a:pPr/>
          </a:p>
        </p:txBody>
      </p:sp>
      <p:sp>
        <p:nvSpPr>
          <p:cNvPr id="9219" name="Rectangle 6">
            <a:extLst>
              <a:ext uri="{FF2B5EF4-FFF2-40B4-BE49-F238E27FC236}">
                <a16:creationId xmlns:a16="http://schemas.microsoft.com/office/drawing/2014/main" id="{7334BAFC-E248-4281-7E15-2D2609DCAE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15987"/>
            <a:ext cx="8208963" cy="720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1341438" indent="-5334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978025" indent="-4572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2538413" indent="-3810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3098800" indent="-3810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35560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40132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44704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9276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/>
            <a:r>
              <a:rPr sz="3200">
                <a:latin typeface="Calibri"/>
              </a:rPr>
              <a:t>Basic </a:t>
            </a:r>
            <a:r>
              <a:rPr sz="3200">
                <a:latin typeface="Calibri"/>
              </a:rPr>
              <a:t>questions </a:t>
            </a:r>
            <a:r>
              <a:rPr sz="3200">
                <a:latin typeface="Calibri"/>
              </a:rPr>
              <a:t>of </a:t>
            </a:r>
            <a:r>
              <a:rPr sz="3200">
                <a:latin typeface="Calibri"/>
              </a:rPr>
              <a:t>theological </a:t>
            </a:r>
            <a:r>
              <a:rPr sz="3200">
                <a:latin typeface="Calibri"/>
              </a:rPr>
              <a:t>science </a:t>
            </a:r>
            <a:r>
              <a:rPr sz="3200">
                <a:latin typeface="Calibri"/>
              </a:rPr>
              <a:t>theory</a:t>
            </a:r>
          </a:p>
        </p:txBody>
      </p:sp>
    </p:spTree>
    <p:extLst>
      <p:ext uri="{BB962C8B-B14F-4D97-AF65-F5344CB8AC3E}">
        <p14:creationId xmlns:p14="http://schemas.microsoft.com/office/powerpoint/2010/main" val="38387783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4F6F3-6EEF-C1F9-E8BB-09FB55B8B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7" name="Picture 4">
            <a:extLst>
              <a:ext uri="{FF2B5EF4-FFF2-40B4-BE49-F238E27FC236}">
                <a16:creationId xmlns:a16="http://schemas.microsoft.com/office/drawing/2014/main" id="{6318CE03-C3AB-4A2B-B688-EF532CEF0A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0" y="673573"/>
            <a:ext cx="8964487" cy="1631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18" name="Rectangle 5">
            <a:extLst>
              <a:ext uri="{FF2B5EF4-FFF2-40B4-BE49-F238E27FC236}">
                <a16:creationId xmlns:a16="http://schemas.microsoft.com/office/drawing/2014/main" id="{FEA4C68F-0FE2-4E86-4CEE-5C41B24D09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193"/>
            <a:ext cx="9252520" cy="594518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609600" indent="-609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1341438" indent="-5334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978025" indent="-4572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2538413" indent="-3810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3098800" indent="-3810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35560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40132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44704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9276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/>
            <a:r>
              <a:rPr sz="2800">
                <a:solidFill>
                  <a:srgbClr val="92D050"/>
                </a:solidFill>
                <a:latin typeface="Calibri"/>
              </a:rPr>
              <a:t>It </a:t>
            </a:r>
            <a:r>
              <a:rPr sz="2800">
                <a:solidFill>
                  <a:srgbClr val="92D050"/>
                </a:solidFill>
                <a:latin typeface="Calibri"/>
              </a:rPr>
              <a:t>is </a:t>
            </a:r>
            <a:r>
              <a:rPr sz="2800">
                <a:solidFill>
                  <a:srgbClr val="92D050"/>
                </a:solidFill>
                <a:latin typeface="Calibri"/>
              </a:rPr>
              <a:t>also </a:t>
            </a:r>
            <a:r>
              <a:rPr sz="2800">
                <a:solidFill>
                  <a:srgbClr val="92D050"/>
                </a:solidFill>
                <a:latin typeface="Calibri"/>
              </a:rPr>
              <a:t>important </a:t>
            </a:r>
            <a:r>
              <a:rPr sz="2800">
                <a:solidFill>
                  <a:srgbClr val="92D050"/>
                </a:solidFill>
                <a:latin typeface="Calibri"/>
              </a:rPr>
              <a:t>to </a:t>
            </a:r>
            <a:r>
              <a:rPr sz="2800">
                <a:solidFill>
                  <a:srgbClr val="92D050"/>
                </a:solidFill>
                <a:latin typeface="Calibri"/>
              </a:rPr>
              <a:t>note </a:t>
            </a:r>
            <a:r>
              <a:rPr sz="2800">
                <a:solidFill>
                  <a:srgbClr val="92D050"/>
                </a:solidFill>
                <a:latin typeface="Calibri"/>
              </a:rPr>
              <a:t>that </a:t>
            </a:r>
            <a:r>
              <a:rPr sz="2800">
                <a:solidFill>
                  <a:srgbClr val="92D050"/>
                </a:solidFill>
                <a:latin typeface="Calibri"/>
              </a:rPr>
              <a:t>the </a:t>
            </a:r>
            <a:r>
              <a:rPr sz="2800">
                <a:solidFill>
                  <a:srgbClr val="92D050"/>
                </a:solidFill>
                <a:latin typeface="Calibri"/>
              </a:rPr>
              <a:t>Commission's </a:t>
            </a:r>
            <a:r>
              <a:rPr sz="2800">
                <a:solidFill>
                  <a:srgbClr val="92D050"/>
                </a:solidFill>
                <a:latin typeface="Calibri"/>
              </a:rPr>
              <a:t>proposal </a:t>
            </a:r>
            <a:r>
              <a:rPr sz="2800">
                <a:solidFill>
                  <a:srgbClr val="92D050"/>
                </a:solidFill>
                <a:latin typeface="Calibri"/>
              </a:rPr>
              <a:t>for </a:t>
            </a:r>
            <a:r>
              <a:rPr sz="2800">
                <a:solidFill>
                  <a:srgbClr val="92D050"/>
                </a:solidFill>
                <a:latin typeface="Calibri"/>
              </a:rPr>
              <a:t>a </a:t>
            </a:r>
            <a:r>
              <a:rPr sz="2800">
                <a:solidFill>
                  <a:srgbClr val="92D050"/>
                </a:solidFill>
                <a:latin typeface="Calibri"/>
              </a:rPr>
              <a:t>regulation </a:t>
            </a:r>
            <a:r>
              <a:rPr sz="2800">
                <a:solidFill>
                  <a:srgbClr val="92D050"/>
                </a:solidFill>
                <a:latin typeface="Calibri"/>
              </a:rPr>
              <a:t>does </a:t>
            </a:r>
            <a:r>
              <a:rPr sz="2800">
                <a:solidFill>
                  <a:srgbClr val="92D050"/>
                </a:solidFill>
                <a:latin typeface="Calibri"/>
              </a:rPr>
              <a:t>not </a:t>
            </a:r>
            <a:r>
              <a:rPr sz="2800">
                <a:solidFill>
                  <a:srgbClr val="92D050"/>
                </a:solidFill>
                <a:latin typeface="Calibri"/>
              </a:rPr>
              <a:t>preclude </a:t>
            </a:r>
            <a:r>
              <a:rPr sz="2800">
                <a:solidFill>
                  <a:srgbClr val="92D050"/>
                </a:solidFill>
                <a:latin typeface="Calibri"/>
              </a:rPr>
              <a:t>the </a:t>
            </a:r>
            <a:r>
              <a:rPr sz="2800">
                <a:solidFill>
                  <a:srgbClr val="92D050"/>
                </a:solidFill>
                <a:latin typeface="Calibri"/>
              </a:rPr>
              <a:t>adoption </a:t>
            </a:r>
            <a:r>
              <a:rPr sz="2800">
                <a:solidFill>
                  <a:srgbClr val="92D050"/>
                </a:solidFill>
                <a:latin typeface="Calibri"/>
              </a:rPr>
              <a:t>of </a:t>
            </a:r>
            <a:r>
              <a:rPr sz="2800">
                <a:solidFill>
                  <a:srgbClr val="92D050"/>
                </a:solidFill>
                <a:latin typeface="Calibri"/>
              </a:rPr>
              <a:t>new </a:t>
            </a:r>
            <a:r>
              <a:rPr sz="2800">
                <a:solidFill>
                  <a:srgbClr val="92D050"/>
                </a:solidFill>
                <a:latin typeface="Calibri"/>
              </a:rPr>
              <a:t>measures.</a:t>
            </a:r>
          </a:p>
          <a:p>
            <a:pPr/>
            <a:r>
              <a:rPr sz="2000">
                <a:latin typeface="Calibri"/>
              </a:rPr>
              <a:t>Platonic: </a:t>
            </a:r>
            <a:r>
              <a:rPr sz="2000">
                <a:latin typeface="Calibri"/>
              </a:rPr>
              <a:t>ideal </a:t>
            </a:r>
            <a:r>
              <a:rPr sz="2000">
                <a:latin typeface="Calibri"/>
              </a:rPr>
              <a:t>of </a:t>
            </a:r>
            <a:r>
              <a:rPr sz="2000">
                <a:latin typeface="Calibri"/>
              </a:rPr>
              <a:t>mathematics... </a:t>
            </a:r>
            <a:r>
              <a:rPr sz="2000">
                <a:latin typeface="Calibri"/>
              </a:rPr>
              <a:t>axiomatization </a:t>
            </a:r>
            <a:r>
              <a:rPr sz="2000">
                <a:latin typeface="Calibri"/>
              </a:rPr>
              <a:t>(Nicolas </a:t>
            </a:r>
            <a:r>
              <a:rPr sz="2000">
                <a:latin typeface="Calibri"/>
              </a:rPr>
              <a:t>of </a:t>
            </a:r>
            <a:r>
              <a:rPr sz="2000">
                <a:latin typeface="Calibri"/>
              </a:rPr>
              <a:t>Amiens </a:t>
            </a:r>
            <a:r>
              <a:rPr sz="2000">
                <a:latin typeface="Calibri"/>
              </a:rPr>
              <a:t>and </a:t>
            </a:r>
            <a:r>
              <a:rPr sz="2000">
                <a:latin typeface="Calibri"/>
              </a:rPr>
              <a:t>others)</a:t>
            </a:r>
          </a:p>
          <a:p>
            <a:pPr/>
            <a:r>
              <a:rPr sz="2000">
                <a:latin typeface="Calibri"/>
              </a:rPr>
              <a:t>Material </a:t>
            </a:r>
            <a:r>
              <a:rPr sz="2000">
                <a:latin typeface="Calibri"/>
              </a:rPr>
              <a:t>abundance </a:t>
            </a:r>
            <a:r>
              <a:rPr sz="2000">
                <a:latin typeface="Calibri"/>
              </a:rPr>
              <a:t>and </a:t>
            </a:r>
            <a:r>
              <a:rPr sz="2000">
                <a:latin typeface="Calibri"/>
              </a:rPr>
              <a:t>methodological </a:t>
            </a:r>
            <a:r>
              <a:rPr sz="2000">
                <a:latin typeface="Calibri"/>
              </a:rPr>
              <a:t>diversity </a:t>
            </a:r>
            <a:r>
              <a:rPr sz="2000">
                <a:latin typeface="Calibri"/>
              </a:rPr>
              <a:t>of </a:t>
            </a:r>
            <a:r>
              <a:rPr sz="2000">
                <a:latin typeface="Calibri"/>
              </a:rPr>
              <a:t>sciences</a:t>
            </a:r>
          </a:p>
          <a:p>
            <a:pPr/>
            <a:r>
              <a:rPr sz="2000">
                <a:latin typeface="Calibri"/>
              </a:rPr>
              <a:t>In </a:t>
            </a:r>
            <a:r>
              <a:rPr sz="2000">
                <a:latin typeface="Calibri"/>
              </a:rPr>
              <a:t>Aristotelian:</a:t>
            </a:r>
          </a:p>
          <a:p>
            <a:pPr lvl="1"/>
            <a:r>
              <a:rPr sz="2000">
                <a:latin typeface="Calibri"/>
              </a:rPr>
              <a:t>Science </a:t>
            </a:r>
            <a:r>
              <a:rPr sz="2000">
                <a:latin typeface="Calibri"/>
              </a:rPr>
              <a:t>of </a:t>
            </a:r>
            <a:r>
              <a:rPr sz="2000">
                <a:latin typeface="Calibri"/>
              </a:rPr>
              <a:t>general </a:t>
            </a:r>
            <a:r>
              <a:rPr sz="2000">
                <a:latin typeface="Calibri"/>
              </a:rPr>
              <a:t>necessity </a:t>
            </a:r>
            <a:r>
              <a:rPr sz="2000">
                <a:latin typeface="Calibri"/>
              </a:rPr>
              <a:t>only </a:t>
            </a:r>
            <a:r>
              <a:rPr sz="2000">
                <a:latin typeface="Calibri"/>
              </a:rPr>
              <a:t>(Annex </a:t>
            </a:r>
            <a:r>
              <a:rPr sz="2000">
                <a:latin typeface="Calibri"/>
              </a:rPr>
              <a:t>A </a:t>
            </a:r>
            <a:r>
              <a:rPr sz="2000">
                <a:latin typeface="Calibri"/>
              </a:rPr>
              <a:t>33, </a:t>
            </a:r>
            <a:r>
              <a:rPr sz="2000">
                <a:latin typeface="Calibri"/>
              </a:rPr>
              <a:t>88b30f; </a:t>
            </a:r>
            <a:r>
              <a:rPr sz="2000">
                <a:latin typeface="Calibri"/>
              </a:rPr>
              <a:t>Met. </a:t>
            </a:r>
            <a:r>
              <a:rPr sz="2000">
                <a:latin typeface="Calibri"/>
              </a:rPr>
              <a:t>A </a:t>
            </a:r>
            <a:r>
              <a:rPr sz="2000">
                <a:latin typeface="Calibri"/>
              </a:rPr>
              <a:t>1, </a:t>
            </a:r>
            <a:r>
              <a:rPr sz="2000">
                <a:latin typeface="Calibri"/>
              </a:rPr>
              <a:t>981a5-7; </a:t>
            </a:r>
            <a:r>
              <a:rPr sz="2000">
                <a:latin typeface="Calibri"/>
              </a:rPr>
              <a:t>see </a:t>
            </a:r>
            <a:r>
              <a:rPr sz="2000">
                <a:latin typeface="Calibri"/>
              </a:rPr>
              <a:t>981a15f)</a:t>
            </a:r>
          </a:p>
          <a:p>
            <a:pPr lvl="1"/>
            <a:r>
              <a:rPr sz="2000">
                <a:latin typeface="Calibri"/>
              </a:rPr>
              <a:t>from </a:t>
            </a:r>
            <a:r>
              <a:rPr sz="2000">
                <a:latin typeface="Calibri"/>
              </a:rPr>
              <a:t>believed/ </a:t>
            </a:r>
            <a:r>
              <a:rPr sz="2000">
                <a:latin typeface="Calibri"/>
              </a:rPr>
              <a:t>self-evident, </a:t>
            </a:r>
            <a:r>
              <a:rPr sz="2000">
                <a:latin typeface="Calibri"/>
              </a:rPr>
              <a:t>unprovable </a:t>
            </a:r>
            <a:r>
              <a:rPr sz="2000">
                <a:latin typeface="Calibri"/>
              </a:rPr>
              <a:t>principles </a:t>
            </a:r>
            <a:r>
              <a:rPr sz="2000">
                <a:latin typeface="Calibri"/>
              </a:rPr>
              <a:t>(per </a:t>
            </a:r>
            <a:r>
              <a:rPr sz="2000">
                <a:latin typeface="Calibri"/>
              </a:rPr>
              <a:t>se </a:t>
            </a:r>
            <a:r>
              <a:rPr sz="2000">
                <a:latin typeface="Calibri"/>
              </a:rPr>
              <a:t>nota) </a:t>
            </a:r>
            <a:r>
              <a:rPr sz="2000">
                <a:latin typeface="Calibri"/>
              </a:rPr>
              <a:t>(An. </a:t>
            </a:r>
            <a:r>
              <a:rPr sz="2000">
                <a:latin typeface="Calibri"/>
              </a:rPr>
              <a:t>post </a:t>
            </a:r>
            <a:r>
              <a:rPr sz="2000">
                <a:latin typeface="Calibri"/>
              </a:rPr>
              <a:t>A </a:t>
            </a:r>
            <a:r>
              <a:rPr sz="2000">
                <a:latin typeface="Calibri"/>
              </a:rPr>
              <a:t>2 </a:t>
            </a:r>
            <a:r>
              <a:rPr sz="2000">
                <a:latin typeface="Calibri"/>
              </a:rPr>
              <a:t>71b19-23; </a:t>
            </a:r>
            <a:r>
              <a:rPr sz="2000">
                <a:latin typeface="Calibri"/>
              </a:rPr>
              <a:t>72a5-8; </a:t>
            </a:r>
            <a:r>
              <a:rPr sz="2000">
                <a:latin typeface="Calibri"/>
              </a:rPr>
              <a:t>A </a:t>
            </a:r>
            <a:r>
              <a:rPr sz="2000">
                <a:latin typeface="Calibri"/>
              </a:rPr>
              <a:t>7 </a:t>
            </a:r>
            <a:r>
              <a:rPr sz="2000">
                <a:latin typeface="Calibri"/>
              </a:rPr>
              <a:t>75a39-b2)</a:t>
            </a:r>
          </a:p>
          <a:p>
            <a:pPr lvl="1"/>
            <a:r>
              <a:rPr sz="2000">
                <a:latin typeface="Calibri"/>
              </a:rPr>
              <a:t>If </a:t>
            </a:r>
            <a:r>
              <a:rPr sz="2000">
                <a:latin typeface="Calibri"/>
              </a:rPr>
              <a:t>theology </a:t>
            </a:r>
            <a:r>
              <a:rPr sz="2000">
                <a:latin typeface="Calibri"/>
              </a:rPr>
              <a:t>is </a:t>
            </a:r>
            <a:r>
              <a:rPr sz="2000">
                <a:latin typeface="Calibri"/>
              </a:rPr>
              <a:t>metaphysics?</a:t>
            </a:r>
          </a:p>
          <a:p>
            <a:pPr lvl="1"/>
            <a:r>
              <a:rPr sz="2000">
                <a:latin typeface="Calibri"/>
              </a:rPr>
              <a:t>Is </a:t>
            </a:r>
            <a:r>
              <a:rPr sz="2000">
                <a:latin typeface="Calibri"/>
              </a:rPr>
              <a:t>God </a:t>
            </a:r>
            <a:r>
              <a:rPr sz="2000">
                <a:latin typeface="Calibri"/>
              </a:rPr>
              <a:t>the </a:t>
            </a:r>
            <a:r>
              <a:rPr sz="2000">
                <a:latin typeface="Calibri"/>
              </a:rPr>
              <a:t>original </a:t>
            </a:r>
            <a:r>
              <a:rPr sz="2000">
                <a:latin typeface="Calibri"/>
              </a:rPr>
              <a:t>cause, </a:t>
            </a:r>
            <a:r>
              <a:rPr sz="2000">
                <a:latin typeface="Calibri"/>
              </a:rPr>
              <a:t>but </a:t>
            </a:r>
            <a:r>
              <a:rPr sz="2000">
                <a:latin typeface="Calibri"/>
              </a:rPr>
              <a:t>the </a:t>
            </a:r>
            <a:r>
              <a:rPr sz="2000">
                <a:latin typeface="Calibri"/>
              </a:rPr>
              <a:t>redeemer, </a:t>
            </a:r>
            <a:r>
              <a:rPr sz="2000">
                <a:latin typeface="Calibri"/>
              </a:rPr>
              <a:t>the </a:t>
            </a:r>
            <a:r>
              <a:rPr sz="2000">
                <a:latin typeface="Calibri"/>
              </a:rPr>
              <a:t>renewer </a:t>
            </a:r>
            <a:r>
              <a:rPr sz="2000">
                <a:latin typeface="Calibri"/>
              </a:rPr>
              <a:t>of </a:t>
            </a:r>
            <a:r>
              <a:rPr sz="2000">
                <a:latin typeface="Calibri"/>
              </a:rPr>
              <a:t>creation? </a:t>
            </a:r>
            <a:r>
              <a:rPr sz="2000">
                <a:latin typeface="Calibri"/>
              </a:rPr>
              <a:t>(Summa </a:t>
            </a:r>
            <a:r>
              <a:rPr sz="2000">
                <a:latin typeface="Calibri"/>
              </a:rPr>
              <a:t>Halensis </a:t>
            </a:r>
            <a:r>
              <a:rPr sz="2000">
                <a:latin typeface="Calibri"/>
              </a:rPr>
              <a:t>and </a:t>
            </a:r>
            <a:r>
              <a:rPr sz="2000">
                <a:latin typeface="Calibri"/>
              </a:rPr>
              <a:t>others)</a:t>
            </a:r>
          </a:p>
          <a:p>
            <a:pPr lvl="1"/>
            <a:r>
              <a:rPr sz="2000">
                <a:latin typeface="Calibri"/>
              </a:rPr>
              <a:t>Principles </a:t>
            </a:r>
            <a:r>
              <a:rPr sz="2000">
                <a:latin typeface="Calibri"/>
              </a:rPr>
              <a:t>in </a:t>
            </a:r>
            <a:r>
              <a:rPr sz="2000">
                <a:latin typeface="Calibri"/>
              </a:rPr>
              <a:t>the </a:t>
            </a:r>
            <a:r>
              <a:rPr sz="2000">
                <a:latin typeface="Calibri"/>
              </a:rPr>
              <a:t>Articles </a:t>
            </a:r>
            <a:r>
              <a:rPr sz="2000">
                <a:latin typeface="Calibri"/>
              </a:rPr>
              <a:t>of </a:t>
            </a:r>
            <a:r>
              <a:rPr sz="2000">
                <a:latin typeface="Calibri"/>
              </a:rPr>
              <a:t>Faith, </a:t>
            </a:r>
            <a:r>
              <a:rPr sz="2000">
                <a:latin typeface="Calibri"/>
              </a:rPr>
              <a:t>subalternatio </a:t>
            </a:r>
            <a:r>
              <a:rPr sz="2000">
                <a:latin typeface="Calibri"/>
              </a:rPr>
              <a:t>(Thomas </a:t>
            </a:r>
            <a:r>
              <a:rPr sz="2000">
                <a:latin typeface="Calibri"/>
              </a:rPr>
              <a:t>of </a:t>
            </a:r>
            <a:r>
              <a:rPr sz="2000">
                <a:latin typeface="Calibri"/>
              </a:rPr>
              <a:t>Aquinas; </a:t>
            </a:r>
            <a:r>
              <a:rPr sz="2000">
                <a:latin typeface="Calibri"/>
              </a:rPr>
              <a:t>William </a:t>
            </a:r>
            <a:r>
              <a:rPr sz="2000">
                <a:latin typeface="Calibri"/>
              </a:rPr>
              <a:t>of </a:t>
            </a:r>
            <a:r>
              <a:rPr sz="2000">
                <a:latin typeface="Calibri"/>
              </a:rPr>
              <a:t>Melitona, </a:t>
            </a:r>
            <a:r>
              <a:rPr sz="2000">
                <a:latin typeface="Calibri"/>
              </a:rPr>
              <a:t>Bonaventure, </a:t>
            </a:r>
            <a:r>
              <a:rPr sz="2000">
                <a:latin typeface="Calibri"/>
              </a:rPr>
              <a:t>Kilwardby; </a:t>
            </a:r>
            <a:r>
              <a:rPr sz="2000">
                <a:latin typeface="Calibri"/>
              </a:rPr>
              <a:t>Hannibaldus, </a:t>
            </a:r>
            <a:r>
              <a:rPr sz="2000">
                <a:latin typeface="Calibri"/>
              </a:rPr>
              <a:t>Romanus, </a:t>
            </a:r>
            <a:r>
              <a:rPr sz="2000">
                <a:latin typeface="Calibri"/>
              </a:rPr>
              <a:t>Walter, </a:t>
            </a:r>
            <a:r>
              <a:rPr sz="2000">
                <a:latin typeface="Calibri"/>
              </a:rPr>
              <a:t>Aegidius </a:t>
            </a:r>
            <a:r>
              <a:rPr sz="2000">
                <a:latin typeface="Calibri"/>
              </a:rPr>
              <a:t>and </a:t>
            </a:r>
            <a:r>
              <a:rPr sz="2000">
                <a:latin typeface="Calibri"/>
              </a:rPr>
              <a:t>others)</a:t>
            </a:r>
          </a:p>
          <a:p>
            <a:pPr lvl="1"/>
            <a:r>
              <a:rPr sz="2000">
                <a:latin typeface="Calibri"/>
              </a:rPr>
              <a:t>Are </a:t>
            </a:r>
            <a:r>
              <a:rPr sz="2000">
                <a:latin typeface="Calibri"/>
              </a:rPr>
              <a:t>they </a:t>
            </a:r>
            <a:r>
              <a:rPr sz="2000">
                <a:latin typeface="Calibri"/>
              </a:rPr>
              <a:t>conscious </a:t>
            </a:r>
            <a:r>
              <a:rPr sz="2000">
                <a:latin typeface="Calibri"/>
              </a:rPr>
              <a:t>or </a:t>
            </a:r>
            <a:r>
              <a:rPr sz="2000">
                <a:latin typeface="Calibri"/>
              </a:rPr>
              <a:t>believable?</a:t>
            </a:r>
          </a:p>
          <a:p>
            <a:pPr lvl="1"/>
            <a:r>
              <a:rPr sz="2000">
                <a:latin typeface="Calibri"/>
              </a:rPr>
              <a:t>can </a:t>
            </a:r>
            <a:r>
              <a:rPr sz="2000">
                <a:latin typeface="Calibri"/>
              </a:rPr>
              <a:t>at </a:t>
            </a:r>
            <a:r>
              <a:rPr sz="2000">
                <a:latin typeface="Calibri"/>
              </a:rPr>
              <a:t>least </a:t>
            </a:r>
            <a:r>
              <a:rPr sz="2000">
                <a:latin typeface="Calibri"/>
              </a:rPr>
              <a:t>open </a:t>
            </a:r>
            <a:r>
              <a:rPr sz="2000">
                <a:latin typeface="Calibri"/>
              </a:rPr>
              <a:t>up </a:t>
            </a:r>
            <a:r>
              <a:rPr sz="2000">
                <a:latin typeface="Calibri"/>
              </a:rPr>
              <a:t>discussion</a:t>
            </a:r>
          </a:p>
          <a:p>
            <a:pPr lvl="1"/>
            <a:r>
              <a:rPr sz="2000">
                <a:latin typeface="Calibri"/>
              </a:rPr>
              <a:t>It </a:t>
            </a:r>
            <a:r>
              <a:rPr sz="2000">
                <a:latin typeface="Calibri"/>
              </a:rPr>
              <a:t>is </a:t>
            </a:r>
            <a:r>
              <a:rPr sz="2000">
                <a:latin typeface="Calibri"/>
              </a:rPr>
              <a:t>also </a:t>
            </a:r>
            <a:r>
              <a:rPr sz="2000">
                <a:latin typeface="Calibri"/>
              </a:rPr>
              <a:t>important </a:t>
            </a:r>
            <a:r>
              <a:rPr sz="2000">
                <a:latin typeface="Calibri"/>
              </a:rPr>
              <a:t>to </a:t>
            </a:r>
            <a:r>
              <a:rPr sz="2000">
                <a:latin typeface="Calibri"/>
              </a:rPr>
              <a:t>note </a:t>
            </a:r>
            <a:r>
              <a:rPr sz="2000">
                <a:latin typeface="Calibri"/>
              </a:rPr>
              <a:t>that </a:t>
            </a:r>
            <a:r>
              <a:rPr sz="2000">
                <a:latin typeface="Calibri"/>
              </a:rPr>
              <a:t>the </a:t>
            </a:r>
            <a:r>
              <a:rPr sz="2000">
                <a:latin typeface="Calibri"/>
              </a:rPr>
              <a:t>Commission's </a:t>
            </a:r>
            <a:r>
              <a:rPr sz="2000">
                <a:latin typeface="Calibri"/>
              </a:rPr>
              <a:t>proposals </a:t>
            </a:r>
            <a:r>
              <a:rPr sz="2000">
                <a:latin typeface="Calibri"/>
              </a:rPr>
              <a:t>are </a:t>
            </a:r>
            <a:r>
              <a:rPr sz="2000">
                <a:latin typeface="Calibri"/>
              </a:rPr>
              <a:t>based </a:t>
            </a:r>
            <a:r>
              <a:rPr sz="2000">
                <a:latin typeface="Calibri"/>
              </a:rPr>
              <a:t>on </a:t>
            </a:r>
            <a:r>
              <a:rPr sz="2000">
                <a:latin typeface="Calibri"/>
              </a:rPr>
              <a:t>a </a:t>
            </a:r>
            <a:r>
              <a:rPr sz="2000">
                <a:latin typeface="Calibri"/>
              </a:rPr>
              <a:t>number </a:t>
            </a:r>
            <a:r>
              <a:rPr sz="2000">
                <a:latin typeface="Calibri"/>
              </a:rPr>
              <a:t>of </a:t>
            </a:r>
            <a:r>
              <a:rPr sz="2000">
                <a:latin typeface="Calibri"/>
              </a:rPr>
              <a:t>criteria.</a:t>
            </a:r>
          </a:p>
          <a:p>
            <a:pPr lvl="1"/>
            <a:r>
              <a:rPr sz="1600">
                <a:latin typeface="Calibri"/>
              </a:rPr>
              <a:t>not </a:t>
            </a:r>
            <a:r>
              <a:rPr sz="1600">
                <a:latin typeface="Calibri"/>
              </a:rPr>
              <a:t>scientia, </a:t>
            </a:r>
            <a:r>
              <a:rPr sz="1600">
                <a:latin typeface="Calibri"/>
              </a:rPr>
              <a:t>but </a:t>
            </a:r>
            <a:r>
              <a:rPr sz="1600">
                <a:latin typeface="Calibri"/>
              </a:rPr>
              <a:t>sapientia?</a:t>
            </a:r>
          </a:p>
          <a:p>
            <a:pPr lvl="1"/>
          </a:p>
          <a:p>
            <a:pPr lvl="1"/>
          </a:p>
          <a:p>
            <a:pPr lvl="1"/>
          </a:p>
          <a:p>
            <a:pPr lvl="5"/>
          </a:p>
          <a:p>
            <a:pPr/>
          </a:p>
        </p:txBody>
      </p:sp>
      <p:sp>
        <p:nvSpPr>
          <p:cNvPr id="9219" name="Rectangle 6">
            <a:extLst>
              <a:ext uri="{FF2B5EF4-FFF2-40B4-BE49-F238E27FC236}">
                <a16:creationId xmlns:a16="http://schemas.microsoft.com/office/drawing/2014/main" id="{6CB8FEA0-1589-F950-3D5E-A1DF343B10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15987"/>
            <a:ext cx="8208963" cy="720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1341438" indent="-5334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978025" indent="-4572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2538413" indent="-3810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3098800" indent="-3810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35560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40132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44704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9276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/>
            <a:r>
              <a:rPr sz="3200">
                <a:latin typeface="Calibri"/>
              </a:rPr>
              <a:t>Basic </a:t>
            </a:r>
            <a:r>
              <a:rPr sz="3200">
                <a:latin typeface="Calibri"/>
              </a:rPr>
              <a:t>questions </a:t>
            </a:r>
            <a:r>
              <a:rPr sz="3200">
                <a:latin typeface="Calibri"/>
              </a:rPr>
              <a:t>of </a:t>
            </a:r>
            <a:r>
              <a:rPr sz="3200">
                <a:latin typeface="Calibri"/>
              </a:rPr>
              <a:t>theological </a:t>
            </a:r>
            <a:r>
              <a:rPr sz="3200">
                <a:latin typeface="Calibri"/>
              </a:rPr>
              <a:t>science </a:t>
            </a:r>
            <a:r>
              <a:rPr sz="3200">
                <a:latin typeface="Calibri"/>
              </a:rPr>
              <a:t>theory</a:t>
            </a:r>
          </a:p>
        </p:txBody>
      </p:sp>
    </p:spTree>
    <p:extLst>
      <p:ext uri="{BB962C8B-B14F-4D97-AF65-F5344CB8AC3E}">
        <p14:creationId xmlns:p14="http://schemas.microsoft.com/office/powerpoint/2010/main" val="28224275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929E2-032C-29D2-B030-0DD26DF1C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7" name="Picture 4">
            <a:extLst>
              <a:ext uri="{FF2B5EF4-FFF2-40B4-BE49-F238E27FC236}">
                <a16:creationId xmlns:a16="http://schemas.microsoft.com/office/drawing/2014/main" id="{8429F4D7-43A9-A4AD-AF6E-4165DDD640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0" y="673573"/>
            <a:ext cx="8964487" cy="1631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18" name="Rectangle 5">
            <a:extLst>
              <a:ext uri="{FF2B5EF4-FFF2-40B4-BE49-F238E27FC236}">
                <a16:creationId xmlns:a16="http://schemas.microsoft.com/office/drawing/2014/main" id="{F4F992B0-4580-9EAF-9D14-6B5248FEE6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193"/>
            <a:ext cx="9252520" cy="594518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609600" indent="-609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1341438" indent="-5334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978025" indent="-4572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2538413" indent="-3810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3098800" indent="-3810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35560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40132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44704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9276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/>
            <a:r>
              <a:rPr sz="2800">
                <a:solidFill>
                  <a:srgbClr val="92D050"/>
                </a:solidFill>
                <a:latin typeface="Calibri"/>
              </a:rPr>
              <a:t>Method </a:t>
            </a:r>
            <a:r>
              <a:rPr sz="2800">
                <a:solidFill>
                  <a:srgbClr val="92D050"/>
                </a:solidFill>
                <a:latin typeface="Calibri"/>
              </a:rPr>
              <a:t>of </a:t>
            </a:r>
            <a:r>
              <a:rPr sz="2800">
                <a:solidFill>
                  <a:srgbClr val="92D050"/>
                </a:solidFill>
                <a:latin typeface="Calibri"/>
              </a:rPr>
              <a:t>theology</a:t>
            </a:r>
          </a:p>
          <a:p>
            <a:pPr/>
            <a:r>
              <a:rPr sz="2000">
                <a:latin typeface="Calibri"/>
              </a:rPr>
              <a:t>Basic </a:t>
            </a:r>
            <a:r>
              <a:rPr sz="2000">
                <a:latin typeface="Calibri"/>
              </a:rPr>
              <a:t>operations </a:t>
            </a:r>
            <a:r>
              <a:rPr sz="2000">
                <a:latin typeface="Calibri"/>
              </a:rPr>
              <a:t>such </a:t>
            </a:r>
            <a:r>
              <a:rPr sz="2000">
                <a:latin typeface="Calibri"/>
              </a:rPr>
              <a:t>as </a:t>
            </a:r>
            <a:r>
              <a:rPr sz="2000">
                <a:latin typeface="Calibri"/>
              </a:rPr>
              <a:t>definitions </a:t>
            </a:r>
            <a:r>
              <a:rPr sz="2000">
                <a:latin typeface="Calibri"/>
              </a:rPr>
              <a:t>do </a:t>
            </a:r>
            <a:r>
              <a:rPr sz="2000">
                <a:latin typeface="Calibri"/>
              </a:rPr>
              <a:t>not </a:t>
            </a:r>
            <a:r>
              <a:rPr sz="2000">
                <a:latin typeface="Calibri"/>
              </a:rPr>
              <a:t>capture </a:t>
            </a:r>
            <a:r>
              <a:rPr sz="2000">
                <a:latin typeface="Calibri"/>
              </a:rPr>
              <a:t>the </a:t>
            </a:r>
            <a:r>
              <a:rPr sz="2000">
                <a:latin typeface="Calibri"/>
              </a:rPr>
              <a:t>divine</a:t>
            </a:r>
          </a:p>
          <a:p>
            <a:pPr/>
            <a:r>
              <a:rPr sz="2000">
                <a:latin typeface="Calibri"/>
              </a:rPr>
              <a:t>Language </a:t>
            </a:r>
            <a:r>
              <a:rPr sz="2000">
                <a:latin typeface="Calibri"/>
              </a:rPr>
              <a:t>form: </a:t>
            </a:r>
            <a:r>
              <a:rPr sz="2000">
                <a:latin typeface="Calibri"/>
              </a:rPr>
              <a:t>examples, </a:t>
            </a:r>
            <a:r>
              <a:rPr sz="2000">
                <a:latin typeface="Calibri"/>
              </a:rPr>
              <a:t>parables </a:t>
            </a:r>
            <a:r>
              <a:rPr sz="2000">
                <a:latin typeface="Calibri"/>
              </a:rPr>
              <a:t>and </a:t>
            </a:r>
            <a:r>
              <a:rPr sz="2000">
                <a:latin typeface="Calibri"/>
              </a:rPr>
              <a:t>riddles</a:t>
            </a:r>
          </a:p>
          <a:p>
            <a:pPr/>
            <a:r>
              <a:rPr sz="2000">
                <a:latin typeface="Calibri"/>
              </a:rPr>
              <a:t>Diversity </a:t>
            </a:r>
            <a:r>
              <a:rPr sz="2000">
                <a:latin typeface="Calibri"/>
              </a:rPr>
              <a:t>of </a:t>
            </a:r>
            <a:r>
              <a:rPr sz="2000">
                <a:latin typeface="Calibri"/>
              </a:rPr>
              <a:t>methods?</a:t>
            </a:r>
          </a:p>
          <a:p>
            <a:pPr/>
            <a:r>
              <a:rPr sz="2000">
                <a:latin typeface="Calibri"/>
              </a:rPr>
              <a:t>Proofs </a:t>
            </a:r>
            <a:r>
              <a:rPr sz="2000">
                <a:latin typeface="Calibri"/>
              </a:rPr>
              <a:t>or </a:t>
            </a:r>
            <a:r>
              <a:rPr sz="2000">
                <a:latin typeface="Calibri"/>
              </a:rPr>
              <a:t>explanations?</a:t>
            </a:r>
          </a:p>
          <a:p>
            <a:pPr/>
            <a:r>
              <a:rPr sz="2000">
                <a:latin typeface="Calibri"/>
              </a:rPr>
              <a:t>The </a:t>
            </a:r>
            <a:r>
              <a:rPr sz="2000">
                <a:latin typeface="Calibri"/>
              </a:rPr>
              <a:t>virtues </a:t>
            </a:r>
            <a:r>
              <a:rPr sz="2000">
                <a:latin typeface="Calibri"/>
              </a:rPr>
              <a:t>and </a:t>
            </a:r>
            <a:r>
              <a:rPr sz="2000">
                <a:latin typeface="Calibri"/>
              </a:rPr>
              <a:t>merits </a:t>
            </a:r>
            <a:r>
              <a:rPr sz="2000">
                <a:latin typeface="Calibri"/>
              </a:rPr>
              <a:t>of </a:t>
            </a:r>
            <a:r>
              <a:rPr sz="2000">
                <a:latin typeface="Calibri"/>
              </a:rPr>
              <a:t>faith</a:t>
            </a:r>
          </a:p>
          <a:p>
            <a:pPr/>
            <a:r>
              <a:rPr sz="2000">
                <a:latin typeface="Calibri"/>
              </a:rPr>
              <a:t>Is </a:t>
            </a:r>
            <a:r>
              <a:rPr sz="2000">
                <a:latin typeface="Calibri"/>
              </a:rPr>
              <a:t>there </a:t>
            </a:r>
            <a:r>
              <a:rPr sz="2000">
                <a:latin typeface="Calibri"/>
              </a:rPr>
              <a:t>evidence </a:t>
            </a:r>
            <a:r>
              <a:rPr sz="2000">
                <a:latin typeface="Calibri"/>
              </a:rPr>
              <a:t>only </a:t>
            </a:r>
            <a:r>
              <a:rPr sz="2000">
                <a:latin typeface="Calibri"/>
              </a:rPr>
              <a:t>in </a:t>
            </a:r>
            <a:r>
              <a:rPr sz="2000">
                <a:latin typeface="Calibri"/>
              </a:rPr>
              <a:t>partial </a:t>
            </a:r>
            <a:r>
              <a:rPr sz="2000">
                <a:latin typeface="Calibri"/>
              </a:rPr>
              <a:t>areas </a:t>
            </a:r>
            <a:r>
              <a:rPr sz="2000">
                <a:latin typeface="Calibri"/>
              </a:rPr>
              <a:t>(defence, </a:t>
            </a:r>
            <a:r>
              <a:rPr sz="2000">
                <a:latin typeface="Calibri"/>
              </a:rPr>
              <a:t>support, </a:t>
            </a:r>
            <a:r>
              <a:rPr sz="2000">
                <a:latin typeface="Calibri"/>
              </a:rPr>
              <a:t>conclusions)?</a:t>
            </a:r>
          </a:p>
          <a:p>
            <a:pPr lvl="1"/>
            <a:r>
              <a:rPr sz="2000">
                <a:latin typeface="Calibri"/>
              </a:rPr>
              <a:t>There </a:t>
            </a:r>
            <a:r>
              <a:rPr sz="2000">
                <a:latin typeface="Calibri"/>
              </a:rPr>
              <a:t>is </a:t>
            </a:r>
            <a:r>
              <a:rPr sz="2000">
                <a:latin typeface="Calibri"/>
              </a:rPr>
              <a:t>no </a:t>
            </a:r>
            <a:r>
              <a:rPr sz="2000">
                <a:latin typeface="Calibri"/>
              </a:rPr>
              <a:t>"reproduction" </a:t>
            </a:r>
            <a:r>
              <a:rPr sz="2000">
                <a:latin typeface="Calibri"/>
              </a:rPr>
              <a:t>of </a:t>
            </a:r>
            <a:r>
              <a:rPr sz="2000">
                <a:latin typeface="Calibri"/>
              </a:rPr>
              <a:t>faith </a:t>
            </a:r>
            <a:r>
              <a:rPr sz="2000">
                <a:latin typeface="Calibri"/>
              </a:rPr>
              <a:t>(Albert, </a:t>
            </a:r>
            <a:r>
              <a:rPr sz="2000">
                <a:latin typeface="Calibri"/>
              </a:rPr>
              <a:t>Thomas, </a:t>
            </a:r>
            <a:r>
              <a:rPr sz="2000">
                <a:latin typeface="Calibri"/>
              </a:rPr>
              <a:t>Walter, </a:t>
            </a:r>
            <a:r>
              <a:rPr sz="2000">
                <a:latin typeface="Calibri"/>
              </a:rPr>
              <a:t>Odo, </a:t>
            </a:r>
            <a:r>
              <a:rPr sz="2000">
                <a:latin typeface="Calibri"/>
              </a:rPr>
              <a:t>Peter)</a:t>
            </a:r>
          </a:p>
          <a:p>
            <a:pPr lvl="1"/>
            <a:r>
              <a:rPr sz="1800">
                <a:latin typeface="Calibri"/>
              </a:rPr>
              <a:t>It </a:t>
            </a:r>
            <a:r>
              <a:rPr sz="1800">
                <a:latin typeface="Calibri"/>
              </a:rPr>
              <a:t>is </a:t>
            </a:r>
            <a:r>
              <a:rPr sz="1800">
                <a:latin typeface="Calibri"/>
              </a:rPr>
              <a:t>also </a:t>
            </a:r>
            <a:r>
              <a:rPr sz="1800">
                <a:latin typeface="Calibri"/>
              </a:rPr>
              <a:t>important </a:t>
            </a:r>
            <a:r>
              <a:rPr sz="1800">
                <a:latin typeface="Calibri"/>
              </a:rPr>
              <a:t>to </a:t>
            </a:r>
            <a:r>
              <a:rPr sz="1800">
                <a:latin typeface="Calibri"/>
              </a:rPr>
              <a:t>emphasise </a:t>
            </a:r>
            <a:r>
              <a:rPr sz="1800">
                <a:latin typeface="Calibri"/>
              </a:rPr>
              <a:t>the </a:t>
            </a:r>
            <a:r>
              <a:rPr sz="1800">
                <a:latin typeface="Calibri"/>
              </a:rPr>
              <a:t>importance </a:t>
            </a:r>
            <a:r>
              <a:rPr sz="1800">
                <a:latin typeface="Calibri"/>
              </a:rPr>
              <a:t>of </a:t>
            </a:r>
            <a:r>
              <a:rPr sz="1800">
                <a:latin typeface="Calibri"/>
              </a:rPr>
              <a:t>the </a:t>
            </a:r>
            <a:r>
              <a:rPr sz="1800">
                <a:latin typeface="Calibri"/>
              </a:rPr>
              <a:t>European </a:t>
            </a:r>
            <a:r>
              <a:rPr sz="1800">
                <a:latin typeface="Calibri"/>
              </a:rPr>
              <a:t>Union's </a:t>
            </a:r>
            <a:r>
              <a:rPr sz="1800">
                <a:latin typeface="Calibri"/>
              </a:rPr>
              <a:t>role </a:t>
            </a:r>
            <a:r>
              <a:rPr sz="1800">
                <a:latin typeface="Calibri"/>
              </a:rPr>
              <a:t>in </a:t>
            </a:r>
            <a:r>
              <a:rPr sz="1800">
                <a:latin typeface="Calibri"/>
              </a:rPr>
              <a:t>promoting </a:t>
            </a:r>
            <a:r>
              <a:rPr sz="1800">
                <a:latin typeface="Calibri"/>
              </a:rPr>
              <a:t>economic </a:t>
            </a:r>
            <a:r>
              <a:rPr sz="1800">
                <a:latin typeface="Calibri"/>
              </a:rPr>
              <a:t>and </a:t>
            </a:r>
            <a:r>
              <a:rPr sz="1800">
                <a:latin typeface="Calibri"/>
              </a:rPr>
              <a:t>social </a:t>
            </a:r>
            <a:r>
              <a:rPr sz="1800">
                <a:latin typeface="Calibri"/>
              </a:rPr>
              <a:t>cohesion.</a:t>
            </a:r>
          </a:p>
          <a:p>
            <a:pPr lvl="1"/>
            <a:r>
              <a:rPr sz="1800">
                <a:latin typeface="Calibri"/>
              </a:rPr>
              <a:t>Articles </a:t>
            </a:r>
            <a:r>
              <a:rPr sz="1800">
                <a:latin typeface="Calibri"/>
              </a:rPr>
              <a:t>of </a:t>
            </a:r>
            <a:r>
              <a:rPr sz="1800">
                <a:latin typeface="Calibri"/>
              </a:rPr>
              <a:t>association</a:t>
            </a:r>
          </a:p>
          <a:p>
            <a:pPr lvl="1"/>
            <a:r>
              <a:rPr sz="1800">
                <a:latin typeface="Calibri"/>
              </a:rPr>
              <a:t>Conclusions</a:t>
            </a:r>
          </a:p>
          <a:p>
            <a:pPr/>
            <a:r>
              <a:rPr sz="2000">
                <a:latin typeface="Calibri"/>
              </a:rPr>
              <a:t>Does </a:t>
            </a:r>
            <a:r>
              <a:rPr sz="2000">
                <a:latin typeface="Calibri"/>
              </a:rPr>
              <a:t>reason </a:t>
            </a:r>
            <a:r>
              <a:rPr sz="2000">
                <a:latin typeface="Calibri"/>
              </a:rPr>
              <a:t>then </a:t>
            </a:r>
            <a:r>
              <a:rPr sz="2000">
                <a:latin typeface="Calibri"/>
              </a:rPr>
              <a:t>precede </a:t>
            </a:r>
            <a:r>
              <a:rPr sz="2000">
                <a:latin typeface="Calibri"/>
              </a:rPr>
              <a:t>faith?</a:t>
            </a:r>
          </a:p>
          <a:p>
            <a:pPr/>
            <a:r>
              <a:rPr sz="2000">
                <a:latin typeface="Calibri"/>
              </a:rPr>
              <a:t>Not </a:t>
            </a:r>
            <a:r>
              <a:rPr sz="2000">
                <a:latin typeface="Calibri"/>
              </a:rPr>
              <a:t>evidence </a:t>
            </a:r>
            <a:r>
              <a:rPr sz="2000">
                <a:latin typeface="Calibri"/>
              </a:rPr>
              <a:t>of </a:t>
            </a:r>
            <a:r>
              <a:rPr sz="2000">
                <a:latin typeface="Calibri"/>
              </a:rPr>
              <a:t>belief, </a:t>
            </a:r>
            <a:r>
              <a:rPr sz="2000">
                <a:latin typeface="Calibri"/>
              </a:rPr>
              <a:t>but </a:t>
            </a:r>
            <a:r>
              <a:rPr sz="2000">
                <a:latin typeface="Calibri"/>
              </a:rPr>
              <a:t>credibility.</a:t>
            </a:r>
          </a:p>
          <a:p>
            <a:pPr/>
            <a:r>
              <a:rPr sz="2000">
                <a:latin typeface="Calibri"/>
              </a:rPr>
              <a:t>It </a:t>
            </a:r>
            <a:r>
              <a:rPr sz="2000">
                <a:latin typeface="Calibri"/>
              </a:rPr>
              <a:t>is </a:t>
            </a:r>
            <a:r>
              <a:rPr sz="2000">
                <a:latin typeface="Calibri"/>
              </a:rPr>
              <a:t>also </a:t>
            </a:r>
            <a:r>
              <a:rPr sz="2000">
                <a:latin typeface="Calibri"/>
              </a:rPr>
              <a:t>important </a:t>
            </a:r>
            <a:r>
              <a:rPr sz="2000">
                <a:latin typeface="Calibri"/>
              </a:rPr>
              <a:t>to </a:t>
            </a:r>
            <a:r>
              <a:rPr sz="2000">
                <a:latin typeface="Calibri"/>
              </a:rPr>
              <a:t>note </a:t>
            </a:r>
            <a:r>
              <a:rPr sz="2000">
                <a:latin typeface="Calibri"/>
              </a:rPr>
              <a:t>that </a:t>
            </a:r>
            <a:r>
              <a:rPr sz="2000">
                <a:latin typeface="Calibri"/>
              </a:rPr>
              <a:t>the </a:t>
            </a:r>
            <a:r>
              <a:rPr sz="2000">
                <a:latin typeface="Calibri"/>
              </a:rPr>
              <a:t>Commission's </a:t>
            </a:r>
            <a:r>
              <a:rPr sz="2000">
                <a:latin typeface="Calibri"/>
              </a:rPr>
              <a:t>proposal </a:t>
            </a:r>
            <a:r>
              <a:rPr sz="2000">
                <a:latin typeface="Calibri"/>
              </a:rPr>
              <a:t>for </a:t>
            </a:r>
            <a:r>
              <a:rPr sz="2000">
                <a:latin typeface="Calibri"/>
              </a:rPr>
              <a:t>a </a:t>
            </a:r>
            <a:r>
              <a:rPr sz="2000">
                <a:latin typeface="Calibri"/>
              </a:rPr>
              <a:t>regulation </a:t>
            </a:r>
            <a:r>
              <a:rPr sz="2000">
                <a:latin typeface="Calibri"/>
              </a:rPr>
              <a:t>of </a:t>
            </a:r>
            <a:r>
              <a:rPr sz="2000">
                <a:latin typeface="Calibri"/>
              </a:rPr>
              <a:t>the </a:t>
            </a:r>
            <a:r>
              <a:rPr sz="2000">
                <a:latin typeface="Calibri"/>
              </a:rPr>
              <a:t>European </a:t>
            </a:r>
            <a:r>
              <a:rPr sz="2000">
                <a:latin typeface="Calibri"/>
              </a:rPr>
              <a:t>Parliament </a:t>
            </a:r>
            <a:r>
              <a:rPr sz="2000">
                <a:latin typeface="Calibri"/>
              </a:rPr>
              <a:t>and </a:t>
            </a:r>
            <a:r>
              <a:rPr sz="2000">
                <a:latin typeface="Calibri"/>
              </a:rPr>
              <a:t>of </a:t>
            </a:r>
            <a:r>
              <a:rPr sz="2000">
                <a:latin typeface="Calibri"/>
              </a:rPr>
              <a:t>the </a:t>
            </a:r>
            <a:r>
              <a:rPr sz="2000">
                <a:latin typeface="Calibri"/>
              </a:rPr>
              <a:t>Council </a:t>
            </a:r>
            <a:r>
              <a:rPr sz="2000">
                <a:latin typeface="Calibri"/>
              </a:rPr>
              <a:t>does </a:t>
            </a:r>
            <a:r>
              <a:rPr sz="2000">
                <a:latin typeface="Calibri"/>
              </a:rPr>
              <a:t>not </a:t>
            </a:r>
            <a:r>
              <a:rPr sz="2000">
                <a:latin typeface="Calibri"/>
              </a:rPr>
              <a:t>preclude </a:t>
            </a:r>
            <a:r>
              <a:rPr sz="2000">
                <a:latin typeface="Calibri"/>
              </a:rPr>
              <a:t>the </a:t>
            </a:r>
            <a:r>
              <a:rPr sz="2000">
                <a:latin typeface="Calibri"/>
              </a:rPr>
              <a:t>adoption </a:t>
            </a:r>
            <a:r>
              <a:rPr sz="2000">
                <a:latin typeface="Calibri"/>
              </a:rPr>
              <a:t>by </a:t>
            </a:r>
            <a:r>
              <a:rPr sz="2000">
                <a:latin typeface="Calibri"/>
              </a:rPr>
              <a:t>the </a:t>
            </a:r>
            <a:r>
              <a:rPr sz="2000">
                <a:latin typeface="Calibri"/>
              </a:rPr>
              <a:t>Member </a:t>
            </a:r>
            <a:r>
              <a:rPr sz="2000">
                <a:latin typeface="Calibri"/>
              </a:rPr>
              <a:t>States </a:t>
            </a:r>
            <a:r>
              <a:rPr sz="2000">
                <a:latin typeface="Calibri"/>
              </a:rPr>
              <a:t>of </a:t>
            </a:r>
            <a:r>
              <a:rPr sz="2000">
                <a:latin typeface="Calibri"/>
              </a:rPr>
              <a:t>this </a:t>
            </a:r>
            <a:r>
              <a:rPr sz="2000">
                <a:latin typeface="Calibri"/>
              </a:rPr>
              <a:t>regulation </a:t>
            </a:r>
            <a:r>
              <a:rPr sz="2000">
                <a:latin typeface="Calibri"/>
              </a:rPr>
              <a:t>of </a:t>
            </a:r>
            <a:r>
              <a:rPr sz="2000">
                <a:latin typeface="Calibri"/>
              </a:rPr>
              <a:t>a </a:t>
            </a:r>
            <a:r>
              <a:rPr sz="2000">
                <a:latin typeface="Calibri"/>
              </a:rPr>
              <a:t>regulation.</a:t>
            </a:r>
          </a:p>
          <a:p>
            <a:pPr lvl="1"/>
          </a:p>
          <a:p>
            <a:pPr lvl="1"/>
          </a:p>
          <a:p>
            <a:pPr lvl="1"/>
          </a:p>
          <a:p>
            <a:pPr lvl="1"/>
          </a:p>
          <a:p>
            <a:pPr lvl="5"/>
          </a:p>
          <a:p>
            <a:pPr/>
          </a:p>
        </p:txBody>
      </p:sp>
      <p:sp>
        <p:nvSpPr>
          <p:cNvPr id="9219" name="Rectangle 6">
            <a:extLst>
              <a:ext uri="{FF2B5EF4-FFF2-40B4-BE49-F238E27FC236}">
                <a16:creationId xmlns:a16="http://schemas.microsoft.com/office/drawing/2014/main" id="{8353F5E3-96F6-A793-9023-69593D6089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15987"/>
            <a:ext cx="8208963" cy="720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1341438" indent="-5334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978025" indent="-4572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2538413" indent="-3810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3098800" indent="-3810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35560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40132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44704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9276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/>
            <a:r>
              <a:rPr sz="3200">
                <a:latin typeface="Calibri"/>
              </a:rPr>
              <a:t>Basic </a:t>
            </a:r>
            <a:r>
              <a:rPr sz="3200">
                <a:latin typeface="Calibri"/>
              </a:rPr>
              <a:t>questions </a:t>
            </a:r>
            <a:r>
              <a:rPr sz="3200">
                <a:latin typeface="Calibri"/>
              </a:rPr>
              <a:t>of </a:t>
            </a:r>
            <a:r>
              <a:rPr sz="3200">
                <a:latin typeface="Calibri"/>
              </a:rPr>
              <a:t>theological </a:t>
            </a:r>
            <a:r>
              <a:rPr sz="3200">
                <a:latin typeface="Calibri"/>
              </a:rPr>
              <a:t>science </a:t>
            </a:r>
            <a:r>
              <a:rPr sz="3200">
                <a:latin typeface="Calibri"/>
              </a:rPr>
              <a:t>theory</a:t>
            </a:r>
          </a:p>
        </p:txBody>
      </p:sp>
    </p:spTree>
    <p:extLst>
      <p:ext uri="{BB962C8B-B14F-4D97-AF65-F5344CB8AC3E}">
        <p14:creationId xmlns:p14="http://schemas.microsoft.com/office/powerpoint/2010/main" val="29205663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9246E-66D3-A738-A4C5-CA616D1C0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7" name="Picture 4">
            <a:extLst>
              <a:ext uri="{FF2B5EF4-FFF2-40B4-BE49-F238E27FC236}">
                <a16:creationId xmlns:a16="http://schemas.microsoft.com/office/drawing/2014/main" id="{7B522914-B554-2F78-5FCA-EFCD3898CA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0" y="673573"/>
            <a:ext cx="8964487" cy="1631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18" name="Rectangle 5">
            <a:extLst>
              <a:ext uri="{FF2B5EF4-FFF2-40B4-BE49-F238E27FC236}">
                <a16:creationId xmlns:a16="http://schemas.microsoft.com/office/drawing/2014/main" id="{7B915F42-7C1E-C300-9E73-1B1D1B0B2C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193"/>
            <a:ext cx="9252520" cy="594518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609600" indent="-609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1341438" indent="-5334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978025" indent="-4572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2538413" indent="-3810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3098800" indent="-3810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35560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40132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44704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9276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/>
            <a:r>
              <a:rPr sz="2800">
                <a:solidFill>
                  <a:srgbClr val="92D050"/>
                </a:solidFill>
                <a:latin typeface="Calibri"/>
              </a:rPr>
              <a:t>5. </a:t>
            </a:r>
            <a:r>
              <a:rPr sz="2800">
                <a:solidFill>
                  <a:srgbClr val="92D050"/>
                </a:solidFill>
                <a:latin typeface="Calibri"/>
              </a:rPr>
              <a:t>certainty </a:t>
            </a:r>
            <a:r>
              <a:rPr sz="2800">
                <a:solidFill>
                  <a:srgbClr val="92D050"/>
                </a:solidFill>
                <a:latin typeface="Calibri"/>
              </a:rPr>
              <a:t>in </a:t>
            </a:r>
            <a:r>
              <a:rPr sz="2800">
                <a:solidFill>
                  <a:srgbClr val="92D050"/>
                </a:solidFill>
                <a:latin typeface="Calibri"/>
              </a:rPr>
              <a:t>theology </a:t>
            </a:r>
            <a:r>
              <a:rPr sz="2800">
                <a:solidFill>
                  <a:srgbClr val="92D050"/>
                </a:solidFill>
                <a:latin typeface="Calibri"/>
              </a:rPr>
              <a:t>(epistemic </a:t>
            </a:r>
            <a:r>
              <a:rPr sz="2800">
                <a:solidFill>
                  <a:srgbClr val="92D050"/>
                </a:solidFill>
                <a:latin typeface="Calibri"/>
              </a:rPr>
              <a:t>status)</a:t>
            </a:r>
          </a:p>
          <a:p>
            <a:pPr/>
            <a:r>
              <a:rPr sz="2000">
                <a:latin typeface="Calibri"/>
              </a:rPr>
              <a:t>Historical </a:t>
            </a:r>
            <a:r>
              <a:rPr sz="2000">
                <a:latin typeface="Calibri"/>
              </a:rPr>
              <a:t>data </a:t>
            </a:r>
            <a:r>
              <a:rPr sz="2000">
                <a:latin typeface="Calibri"/>
              </a:rPr>
              <a:t>alone </a:t>
            </a:r>
            <a:r>
              <a:rPr sz="2000">
                <a:latin typeface="Calibri"/>
              </a:rPr>
              <a:t>does </a:t>
            </a:r>
            <a:r>
              <a:rPr sz="2000">
                <a:latin typeface="Calibri"/>
              </a:rPr>
              <a:t>not </a:t>
            </a:r>
            <a:r>
              <a:rPr sz="2000">
                <a:latin typeface="Calibri"/>
              </a:rPr>
              <a:t>provide </a:t>
            </a:r>
            <a:r>
              <a:rPr sz="2000">
                <a:latin typeface="Calibri"/>
              </a:rPr>
              <a:t>certainty </a:t>
            </a:r>
            <a:r>
              <a:rPr sz="2000">
                <a:latin typeface="Calibri"/>
              </a:rPr>
              <a:t>(Odo </a:t>
            </a:r>
            <a:r>
              <a:rPr sz="2000">
                <a:latin typeface="Calibri"/>
              </a:rPr>
              <a:t>Rigaldus)</a:t>
            </a:r>
          </a:p>
          <a:p>
            <a:pPr/>
            <a:r>
              <a:rPr sz="2000">
                <a:latin typeface="Calibri"/>
              </a:rPr>
              <a:t>The </a:t>
            </a:r>
            <a:r>
              <a:rPr sz="2000">
                <a:latin typeface="Calibri"/>
              </a:rPr>
              <a:t>source </a:t>
            </a:r>
            <a:r>
              <a:rPr sz="2000">
                <a:latin typeface="Calibri"/>
              </a:rPr>
              <a:t>for </a:t>
            </a:r>
            <a:r>
              <a:rPr sz="2000">
                <a:latin typeface="Calibri"/>
              </a:rPr>
              <a:t>God, </a:t>
            </a:r>
            <a:r>
              <a:rPr sz="2000">
                <a:latin typeface="Calibri"/>
              </a:rPr>
              <a:t>Holy </a:t>
            </a:r>
            <a:r>
              <a:rPr sz="2000">
                <a:latin typeface="Calibri"/>
              </a:rPr>
              <a:t>Scripture </a:t>
            </a:r>
            <a:r>
              <a:rPr sz="2000">
                <a:latin typeface="Calibri"/>
              </a:rPr>
              <a:t>supreme </a:t>
            </a:r>
            <a:r>
              <a:rPr sz="2000">
                <a:latin typeface="Calibri"/>
              </a:rPr>
              <a:t>certainty: </a:t>
            </a:r>
            <a:r>
              <a:rPr sz="2000">
                <a:latin typeface="Calibri"/>
              </a:rPr>
              <a:t>it </a:t>
            </a:r>
            <a:r>
              <a:rPr sz="2000">
                <a:latin typeface="Calibri"/>
              </a:rPr>
              <a:t>leads </a:t>
            </a:r>
            <a:r>
              <a:rPr sz="2000">
                <a:latin typeface="Calibri"/>
              </a:rPr>
              <a:t>to </a:t>
            </a:r>
            <a:r>
              <a:rPr sz="2000">
                <a:latin typeface="Calibri"/>
              </a:rPr>
              <a:t>the </a:t>
            </a:r>
            <a:r>
              <a:rPr sz="2000">
                <a:latin typeface="Calibri"/>
              </a:rPr>
              <a:t>habitus </a:t>
            </a:r>
            <a:r>
              <a:rPr sz="2000">
                <a:latin typeface="Calibri"/>
              </a:rPr>
              <a:t>of </a:t>
            </a:r>
            <a:r>
              <a:rPr sz="2000">
                <a:latin typeface="Calibri"/>
              </a:rPr>
              <a:t>insight </a:t>
            </a:r>
            <a:r>
              <a:rPr sz="2000">
                <a:latin typeface="Calibri"/>
              </a:rPr>
              <a:t>(Odo; </a:t>
            </a:r>
            <a:r>
              <a:rPr sz="2000">
                <a:latin typeface="Calibri"/>
              </a:rPr>
              <a:t>Peckham, </a:t>
            </a:r>
            <a:r>
              <a:rPr sz="2000">
                <a:latin typeface="Calibri"/>
              </a:rPr>
              <a:t>Fishacre, </a:t>
            </a:r>
            <a:r>
              <a:rPr sz="2000">
                <a:latin typeface="Calibri"/>
              </a:rPr>
              <a:t>Thomas, </a:t>
            </a:r>
            <a:r>
              <a:rPr sz="2000">
                <a:latin typeface="Calibri"/>
              </a:rPr>
              <a:t>Romanus, </a:t>
            </a:r>
            <a:r>
              <a:rPr sz="2000">
                <a:latin typeface="Calibri"/>
              </a:rPr>
              <a:t>Aegidius, </a:t>
            </a:r>
            <a:r>
              <a:rPr sz="2000">
                <a:latin typeface="Calibri"/>
              </a:rPr>
              <a:t>Henry)</a:t>
            </a:r>
          </a:p>
          <a:p>
            <a:pPr/>
            <a:r>
              <a:rPr sz="2000">
                <a:latin typeface="Calibri"/>
              </a:rPr>
              <a:t>But </a:t>
            </a:r>
            <a:r>
              <a:rPr i="1" sz="2000">
                <a:latin typeface="Calibri"/>
              </a:rPr>
              <a:t>methodically, </a:t>
            </a:r>
            <a:r>
              <a:rPr sz="2000">
                <a:latin typeface="Calibri"/>
              </a:rPr>
              <a:t>it </a:t>
            </a:r>
            <a:r>
              <a:rPr sz="2000">
                <a:latin typeface="Calibri"/>
              </a:rPr>
              <a:t>would </a:t>
            </a:r>
            <a:r>
              <a:rPr sz="2000">
                <a:latin typeface="Calibri"/>
              </a:rPr>
              <a:t>be </a:t>
            </a:r>
            <a:r>
              <a:rPr sz="2000">
                <a:latin typeface="Calibri"/>
              </a:rPr>
              <a:t>lower.</a:t>
            </a:r>
          </a:p>
          <a:p>
            <a:pPr/>
            <a:r>
              <a:rPr sz="2000">
                <a:latin typeface="Calibri"/>
              </a:rPr>
              <a:t>Insecurity </a:t>
            </a:r>
            <a:r>
              <a:rPr sz="2000">
                <a:latin typeface="Calibri"/>
              </a:rPr>
              <a:t>of </a:t>
            </a:r>
            <a:r>
              <a:rPr sz="2000">
                <a:latin typeface="Calibri"/>
              </a:rPr>
              <a:t>the </a:t>
            </a:r>
            <a:r>
              <a:rPr sz="2000">
                <a:latin typeface="Calibri"/>
              </a:rPr>
              <a:t>object </a:t>
            </a:r>
            <a:r>
              <a:rPr sz="2000">
                <a:latin typeface="Calibri"/>
              </a:rPr>
              <a:t>of </a:t>
            </a:r>
            <a:r>
              <a:rPr sz="2000">
                <a:latin typeface="Calibri"/>
              </a:rPr>
              <a:t>faith </a:t>
            </a:r>
            <a:r>
              <a:rPr sz="2000">
                <a:latin typeface="Calibri"/>
              </a:rPr>
              <a:t>(content </a:t>
            </a:r>
            <a:r>
              <a:rPr sz="2000">
                <a:latin typeface="Calibri"/>
              </a:rPr>
              <a:t>page) </a:t>
            </a:r>
            <a:r>
              <a:rPr sz="2000">
                <a:latin typeface="Calibri"/>
              </a:rPr>
              <a:t>(Heinrich </a:t>
            </a:r>
            <a:r>
              <a:rPr sz="2000">
                <a:latin typeface="Calibri"/>
              </a:rPr>
              <a:t>von </a:t>
            </a:r>
            <a:r>
              <a:rPr sz="2000">
                <a:latin typeface="Calibri"/>
              </a:rPr>
              <a:t>Ghent)</a:t>
            </a:r>
          </a:p>
          <a:p>
            <a:pPr/>
            <a:r>
              <a:rPr sz="2000">
                <a:latin typeface="Calibri"/>
              </a:rPr>
              <a:t>Subject: </a:t>
            </a:r>
            <a:r>
              <a:rPr sz="2000">
                <a:latin typeface="Calibri"/>
              </a:rPr>
              <a:t>Verification </a:t>
            </a:r>
            <a:r>
              <a:rPr sz="2000">
                <a:latin typeface="Calibri"/>
              </a:rPr>
              <a:t>in </a:t>
            </a:r>
            <a:r>
              <a:rPr sz="2000">
                <a:latin typeface="Calibri"/>
              </a:rPr>
              <a:t>the </a:t>
            </a:r>
            <a:r>
              <a:rPr sz="2000">
                <a:latin typeface="Calibri"/>
              </a:rPr>
              <a:t>subjective </a:t>
            </a:r>
            <a:r>
              <a:rPr sz="2000">
                <a:latin typeface="Calibri"/>
              </a:rPr>
              <a:t>experience, </a:t>
            </a:r>
            <a:r>
              <a:rPr sz="2000">
                <a:latin typeface="Calibri"/>
              </a:rPr>
              <a:t>in </a:t>
            </a:r>
            <a:r>
              <a:rPr sz="2000">
                <a:latin typeface="Calibri"/>
              </a:rPr>
              <a:t>life </a:t>
            </a:r>
            <a:r>
              <a:rPr sz="2000">
                <a:latin typeface="Calibri"/>
              </a:rPr>
              <a:t>imprisonment, </a:t>
            </a:r>
            <a:r>
              <a:rPr sz="2000">
                <a:latin typeface="Calibri"/>
              </a:rPr>
              <a:t>good </a:t>
            </a:r>
            <a:r>
              <a:rPr sz="2000">
                <a:latin typeface="Calibri"/>
              </a:rPr>
              <a:t>deeds?</a:t>
            </a:r>
          </a:p>
          <a:p>
            <a:pPr/>
          </a:p>
          <a:p>
            <a:pPr/>
          </a:p>
          <a:p>
            <a:pPr lvl="1"/>
          </a:p>
          <a:p>
            <a:pPr lvl="1"/>
          </a:p>
          <a:p>
            <a:pPr lvl="1"/>
          </a:p>
          <a:p>
            <a:pPr lvl="5"/>
          </a:p>
          <a:p>
            <a:pPr/>
          </a:p>
        </p:txBody>
      </p:sp>
      <p:sp>
        <p:nvSpPr>
          <p:cNvPr id="9219" name="Rectangle 6">
            <a:extLst>
              <a:ext uri="{FF2B5EF4-FFF2-40B4-BE49-F238E27FC236}">
                <a16:creationId xmlns:a16="http://schemas.microsoft.com/office/drawing/2014/main" id="{3881F053-F9C3-0EAE-1DD3-1C1FEB5C0E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15987"/>
            <a:ext cx="8208963" cy="720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1341438" indent="-5334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978025" indent="-4572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2538413" indent="-3810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3098800" indent="-3810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35560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40132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44704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9276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/>
            <a:r>
              <a:rPr sz="3200">
                <a:latin typeface="Calibri"/>
              </a:rPr>
              <a:t>Basic </a:t>
            </a:r>
            <a:r>
              <a:rPr sz="3200">
                <a:latin typeface="Calibri"/>
              </a:rPr>
              <a:t>questions </a:t>
            </a:r>
            <a:r>
              <a:rPr sz="3200">
                <a:latin typeface="Calibri"/>
              </a:rPr>
              <a:t>of </a:t>
            </a:r>
            <a:r>
              <a:rPr sz="3200">
                <a:latin typeface="Calibri"/>
              </a:rPr>
              <a:t>theological </a:t>
            </a:r>
            <a:r>
              <a:rPr sz="3200">
                <a:latin typeface="Calibri"/>
              </a:rPr>
              <a:t>science </a:t>
            </a:r>
            <a:r>
              <a:rPr sz="3200">
                <a:latin typeface="Calibri"/>
              </a:rPr>
              <a:t>theory</a:t>
            </a:r>
          </a:p>
        </p:txBody>
      </p:sp>
    </p:spTree>
    <p:extLst>
      <p:ext uri="{BB962C8B-B14F-4D97-AF65-F5344CB8AC3E}">
        <p14:creationId xmlns:p14="http://schemas.microsoft.com/office/powerpoint/2010/main" val="4726805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96E13-31EA-593D-FC00-8ADCBEC08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7" name="Picture 4">
            <a:extLst>
              <a:ext uri="{FF2B5EF4-FFF2-40B4-BE49-F238E27FC236}">
                <a16:creationId xmlns:a16="http://schemas.microsoft.com/office/drawing/2014/main" id="{21410E4F-7861-73CE-B442-98318C27B4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0" y="673573"/>
            <a:ext cx="8964487" cy="1631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18" name="Rectangle 5">
            <a:extLst>
              <a:ext uri="{FF2B5EF4-FFF2-40B4-BE49-F238E27FC236}">
                <a16:creationId xmlns:a16="http://schemas.microsoft.com/office/drawing/2014/main" id="{152A15FD-9D05-3D62-9538-51CFF21796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193"/>
            <a:ext cx="9252520" cy="594518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609600" indent="-609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1341438" indent="-5334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978025" indent="-4572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2538413" indent="-3810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3098800" indent="-3810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35560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40132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44704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9276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/>
            <a:r>
              <a:rPr sz="2600">
                <a:latin typeface="Calibri"/>
              </a:rPr>
              <a:t>Structure </a:t>
            </a:r>
            <a:r>
              <a:rPr sz="2600">
                <a:latin typeface="Calibri"/>
              </a:rPr>
              <a:t>of </a:t>
            </a:r>
            <a:r>
              <a:rPr sz="2600">
                <a:latin typeface="Calibri"/>
              </a:rPr>
              <a:t>works</a:t>
            </a:r>
          </a:p>
          <a:p>
            <a:pPr/>
            <a:r>
              <a:rPr sz="2600">
                <a:latin typeface="Calibri"/>
              </a:rPr>
              <a:t>References</a:t>
            </a:r>
          </a:p>
          <a:p>
            <a:pPr lvl="1"/>
            <a:r>
              <a:rPr sz="1800">
                <a:latin typeface="Calibri"/>
              </a:rPr>
              <a:t>Updating </a:t>
            </a:r>
            <a:r>
              <a:rPr sz="1800">
                <a:latin typeface="Calibri"/>
              </a:rPr>
              <a:t>to </a:t>
            </a:r>
            <a:r>
              <a:rPr sz="1800">
                <a:latin typeface="Calibri"/>
              </a:rPr>
              <a:t>the </a:t>
            </a:r>
            <a:r>
              <a:rPr sz="1800">
                <a:latin typeface="Calibri"/>
              </a:rPr>
              <a:t>respective </a:t>
            </a:r>
            <a:r>
              <a:rPr sz="1800">
                <a:latin typeface="Calibri"/>
              </a:rPr>
              <a:t>understanding </a:t>
            </a:r>
            <a:r>
              <a:rPr sz="1800">
                <a:latin typeface="Calibri"/>
              </a:rPr>
              <a:t>requirements</a:t>
            </a:r>
          </a:p>
          <a:p>
            <a:pPr lvl="1"/>
            <a:r>
              <a:rPr sz="1800">
                <a:latin typeface="Calibri"/>
              </a:rPr>
              <a:t>ressourcing</a:t>
            </a:r>
          </a:p>
          <a:p>
            <a:pPr lvl="1"/>
            <a:r>
              <a:rPr sz="1800">
                <a:latin typeface="Calibri"/>
              </a:rPr>
              <a:t>New </a:t>
            </a:r>
            <a:r>
              <a:rPr sz="1800">
                <a:latin typeface="Calibri"/>
              </a:rPr>
              <a:t>contextualization, </a:t>
            </a:r>
            <a:r>
              <a:rPr sz="1800">
                <a:latin typeface="Calibri"/>
              </a:rPr>
              <a:t>formatting</a:t>
            </a:r>
          </a:p>
          <a:p>
            <a:pPr lvl="1"/>
          </a:p>
          <a:p>
            <a:pPr lvl="5"/>
          </a:p>
          <a:p>
            <a:pPr/>
          </a:p>
        </p:txBody>
      </p:sp>
      <p:sp>
        <p:nvSpPr>
          <p:cNvPr id="9219" name="Rectangle 6">
            <a:extLst>
              <a:ext uri="{FF2B5EF4-FFF2-40B4-BE49-F238E27FC236}">
                <a16:creationId xmlns:a16="http://schemas.microsoft.com/office/drawing/2014/main" id="{019FDB79-167A-6423-98D2-E71673BA25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45005"/>
            <a:ext cx="8784975" cy="936749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1341438" indent="-5334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978025" indent="-4572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2538413" indent="-3810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3098800" indent="-3810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35560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40132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44704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9276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/>
            <a:r>
              <a:rPr sz="3200">
                <a:latin typeface="Calibri"/>
              </a:rPr>
              <a:t>Transformation </a:t>
            </a:r>
            <a:r>
              <a:rPr sz="3200">
                <a:latin typeface="Calibri"/>
              </a:rPr>
              <a:t>of </a:t>
            </a:r>
            <a:r>
              <a:rPr sz="3200">
                <a:latin typeface="Calibri"/>
              </a:rPr>
              <a:t>theological </a:t>
            </a:r>
            <a:r>
              <a:rPr sz="3200">
                <a:latin typeface="Calibri"/>
              </a:rPr>
              <a:t>scientific </a:t>
            </a:r>
            <a:r>
              <a:rPr sz="3200">
                <a:latin typeface="Calibri"/>
              </a:rPr>
              <a:t>theory</a:t>
            </a:r>
          </a:p>
        </p:txBody>
      </p:sp>
    </p:spTree>
    <p:extLst>
      <p:ext uri="{BB962C8B-B14F-4D97-AF65-F5344CB8AC3E}">
        <p14:creationId xmlns:p14="http://schemas.microsoft.com/office/powerpoint/2010/main" val="9768728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AFC4B-E87E-656D-3CDC-1B8E5001D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7" name="Picture 4">
            <a:extLst>
              <a:ext uri="{FF2B5EF4-FFF2-40B4-BE49-F238E27FC236}">
                <a16:creationId xmlns:a16="http://schemas.microsoft.com/office/drawing/2014/main" id="{B867EDFC-5F95-9D17-2D3F-5313397597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0" y="764704"/>
            <a:ext cx="8964487" cy="1631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18" name="Rectangle 5">
            <a:extLst>
              <a:ext uri="{FF2B5EF4-FFF2-40B4-BE49-F238E27FC236}">
                <a16:creationId xmlns:a16="http://schemas.microsoft.com/office/drawing/2014/main" id="{1CDF0F04-0102-151A-B191-4FA57FD1D2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124744"/>
            <a:ext cx="8964487" cy="573325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609600" indent="-609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1341438" indent="-5334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978025" indent="-4572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2538413" indent="-3810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3098800" indent="-3810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35560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40132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44704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9276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/>
            <a:r>
              <a:rPr sz="2900">
                <a:latin typeface="Calibri"/>
              </a:rPr>
              <a:t>Subject </a:t>
            </a:r>
            <a:r>
              <a:rPr sz="2900">
                <a:latin typeface="Calibri"/>
              </a:rPr>
              <a:t>of </a:t>
            </a:r>
            <a:r>
              <a:rPr sz="2900">
                <a:latin typeface="Calibri"/>
              </a:rPr>
              <a:t>theology</a:t>
            </a:r>
          </a:p>
          <a:p>
            <a:pPr/>
            <a:r>
              <a:rPr sz="1800">
                <a:latin typeface="Calibri"/>
              </a:rPr>
              <a:t>God </a:t>
            </a:r>
            <a:r>
              <a:rPr sz="1800">
                <a:latin typeface="Calibri"/>
              </a:rPr>
              <a:t>as </a:t>
            </a:r>
            <a:r>
              <a:rPr sz="1800">
                <a:latin typeface="Calibri"/>
              </a:rPr>
              <a:t>an </a:t>
            </a:r>
            <a:r>
              <a:rPr sz="1800">
                <a:latin typeface="Calibri"/>
              </a:rPr>
              <a:t>absolute </a:t>
            </a:r>
            <a:r>
              <a:rPr sz="1800">
                <a:latin typeface="Calibri"/>
              </a:rPr>
              <a:t>praesuppositio</a:t>
            </a:r>
          </a:p>
          <a:p>
            <a:pPr/>
            <a:r>
              <a:rPr sz="1800">
                <a:latin typeface="Calibri"/>
              </a:rPr>
              <a:t>Reflective </a:t>
            </a:r>
            <a:r>
              <a:rPr sz="1800">
                <a:latin typeface="Calibri"/>
              </a:rPr>
              <a:t>process </a:t>
            </a:r>
            <a:r>
              <a:rPr sz="1800">
                <a:latin typeface="Calibri"/>
              </a:rPr>
              <a:t>subposition </a:t>
            </a:r>
            <a:r>
              <a:rPr sz="1800">
                <a:latin typeface="Calibri"/>
              </a:rPr>
              <a:t>dialectics:</a:t>
            </a:r>
          </a:p>
          <a:p>
            <a:pPr/>
          </a:p>
          <a:p>
            <a:pPr/>
            <a:r>
              <a:rPr sz="1800">
                <a:latin typeface="Calibri"/>
              </a:rPr>
              <a:t>The </a:t>
            </a:r>
            <a:r>
              <a:rPr sz="1800">
                <a:latin typeface="Calibri"/>
              </a:rPr>
              <a:t>question </a:t>
            </a:r>
            <a:r>
              <a:rPr sz="1800">
                <a:latin typeface="Calibri"/>
              </a:rPr>
              <a:t>of </a:t>
            </a:r>
            <a:r>
              <a:rPr sz="1800">
                <a:latin typeface="Calibri"/>
              </a:rPr>
              <a:t>whether </a:t>
            </a:r>
            <a:r>
              <a:rPr sz="1800">
                <a:latin typeface="Calibri"/>
              </a:rPr>
              <a:t>something </a:t>
            </a:r>
            <a:r>
              <a:rPr sz="1800">
                <a:latin typeface="Calibri"/>
              </a:rPr>
              <a:t>is </a:t>
            </a:r>
            <a:r>
              <a:rPr sz="1800">
                <a:latin typeface="Calibri"/>
              </a:rPr>
              <a:t>presupposes </a:t>
            </a:r>
            <a:r>
              <a:rPr sz="1800">
                <a:latin typeface="Calibri"/>
              </a:rPr>
              <a:t>the </a:t>
            </a:r>
            <a:r>
              <a:rPr sz="1800">
                <a:latin typeface="Calibri"/>
              </a:rPr>
              <a:t>unity </a:t>
            </a:r>
            <a:r>
              <a:rPr sz="1800">
                <a:latin typeface="Calibri"/>
              </a:rPr>
              <a:t>(entitas);</a:t>
            </a:r>
          </a:p>
          <a:p>
            <a:pPr/>
            <a:r>
              <a:rPr sz="1800">
                <a:latin typeface="Calibri"/>
              </a:rPr>
              <a:t>what </a:t>
            </a:r>
            <a:r>
              <a:rPr sz="1800">
                <a:latin typeface="Calibri"/>
              </a:rPr>
              <a:t>is </a:t>
            </a:r>
            <a:r>
              <a:rPr sz="1800">
                <a:latin typeface="Calibri"/>
              </a:rPr>
              <a:t>something, </a:t>
            </a:r>
            <a:r>
              <a:rPr sz="1800">
                <a:latin typeface="Calibri"/>
              </a:rPr>
              <a:t>the </a:t>
            </a:r>
            <a:r>
              <a:rPr sz="1800">
                <a:latin typeface="Calibri"/>
              </a:rPr>
              <a:t>cleanliness </a:t>
            </a:r>
            <a:r>
              <a:rPr sz="1800">
                <a:latin typeface="Calibri"/>
              </a:rPr>
              <a:t>(quidditas)</a:t>
            </a:r>
          </a:p>
          <a:p>
            <a:pPr/>
            <a:r>
              <a:rPr sz="1800">
                <a:latin typeface="Calibri"/>
              </a:rPr>
              <a:t>why </a:t>
            </a:r>
            <a:r>
              <a:rPr sz="1800">
                <a:latin typeface="Calibri"/>
              </a:rPr>
              <a:t>something </a:t>
            </a:r>
            <a:r>
              <a:rPr sz="1800">
                <a:latin typeface="Calibri"/>
              </a:rPr>
              <a:t>is, </a:t>
            </a:r>
            <a:r>
              <a:rPr sz="1800">
                <a:latin typeface="Calibri"/>
              </a:rPr>
              <a:t>the </a:t>
            </a:r>
            <a:r>
              <a:rPr sz="1800">
                <a:latin typeface="Calibri"/>
              </a:rPr>
              <a:t>cause </a:t>
            </a:r>
            <a:r>
              <a:rPr sz="1800">
                <a:latin typeface="Calibri"/>
              </a:rPr>
              <a:t>(causa)</a:t>
            </a:r>
          </a:p>
          <a:p>
            <a:pPr/>
            <a:r>
              <a:rPr sz="1800">
                <a:latin typeface="Calibri"/>
              </a:rPr>
              <a:t>for </a:t>
            </a:r>
            <a:r>
              <a:rPr sz="1800">
                <a:latin typeface="Calibri"/>
              </a:rPr>
              <a:t>which </a:t>
            </a:r>
            <a:r>
              <a:rPr sz="1800">
                <a:latin typeface="Calibri"/>
              </a:rPr>
              <a:t>something </a:t>
            </a:r>
            <a:r>
              <a:rPr sz="1800">
                <a:latin typeface="Calibri"/>
              </a:rPr>
              <a:t>is </a:t>
            </a:r>
            <a:r>
              <a:rPr sz="1800">
                <a:latin typeface="Calibri"/>
              </a:rPr>
              <a:t>, </a:t>
            </a:r>
            <a:r>
              <a:rPr sz="1800">
                <a:latin typeface="Calibri"/>
              </a:rPr>
              <a:t>the </a:t>
            </a:r>
            <a:r>
              <a:rPr sz="1800">
                <a:latin typeface="Calibri"/>
              </a:rPr>
              <a:t>goal</a:t>
            </a:r>
          </a:p>
          <a:p>
            <a:pPr algn="r"/>
            <a:r>
              <a:rPr sz="1600">
                <a:latin typeface="Calibri"/>
              </a:rPr>
              <a:t>(De </a:t>
            </a:r>
            <a:r>
              <a:rPr sz="1600">
                <a:latin typeface="Calibri"/>
              </a:rPr>
              <a:t>coniecturis </a:t>
            </a:r>
            <a:r>
              <a:rPr sz="1600">
                <a:latin typeface="Calibri"/>
              </a:rPr>
              <a:t>I </a:t>
            </a:r>
            <a:r>
              <a:rPr sz="1600">
                <a:latin typeface="Calibri"/>
              </a:rPr>
              <a:t>c. </a:t>
            </a:r>
            <a:r>
              <a:rPr sz="1600">
                <a:latin typeface="Calibri"/>
              </a:rPr>
              <a:t>5 </a:t>
            </a:r>
            <a:r>
              <a:rPr sz="1600">
                <a:latin typeface="Calibri"/>
              </a:rPr>
              <a:t>no. </a:t>
            </a:r>
            <a:r>
              <a:rPr sz="1600">
                <a:latin typeface="Calibri"/>
              </a:rPr>
              <a:t>19; </a:t>
            </a:r>
            <a:r>
              <a:rPr sz="1600">
                <a:latin typeface="Calibri"/>
              </a:rPr>
              <a:t>see </a:t>
            </a:r>
            <a:r>
              <a:rPr sz="1600">
                <a:latin typeface="Calibri"/>
              </a:rPr>
              <a:t>also </a:t>
            </a:r>
            <a:r>
              <a:rPr sz="1600">
                <a:latin typeface="Calibri"/>
              </a:rPr>
              <a:t>De </a:t>
            </a:r>
            <a:r>
              <a:rPr sz="1600">
                <a:latin typeface="Calibri"/>
              </a:rPr>
              <a:t>sap. </a:t>
            </a:r>
            <a:r>
              <a:rPr sz="1600">
                <a:latin typeface="Calibri"/>
              </a:rPr>
              <a:t>II </a:t>
            </a:r>
            <a:r>
              <a:rPr sz="1600">
                <a:latin typeface="Calibri"/>
              </a:rPr>
              <a:t>no. </a:t>
            </a:r>
            <a:r>
              <a:rPr sz="1600">
                <a:latin typeface="Calibri"/>
              </a:rPr>
              <a:t>30)</a:t>
            </a:r>
          </a:p>
          <a:p>
            <a:pPr/>
          </a:p>
          <a:p>
            <a:pPr/>
          </a:p>
          <a:p>
            <a:pPr/>
          </a:p>
          <a:p>
            <a:pPr/>
          </a:p>
          <a:p>
            <a:pPr/>
          </a:p>
        </p:txBody>
      </p:sp>
      <p:sp>
        <p:nvSpPr>
          <p:cNvPr id="9219" name="Rectangle 6">
            <a:extLst>
              <a:ext uri="{FF2B5EF4-FFF2-40B4-BE49-F238E27FC236}">
                <a16:creationId xmlns:a16="http://schemas.microsoft.com/office/drawing/2014/main" id="{32F0031C-ED0F-159D-38F5-E7BA722C42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207118"/>
            <a:ext cx="8208963" cy="720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1341438" indent="-5334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978025" indent="-4572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2538413" indent="-3810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3098800" indent="-3810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35560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40132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44704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9276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/>
            <a:r>
              <a:rPr sz="3200">
                <a:latin typeface="Calibri"/>
              </a:rPr>
              <a:t>Basic </a:t>
            </a:r>
            <a:r>
              <a:rPr sz="3200">
                <a:latin typeface="Calibri"/>
              </a:rPr>
              <a:t>questions </a:t>
            </a:r>
            <a:r>
              <a:rPr sz="3200">
                <a:latin typeface="Calibri"/>
              </a:rPr>
              <a:t>of </a:t>
            </a:r>
            <a:r>
              <a:rPr sz="3200">
                <a:latin typeface="Calibri"/>
              </a:rPr>
              <a:t>theological </a:t>
            </a:r>
            <a:r>
              <a:rPr sz="3200">
                <a:latin typeface="Calibri"/>
              </a:rPr>
              <a:t>science </a:t>
            </a:r>
            <a:r>
              <a:rPr sz="3200">
                <a:latin typeface="Calibri"/>
              </a:rPr>
              <a:t>theory</a:t>
            </a:r>
          </a:p>
        </p:txBody>
      </p:sp>
    </p:spTree>
    <p:extLst>
      <p:ext uri="{BB962C8B-B14F-4D97-AF65-F5344CB8AC3E}">
        <p14:creationId xmlns:p14="http://schemas.microsoft.com/office/powerpoint/2010/main" val="28821417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B6201-9355-A56B-CA97-5379923D2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5">
            <a:extLst>
              <a:ext uri="{FF2B5EF4-FFF2-40B4-BE49-F238E27FC236}">
                <a16:creationId xmlns:a16="http://schemas.microsoft.com/office/drawing/2014/main" id="{F774B229-71AA-AC1A-4E76-836FE57B6C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124744"/>
            <a:ext cx="8964487" cy="573325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609600" indent="-609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1341438" indent="-5334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978025" indent="-4572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2538413" indent="-3810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3098800" indent="-3810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35560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40132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44704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9276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/>
            <a:r>
              <a:rPr sz="2900">
                <a:latin typeface="Calibri"/>
              </a:rPr>
              <a:t>Is </a:t>
            </a:r>
            <a:r>
              <a:rPr sz="2900">
                <a:latin typeface="Calibri"/>
              </a:rPr>
              <a:t>God? </a:t>
            </a:r>
            <a:r>
              <a:rPr sz="2900">
                <a:latin typeface="Calibri"/>
              </a:rPr>
              <a:t>God </a:t>
            </a:r>
            <a:r>
              <a:rPr sz="2900">
                <a:latin typeface="Calibri"/>
              </a:rPr>
              <a:t>is </a:t>
            </a:r>
            <a:r>
              <a:rPr sz="2900">
                <a:latin typeface="Calibri"/>
              </a:rPr>
              <a:t>the </a:t>
            </a:r>
            <a:r>
              <a:rPr sz="2900">
                <a:latin typeface="Calibri"/>
              </a:rPr>
              <a:t>presupposed </a:t>
            </a:r>
            <a:r>
              <a:rPr sz="2900">
                <a:latin typeface="Calibri"/>
              </a:rPr>
              <a:t>entity.</a:t>
            </a:r>
          </a:p>
          <a:p>
            <a:pPr/>
            <a:r>
              <a:rPr sz="2900">
                <a:latin typeface="Calibri"/>
              </a:rPr>
              <a:t>What </a:t>
            </a:r>
            <a:r>
              <a:rPr sz="2900">
                <a:latin typeface="Calibri"/>
              </a:rPr>
              <a:t>is </a:t>
            </a:r>
            <a:r>
              <a:rPr sz="2900">
                <a:latin typeface="Calibri"/>
              </a:rPr>
              <a:t>God? </a:t>
            </a:r>
            <a:r>
              <a:rPr sz="2900">
                <a:latin typeface="Calibri"/>
              </a:rPr>
              <a:t>God </a:t>
            </a:r>
            <a:r>
              <a:rPr sz="2900">
                <a:latin typeface="Calibri"/>
              </a:rPr>
              <a:t>is </a:t>
            </a:r>
            <a:r>
              <a:rPr sz="2900">
                <a:latin typeface="Calibri"/>
              </a:rPr>
              <a:t>the </a:t>
            </a:r>
            <a:r>
              <a:rPr sz="2900">
                <a:latin typeface="Calibri"/>
              </a:rPr>
              <a:t>pure </a:t>
            </a:r>
            <a:r>
              <a:rPr sz="2900">
                <a:latin typeface="Calibri"/>
              </a:rPr>
              <a:t>(quidditas).</a:t>
            </a:r>
          </a:p>
          <a:p>
            <a:pPr/>
            <a:r>
              <a:rPr sz="2900">
                <a:latin typeface="Calibri"/>
              </a:rPr>
              <a:t>Is </a:t>
            </a:r>
            <a:r>
              <a:rPr sz="2900">
                <a:latin typeface="Calibri"/>
              </a:rPr>
              <a:t>God </a:t>
            </a:r>
            <a:r>
              <a:rPr sz="2900">
                <a:latin typeface="Calibri"/>
              </a:rPr>
              <a:t>human? </a:t>
            </a:r>
            <a:r>
              <a:rPr sz="2900">
                <a:latin typeface="Calibri"/>
              </a:rPr>
              <a:t>God </a:t>
            </a:r>
            <a:r>
              <a:rPr sz="2900">
                <a:latin typeface="Calibri"/>
              </a:rPr>
              <a:t>is </a:t>
            </a:r>
            <a:r>
              <a:rPr sz="2900">
                <a:latin typeface="Calibri"/>
              </a:rPr>
              <a:t>the </a:t>
            </a:r>
            <a:r>
              <a:rPr sz="2900">
                <a:latin typeface="Calibri"/>
              </a:rPr>
              <a:t>entity </a:t>
            </a:r>
            <a:r>
              <a:rPr sz="2900">
                <a:latin typeface="Calibri"/>
              </a:rPr>
              <a:t>through </a:t>
            </a:r>
            <a:r>
              <a:rPr sz="2900">
                <a:latin typeface="Calibri"/>
              </a:rPr>
              <a:t>which </a:t>
            </a:r>
            <a:r>
              <a:rPr sz="2900">
                <a:latin typeface="Calibri"/>
              </a:rPr>
              <a:t>humanity </a:t>
            </a:r>
            <a:r>
              <a:rPr sz="2900">
                <a:latin typeface="Calibri"/>
              </a:rPr>
              <a:t>is.</a:t>
            </a:r>
          </a:p>
          <a:p>
            <a:pPr/>
            <a:r>
              <a:rPr sz="2900">
                <a:latin typeface="Calibri"/>
              </a:rPr>
              <a:t>Is </a:t>
            </a:r>
            <a:r>
              <a:rPr sz="2900">
                <a:latin typeface="Calibri"/>
              </a:rPr>
              <a:t>God </a:t>
            </a:r>
            <a:r>
              <a:rPr sz="2900">
                <a:latin typeface="Calibri"/>
              </a:rPr>
              <a:t>an </a:t>
            </a:r>
            <a:r>
              <a:rPr sz="2900">
                <a:latin typeface="Calibri"/>
              </a:rPr>
              <a:t>angel? </a:t>
            </a:r>
            <a:r>
              <a:rPr sz="2900">
                <a:latin typeface="Calibri"/>
              </a:rPr>
              <a:t>God </a:t>
            </a:r>
            <a:r>
              <a:rPr sz="2900">
                <a:latin typeface="Calibri"/>
              </a:rPr>
              <a:t>is </a:t>
            </a:r>
            <a:r>
              <a:rPr sz="2900">
                <a:latin typeface="Calibri"/>
              </a:rPr>
              <a:t>the </a:t>
            </a:r>
            <a:r>
              <a:rPr sz="2900">
                <a:latin typeface="Calibri"/>
              </a:rPr>
              <a:t>absolute </a:t>
            </a:r>
            <a:r>
              <a:rPr sz="2900">
                <a:latin typeface="Calibri"/>
              </a:rPr>
              <a:t>being </a:t>
            </a:r>
            <a:r>
              <a:rPr sz="2900">
                <a:latin typeface="Calibri"/>
              </a:rPr>
              <a:t>of </a:t>
            </a:r>
            <a:r>
              <a:rPr sz="2900">
                <a:latin typeface="Calibri"/>
              </a:rPr>
              <a:t>angels </a:t>
            </a:r>
            <a:r>
              <a:rPr sz="2900">
                <a:latin typeface="Calibri"/>
              </a:rPr>
              <a:t>(angeleitas).</a:t>
            </a:r>
          </a:p>
          <a:p>
            <a:pPr algn="r"/>
            <a:r>
              <a:rPr sz="2000">
                <a:latin typeface="Calibri"/>
              </a:rPr>
              <a:t>(Colossians </a:t>
            </a:r>
            <a:r>
              <a:rPr sz="2000">
                <a:latin typeface="Calibri"/>
              </a:rPr>
              <a:t>v. </a:t>
            </a:r>
            <a:r>
              <a:rPr sz="2000">
                <a:latin typeface="Calibri"/>
              </a:rPr>
              <a:t>5 </a:t>
            </a:r>
            <a:r>
              <a:rPr sz="2000">
                <a:latin typeface="Calibri"/>
              </a:rPr>
              <a:t>n. </a:t>
            </a:r>
            <a:r>
              <a:rPr sz="2000">
                <a:latin typeface="Calibri"/>
              </a:rPr>
              <a:t>20.)</a:t>
            </a:r>
          </a:p>
          <a:p>
            <a:pPr/>
          </a:p>
          <a:p>
            <a:pPr/>
          </a:p>
        </p:txBody>
      </p:sp>
    </p:spTree>
    <p:extLst>
      <p:ext uri="{BB962C8B-B14F-4D97-AF65-F5344CB8AC3E}">
        <p14:creationId xmlns:p14="http://schemas.microsoft.com/office/powerpoint/2010/main" val="23274871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9B248-B2D4-794A-009B-30F25BC0A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5">
            <a:extLst>
              <a:ext uri="{FF2B5EF4-FFF2-40B4-BE49-F238E27FC236}">
                <a16:creationId xmlns:a16="http://schemas.microsoft.com/office/drawing/2014/main" id="{E98FF3E6-7170-FD26-A308-B46B8D997C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124744"/>
            <a:ext cx="8964487" cy="573325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609600" indent="-609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1341438" indent="-5334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978025" indent="-4572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2538413" indent="-3810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3098800" indent="-3810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35560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40132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44704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9276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/>
            <a:r>
              <a:rPr sz="1800">
                <a:latin typeface="Calibri"/>
              </a:rPr>
              <a:t>How </a:t>
            </a:r>
            <a:r>
              <a:rPr sz="1800">
                <a:latin typeface="Calibri"/>
              </a:rPr>
              <a:t>(quomodo) </a:t>
            </a:r>
            <a:r>
              <a:rPr sz="1800">
                <a:latin typeface="Calibri"/>
              </a:rPr>
              <a:t>am </a:t>
            </a:r>
            <a:r>
              <a:rPr sz="1800">
                <a:latin typeface="Calibri"/>
              </a:rPr>
              <a:t>I </a:t>
            </a:r>
            <a:r>
              <a:rPr sz="1800">
                <a:latin typeface="Calibri"/>
              </a:rPr>
              <a:t>to </a:t>
            </a:r>
            <a:r>
              <a:rPr sz="1800">
                <a:latin typeface="Calibri"/>
              </a:rPr>
              <a:t>form </a:t>
            </a:r>
            <a:r>
              <a:rPr sz="1800">
                <a:latin typeface="Calibri"/>
              </a:rPr>
              <a:t>a </a:t>
            </a:r>
            <a:r>
              <a:rPr sz="1800">
                <a:latin typeface="Calibri"/>
              </a:rPr>
              <a:t>concept </a:t>
            </a:r>
            <a:r>
              <a:rPr sz="1800">
                <a:latin typeface="Calibri"/>
              </a:rPr>
              <a:t>of </a:t>
            </a:r>
            <a:r>
              <a:rPr sz="1800">
                <a:latin typeface="Calibri"/>
              </a:rPr>
              <a:t>God? </a:t>
            </a:r>
            <a:r>
              <a:rPr sz="1800">
                <a:latin typeface="Calibri"/>
              </a:rPr>
              <a:t>(As) </a:t>
            </a:r>
            <a:r>
              <a:rPr sz="1800">
                <a:latin typeface="Calibri"/>
              </a:rPr>
              <a:t>are </a:t>
            </a:r>
            <a:r>
              <a:rPr sz="1800">
                <a:latin typeface="Calibri"/>
              </a:rPr>
              <a:t>you </a:t>
            </a:r>
            <a:r>
              <a:rPr sz="1800">
                <a:latin typeface="Calibri"/>
              </a:rPr>
              <a:t>to </a:t>
            </a:r>
            <a:r>
              <a:rPr sz="1800">
                <a:latin typeface="Calibri"/>
              </a:rPr>
              <a:t>form </a:t>
            </a:r>
            <a:r>
              <a:rPr sz="1800">
                <a:latin typeface="Calibri"/>
              </a:rPr>
              <a:t>a </a:t>
            </a:r>
            <a:r>
              <a:rPr sz="1800">
                <a:latin typeface="Calibri"/>
              </a:rPr>
              <a:t>concept </a:t>
            </a:r>
            <a:r>
              <a:rPr sz="1800">
                <a:latin typeface="Calibri"/>
              </a:rPr>
              <a:t>of </a:t>
            </a:r>
            <a:r>
              <a:rPr sz="1800">
                <a:latin typeface="Calibri"/>
              </a:rPr>
              <a:t>the </a:t>
            </a:r>
            <a:r>
              <a:rPr sz="1800">
                <a:latin typeface="Calibri"/>
              </a:rPr>
              <a:t>concept </a:t>
            </a:r>
            <a:r>
              <a:rPr sz="1800">
                <a:latin typeface="Calibri"/>
              </a:rPr>
              <a:t>(sicut </a:t>
            </a:r>
            <a:r>
              <a:rPr sz="1800">
                <a:latin typeface="Calibri"/>
              </a:rPr>
              <a:t>de </a:t>
            </a:r>
            <a:r>
              <a:rPr sz="1800">
                <a:latin typeface="Calibri"/>
              </a:rPr>
              <a:t>conceptu)!</a:t>
            </a:r>
          </a:p>
          <a:p>
            <a:pPr algn="r"/>
            <a:r>
              <a:rPr sz="2000">
                <a:latin typeface="Calibri"/>
              </a:rPr>
              <a:t>(De </a:t>
            </a:r>
            <a:r>
              <a:rPr sz="2000">
                <a:latin typeface="Calibri"/>
              </a:rPr>
              <a:t>sap. </a:t>
            </a:r>
            <a:r>
              <a:rPr sz="2000">
                <a:latin typeface="Calibri"/>
              </a:rPr>
              <a:t>II </a:t>
            </a:r>
            <a:r>
              <a:rPr sz="2000">
                <a:latin typeface="Calibri"/>
              </a:rPr>
              <a:t>No </a:t>
            </a:r>
            <a:r>
              <a:rPr sz="2000">
                <a:latin typeface="Calibri"/>
              </a:rPr>
              <a:t>28)</a:t>
            </a:r>
          </a:p>
          <a:p>
            <a:pPr/>
          </a:p>
          <a:p>
            <a:pPr/>
            <a:r>
              <a:rPr sz="1800">
                <a:latin typeface="Calibri"/>
              </a:rPr>
              <a:t>Is </a:t>
            </a:r>
            <a:r>
              <a:rPr sz="1800">
                <a:latin typeface="Calibri"/>
              </a:rPr>
              <a:t>there </a:t>
            </a:r>
            <a:r>
              <a:rPr sz="1800">
                <a:latin typeface="Calibri"/>
              </a:rPr>
              <a:t>any </a:t>
            </a:r>
            <a:r>
              <a:rPr sz="1800">
                <a:latin typeface="Calibri"/>
              </a:rPr>
              <a:t>insight </a:t>
            </a:r>
            <a:r>
              <a:rPr sz="1800">
                <a:latin typeface="Calibri"/>
              </a:rPr>
              <a:t>(intelligentia)? </a:t>
            </a:r>
            <a:r>
              <a:rPr sz="1800">
                <a:latin typeface="Calibri"/>
              </a:rPr>
              <a:t>It </a:t>
            </a:r>
            <a:r>
              <a:rPr sz="1800">
                <a:latin typeface="Calibri"/>
              </a:rPr>
              <a:t>is </a:t>
            </a:r>
            <a:r>
              <a:rPr sz="1800">
                <a:latin typeface="Calibri"/>
              </a:rPr>
              <a:t>the </a:t>
            </a:r>
            <a:r>
              <a:rPr sz="1800">
                <a:latin typeface="Calibri"/>
              </a:rPr>
              <a:t>oneness </a:t>
            </a:r>
            <a:r>
              <a:rPr sz="1800">
                <a:latin typeface="Calibri"/>
              </a:rPr>
              <a:t>assumed </a:t>
            </a:r>
            <a:r>
              <a:rPr sz="1800">
                <a:latin typeface="Calibri"/>
              </a:rPr>
              <a:t>by </a:t>
            </a:r>
            <a:r>
              <a:rPr sz="1800">
                <a:latin typeface="Calibri"/>
              </a:rPr>
              <a:t>the </a:t>
            </a:r>
            <a:r>
              <a:rPr sz="1800">
                <a:latin typeface="Calibri"/>
              </a:rPr>
              <a:t>seeking </a:t>
            </a:r>
            <a:r>
              <a:rPr sz="1800">
                <a:latin typeface="Calibri"/>
              </a:rPr>
              <a:t>ratio </a:t>
            </a:r>
            <a:r>
              <a:rPr sz="1800">
                <a:latin typeface="Calibri"/>
              </a:rPr>
              <a:t>and </a:t>
            </a:r>
            <a:r>
              <a:rPr sz="1800">
                <a:latin typeface="Calibri"/>
              </a:rPr>
              <a:t>from </a:t>
            </a:r>
            <a:r>
              <a:rPr sz="1800">
                <a:latin typeface="Calibri"/>
              </a:rPr>
              <a:t>which </a:t>
            </a:r>
            <a:r>
              <a:rPr sz="1800">
                <a:latin typeface="Calibri"/>
              </a:rPr>
              <a:t>the </a:t>
            </a:r>
            <a:r>
              <a:rPr sz="1800">
                <a:latin typeface="Calibri"/>
              </a:rPr>
              <a:t>ratio </a:t>
            </a:r>
            <a:r>
              <a:rPr sz="1800">
                <a:latin typeface="Calibri"/>
              </a:rPr>
              <a:t>derives </a:t>
            </a:r>
            <a:r>
              <a:rPr sz="1800">
                <a:latin typeface="Calibri"/>
              </a:rPr>
              <a:t>its </a:t>
            </a:r>
            <a:r>
              <a:rPr sz="1800">
                <a:latin typeface="Calibri"/>
              </a:rPr>
              <a:t>oneness </a:t>
            </a:r>
            <a:r>
              <a:rPr sz="1800">
                <a:latin typeface="Calibri"/>
              </a:rPr>
              <a:t>(sumit) </a:t>
            </a:r>
            <a:r>
              <a:rPr sz="1800">
                <a:latin typeface="Calibri"/>
              </a:rPr>
              <a:t>as </a:t>
            </a:r>
            <a:r>
              <a:rPr sz="1800">
                <a:latin typeface="Calibri"/>
              </a:rPr>
              <a:t>from </a:t>
            </a:r>
            <a:r>
              <a:rPr sz="1800">
                <a:latin typeface="Calibri"/>
              </a:rPr>
              <a:t>its </a:t>
            </a:r>
            <a:r>
              <a:rPr sz="1800">
                <a:latin typeface="Calibri"/>
              </a:rPr>
              <a:t>root.</a:t>
            </a:r>
          </a:p>
          <a:p>
            <a:pPr/>
            <a:r>
              <a:rPr sz="1800">
                <a:latin typeface="Calibri"/>
              </a:rPr>
              <a:t>What </a:t>
            </a:r>
            <a:r>
              <a:rPr sz="1800">
                <a:latin typeface="Calibri"/>
              </a:rPr>
              <a:t>is </a:t>
            </a:r>
            <a:r>
              <a:rPr sz="1800">
                <a:latin typeface="Calibri"/>
              </a:rPr>
              <a:t>insight </a:t>
            </a:r>
            <a:r>
              <a:rPr sz="1800">
                <a:latin typeface="Calibri"/>
              </a:rPr>
              <a:t>(intelligentia)? </a:t>
            </a:r>
            <a:r>
              <a:rPr sz="1800">
                <a:latin typeface="Calibri"/>
              </a:rPr>
              <a:t>It </a:t>
            </a:r>
            <a:r>
              <a:rPr sz="1800">
                <a:latin typeface="Calibri"/>
              </a:rPr>
              <a:t>is </a:t>
            </a:r>
            <a:r>
              <a:rPr sz="1800">
                <a:latin typeface="Calibri"/>
              </a:rPr>
              <a:t>the </a:t>
            </a:r>
            <a:r>
              <a:rPr sz="1800">
                <a:latin typeface="Calibri"/>
              </a:rPr>
              <a:t>presumed </a:t>
            </a:r>
            <a:r>
              <a:rPr sz="1800">
                <a:latin typeface="Calibri"/>
              </a:rPr>
              <a:t>purity </a:t>
            </a:r>
            <a:r>
              <a:rPr sz="1800">
                <a:latin typeface="Calibri"/>
              </a:rPr>
              <a:t>of </a:t>
            </a:r>
            <a:r>
              <a:rPr sz="1800">
                <a:latin typeface="Calibri"/>
              </a:rPr>
              <a:t>the </a:t>
            </a:r>
            <a:r>
              <a:rPr sz="1800">
                <a:latin typeface="Calibri"/>
              </a:rPr>
              <a:t>intellect </a:t>
            </a:r>
            <a:r>
              <a:rPr sz="1800">
                <a:latin typeface="Calibri"/>
              </a:rPr>
              <a:t>on </a:t>
            </a:r>
            <a:r>
              <a:rPr sz="1800">
                <a:latin typeface="Calibri"/>
              </a:rPr>
              <a:t>which </a:t>
            </a:r>
            <a:r>
              <a:rPr sz="1800">
                <a:latin typeface="Calibri"/>
              </a:rPr>
              <a:t>the </a:t>
            </a:r>
            <a:r>
              <a:rPr sz="1800">
                <a:latin typeface="Calibri"/>
              </a:rPr>
              <a:t>purity </a:t>
            </a:r>
            <a:r>
              <a:rPr sz="1800">
                <a:latin typeface="Calibri"/>
              </a:rPr>
              <a:t>of </a:t>
            </a:r>
            <a:r>
              <a:rPr sz="1800">
                <a:latin typeface="Calibri"/>
              </a:rPr>
              <a:t>the </a:t>
            </a:r>
            <a:r>
              <a:rPr sz="1800">
                <a:latin typeface="Calibri"/>
              </a:rPr>
              <a:t>ratio </a:t>
            </a:r>
            <a:r>
              <a:rPr sz="1800">
                <a:latin typeface="Calibri"/>
              </a:rPr>
              <a:t>depends.</a:t>
            </a:r>
          </a:p>
          <a:p>
            <a:pPr algn="r"/>
            <a:r>
              <a:rPr sz="2000">
                <a:latin typeface="Calibri"/>
              </a:rPr>
              <a:t>(Parliament </a:t>
            </a:r>
            <a:r>
              <a:rPr sz="2000">
                <a:latin typeface="Calibri"/>
              </a:rPr>
              <a:t>adopted </a:t>
            </a:r>
            <a:r>
              <a:rPr sz="2000">
                <a:latin typeface="Calibri"/>
              </a:rPr>
              <a:t>the </a:t>
            </a:r>
            <a:r>
              <a:rPr sz="2000">
                <a:latin typeface="Calibri"/>
              </a:rPr>
              <a:t>legislative </a:t>
            </a:r>
            <a:r>
              <a:rPr sz="2000">
                <a:latin typeface="Calibri"/>
              </a:rPr>
              <a:t>resolution)</a:t>
            </a:r>
          </a:p>
          <a:p>
            <a:pPr/>
          </a:p>
          <a:p>
            <a:pPr/>
          </a:p>
        </p:txBody>
      </p:sp>
    </p:spTree>
    <p:extLst>
      <p:ext uri="{BB962C8B-B14F-4D97-AF65-F5344CB8AC3E}">
        <p14:creationId xmlns:p14="http://schemas.microsoft.com/office/powerpoint/2010/main" val="4215205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02357-6255-BFC7-F614-75D3AF31F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7" name="Picture 4">
            <a:extLst>
              <a:ext uri="{FF2B5EF4-FFF2-40B4-BE49-F238E27FC236}">
                <a16:creationId xmlns:a16="http://schemas.microsoft.com/office/drawing/2014/main" id="{0D7BB2B6-2432-7B4B-A72C-29CBC2B1A2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0" y="764704"/>
            <a:ext cx="8964487" cy="1631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18" name="Rectangle 5">
            <a:extLst>
              <a:ext uri="{FF2B5EF4-FFF2-40B4-BE49-F238E27FC236}">
                <a16:creationId xmlns:a16="http://schemas.microsoft.com/office/drawing/2014/main" id="{4BF32843-AADD-8113-3C6F-3EB3A67979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124744"/>
            <a:ext cx="8964487" cy="573325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609600" indent="-609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1341438" indent="-5334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978025" indent="-4572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2538413" indent="-3810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3098800" indent="-3810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35560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40132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44704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9276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/>
            <a:r>
              <a:rPr sz="2900">
                <a:latin typeface="Calibri"/>
              </a:rPr>
              <a:t>Subject </a:t>
            </a:r>
            <a:r>
              <a:rPr sz="2900">
                <a:latin typeface="Calibri"/>
              </a:rPr>
              <a:t>of </a:t>
            </a:r>
            <a:r>
              <a:rPr sz="2900">
                <a:latin typeface="Calibri"/>
              </a:rPr>
              <a:t>theology</a:t>
            </a:r>
          </a:p>
          <a:p>
            <a:pPr/>
            <a:r>
              <a:rPr sz="1800">
                <a:latin typeface="Calibri"/>
              </a:rPr>
              <a:t>God </a:t>
            </a:r>
            <a:r>
              <a:rPr sz="1800">
                <a:latin typeface="Calibri"/>
              </a:rPr>
              <a:t>as </a:t>
            </a:r>
            <a:r>
              <a:rPr sz="1800">
                <a:latin typeface="Calibri"/>
              </a:rPr>
              <a:t>an </a:t>
            </a:r>
            <a:r>
              <a:rPr sz="1800">
                <a:latin typeface="Calibri"/>
              </a:rPr>
              <a:t>absolute </a:t>
            </a:r>
            <a:r>
              <a:rPr sz="1800">
                <a:latin typeface="Calibri"/>
              </a:rPr>
              <a:t>praesuppositio</a:t>
            </a:r>
          </a:p>
          <a:p>
            <a:pPr/>
            <a:r>
              <a:rPr sz="1800">
                <a:latin typeface="Calibri"/>
              </a:rPr>
              <a:t>Reflective </a:t>
            </a:r>
            <a:r>
              <a:rPr sz="1800">
                <a:latin typeface="Calibri"/>
              </a:rPr>
              <a:t>process </a:t>
            </a:r>
            <a:r>
              <a:rPr sz="1800">
                <a:latin typeface="Calibri"/>
              </a:rPr>
              <a:t>subposition </a:t>
            </a:r>
            <a:r>
              <a:rPr sz="1800">
                <a:latin typeface="Calibri"/>
              </a:rPr>
              <a:t>dialectics</a:t>
            </a:r>
          </a:p>
          <a:p>
            <a:pPr/>
            <a:r>
              <a:rPr sz="2900">
                <a:latin typeface="Calibri"/>
              </a:rPr>
              <a:t>God </a:t>
            </a:r>
            <a:r>
              <a:rPr sz="2900">
                <a:latin typeface="Calibri"/>
              </a:rPr>
              <a:t>is </a:t>
            </a:r>
            <a:r>
              <a:rPr sz="2900">
                <a:latin typeface="Calibri"/>
              </a:rPr>
              <a:t>the </a:t>
            </a:r>
            <a:r>
              <a:rPr sz="2900">
                <a:latin typeface="Calibri"/>
              </a:rPr>
              <a:t>formal </a:t>
            </a:r>
            <a:r>
              <a:rPr sz="2900">
                <a:latin typeface="Calibri"/>
              </a:rPr>
              <a:t>principle </a:t>
            </a:r>
            <a:r>
              <a:rPr sz="2900">
                <a:latin typeface="Calibri"/>
              </a:rPr>
              <a:t>that </a:t>
            </a:r>
            <a:r>
              <a:rPr sz="2900">
                <a:latin typeface="Calibri"/>
              </a:rPr>
              <a:t>enables </a:t>
            </a:r>
            <a:r>
              <a:rPr sz="2900">
                <a:latin typeface="Calibri"/>
              </a:rPr>
              <a:t>every </a:t>
            </a:r>
            <a:r>
              <a:rPr sz="2900">
                <a:latin typeface="Calibri"/>
              </a:rPr>
              <a:t>object </a:t>
            </a:r>
            <a:r>
              <a:rPr sz="2900">
                <a:latin typeface="Calibri"/>
              </a:rPr>
              <a:t>to </a:t>
            </a:r>
            <a:r>
              <a:rPr sz="2900">
                <a:latin typeface="Calibri"/>
              </a:rPr>
              <a:t>be </a:t>
            </a:r>
            <a:r>
              <a:rPr sz="2900">
                <a:latin typeface="Calibri"/>
              </a:rPr>
              <a:t>constructed </a:t>
            </a:r>
            <a:r>
              <a:rPr sz="2900">
                <a:latin typeface="Calibri"/>
              </a:rPr>
              <a:t>and </a:t>
            </a:r>
            <a:r>
              <a:rPr sz="2900">
                <a:latin typeface="Calibri"/>
              </a:rPr>
              <a:t>understood.</a:t>
            </a:r>
          </a:p>
          <a:p>
            <a:pPr/>
            <a:r>
              <a:rPr sz="2900">
                <a:latin typeface="Calibri"/>
              </a:rPr>
              <a:t>See </a:t>
            </a:r>
            <a:r>
              <a:rPr sz="2900">
                <a:latin typeface="Calibri"/>
              </a:rPr>
              <a:t>also </a:t>
            </a:r>
            <a:r>
              <a:rPr sz="2900">
                <a:latin typeface="Calibri"/>
              </a:rPr>
              <a:t>Albertus:</a:t>
            </a:r>
          </a:p>
          <a:p>
            <a:pPr lvl="1"/>
            <a:r>
              <a:rPr sz="2900">
                <a:latin typeface="Calibri"/>
              </a:rPr>
              <a:t>As </a:t>
            </a:r>
            <a:r>
              <a:rPr sz="2900">
                <a:latin typeface="Calibri"/>
              </a:rPr>
              <a:t>a </a:t>
            </a:r>
            <a:r>
              <a:rPr sz="2900">
                <a:latin typeface="Calibri"/>
              </a:rPr>
              <a:t>scientist </a:t>
            </a:r>
            <a:r>
              <a:rPr sz="2900">
                <a:latin typeface="Calibri"/>
              </a:rPr>
              <a:t>, </a:t>
            </a:r>
            <a:r>
              <a:rPr sz="2900">
                <a:latin typeface="Calibri"/>
              </a:rPr>
              <a:t>theology </a:t>
            </a:r>
            <a:r>
              <a:rPr sz="2900">
                <a:latin typeface="Calibri"/>
              </a:rPr>
              <a:t>presupposes </a:t>
            </a:r>
            <a:r>
              <a:rPr sz="2900">
                <a:latin typeface="Calibri"/>
              </a:rPr>
              <a:t>its </a:t>
            </a:r>
            <a:r>
              <a:rPr sz="2900">
                <a:latin typeface="Calibri"/>
              </a:rPr>
              <a:t>subject </a:t>
            </a:r>
            <a:r>
              <a:rPr sz="2900">
                <a:latin typeface="Calibri"/>
              </a:rPr>
              <a:t>.</a:t>
            </a:r>
          </a:p>
          <a:p>
            <a:pPr lvl="1"/>
            <a:r>
              <a:rPr sz="2900">
                <a:latin typeface="Calibri"/>
              </a:rPr>
              <a:t>As </a:t>
            </a:r>
            <a:r>
              <a:rPr sz="2900">
                <a:latin typeface="Calibri"/>
              </a:rPr>
              <a:t>a </a:t>
            </a:r>
            <a:r>
              <a:rPr sz="2900">
                <a:latin typeface="Calibri"/>
              </a:rPr>
              <a:t>doctrine, </a:t>
            </a:r>
            <a:r>
              <a:rPr sz="2900">
                <a:latin typeface="Calibri"/>
              </a:rPr>
              <a:t>theology </a:t>
            </a:r>
            <a:r>
              <a:rPr sz="2900">
                <a:latin typeface="Calibri"/>
              </a:rPr>
              <a:t>asks </a:t>
            </a:r>
            <a:r>
              <a:rPr sz="2900">
                <a:latin typeface="Calibri"/>
              </a:rPr>
              <a:t>its </a:t>
            </a:r>
            <a:r>
              <a:rPr sz="2900">
                <a:latin typeface="Calibri"/>
              </a:rPr>
              <a:t>subject</a:t>
            </a:r>
          </a:p>
          <a:p>
            <a:pPr lvl="1"/>
            <a:r>
              <a:rPr sz="2900">
                <a:latin typeface="Calibri"/>
              </a:rPr>
              <a:t>Tensions </a:t>
            </a:r>
            <a:r>
              <a:rPr sz="2900">
                <a:latin typeface="Calibri"/>
              </a:rPr>
              <a:t>of </a:t>
            </a:r>
            <a:r>
              <a:rPr sz="2900">
                <a:latin typeface="Calibri"/>
              </a:rPr>
              <a:t>data </a:t>
            </a:r>
            <a:r>
              <a:rPr sz="2900">
                <a:latin typeface="Calibri"/>
              </a:rPr>
              <a:t>and </a:t>
            </a:r>
            <a:r>
              <a:rPr sz="2900">
                <a:latin typeface="Calibri"/>
              </a:rPr>
              <a:t>extraction</a:t>
            </a:r>
          </a:p>
          <a:p>
            <a:pPr/>
          </a:p>
          <a:p>
            <a:pPr/>
          </a:p>
        </p:txBody>
      </p:sp>
      <p:sp>
        <p:nvSpPr>
          <p:cNvPr id="9219" name="Rectangle 6">
            <a:extLst>
              <a:ext uri="{FF2B5EF4-FFF2-40B4-BE49-F238E27FC236}">
                <a16:creationId xmlns:a16="http://schemas.microsoft.com/office/drawing/2014/main" id="{C2F1631E-8A69-06C6-27DC-1F7B70E71B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207118"/>
            <a:ext cx="8208963" cy="720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1341438" indent="-5334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978025" indent="-4572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2538413" indent="-3810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3098800" indent="-3810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35560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40132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44704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9276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/>
            <a:r>
              <a:rPr sz="3200">
                <a:latin typeface="Calibri"/>
              </a:rPr>
              <a:t>Basic </a:t>
            </a:r>
            <a:r>
              <a:rPr sz="3200">
                <a:latin typeface="Calibri"/>
              </a:rPr>
              <a:t>questions </a:t>
            </a:r>
            <a:r>
              <a:rPr sz="3200">
                <a:latin typeface="Calibri"/>
              </a:rPr>
              <a:t>of </a:t>
            </a:r>
            <a:r>
              <a:rPr sz="3200">
                <a:latin typeface="Calibri"/>
              </a:rPr>
              <a:t>theological </a:t>
            </a:r>
            <a:r>
              <a:rPr sz="3200">
                <a:latin typeface="Calibri"/>
              </a:rPr>
              <a:t>science </a:t>
            </a:r>
            <a:r>
              <a:rPr sz="3200">
                <a:latin typeface="Calibri"/>
              </a:rPr>
              <a:t>theory</a:t>
            </a:r>
          </a:p>
        </p:txBody>
      </p:sp>
    </p:spTree>
    <p:extLst>
      <p:ext uri="{BB962C8B-B14F-4D97-AF65-F5344CB8AC3E}">
        <p14:creationId xmlns:p14="http://schemas.microsoft.com/office/powerpoint/2010/main" val="30012476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37BCF-9724-F246-CC58-80441FBEC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>
            <a:extLst>
              <a:ext uri="{FF2B5EF4-FFF2-40B4-BE49-F238E27FC236}">
                <a16:creationId xmlns:a16="http://schemas.microsoft.com/office/drawing/2014/main" id="{BCC47E2E-9A75-EF13-2E6C-A3DE9D4B14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17588"/>
            <a:ext cx="9144000" cy="417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/>
            <a:r>
              <a:rPr sz="4400">
                <a:latin typeface="Calibri"/>
              </a:rPr>
              <a:t>the </a:t>
            </a:r>
            <a:r>
              <a:rPr sz="4400">
                <a:latin typeface="Calibri"/>
              </a:rPr>
              <a:t>seeker </a:t>
            </a:r>
            <a:r>
              <a:rPr sz="4400">
                <a:latin typeface="Calibri"/>
              </a:rPr>
              <a:t>puts </a:t>
            </a:r>
            <a:r>
              <a:rPr sz="4400">
                <a:latin typeface="Calibri"/>
              </a:rPr>
              <a:t>forward </a:t>
            </a:r>
            <a:r>
              <a:rPr sz="4400">
                <a:latin typeface="Calibri"/>
              </a:rPr>
              <a:t>what </a:t>
            </a:r>
            <a:r>
              <a:rPr sz="4400">
                <a:latin typeface="Calibri"/>
              </a:rPr>
              <a:t>he </a:t>
            </a:r>
            <a:r>
              <a:rPr sz="4400">
                <a:latin typeface="Calibri"/>
              </a:rPr>
              <a:t>is </a:t>
            </a:r>
            <a:r>
              <a:rPr sz="4400">
                <a:latin typeface="Calibri"/>
              </a:rPr>
              <a:t>looking </a:t>
            </a:r>
            <a:r>
              <a:rPr sz="4400">
                <a:latin typeface="Calibri"/>
              </a:rPr>
              <a:t>for,</a:t>
            </a:r>
          </a:p>
          <a:p>
            <a:pPr/>
          </a:p>
          <a:p>
            <a:pPr/>
            <a:r>
              <a:rPr sz="4400">
                <a:latin typeface="Calibri"/>
              </a:rPr>
              <a:t>And </a:t>
            </a:r>
            <a:r>
              <a:rPr sz="4400">
                <a:latin typeface="Calibri"/>
              </a:rPr>
              <a:t>put </a:t>
            </a:r>
            <a:r>
              <a:rPr sz="4400">
                <a:latin typeface="Calibri"/>
              </a:rPr>
              <a:t>it </a:t>
            </a:r>
            <a:r>
              <a:rPr sz="4400">
                <a:latin typeface="Calibri"/>
              </a:rPr>
              <a:t>because </a:t>
            </a:r>
            <a:r>
              <a:rPr sz="4400">
                <a:latin typeface="Calibri"/>
              </a:rPr>
              <a:t>he's </a:t>
            </a:r>
            <a:r>
              <a:rPr sz="4400">
                <a:latin typeface="Calibri"/>
              </a:rPr>
              <a:t>looking </a:t>
            </a:r>
            <a:r>
              <a:rPr sz="4400">
                <a:latin typeface="Calibri"/>
              </a:rPr>
              <a:t>for </a:t>
            </a:r>
            <a:r>
              <a:rPr sz="4400">
                <a:latin typeface="Calibri"/>
              </a:rPr>
              <a:t>it, </a:t>
            </a:r>
            <a:r>
              <a:rPr sz="4400">
                <a:latin typeface="Calibri"/>
              </a:rPr>
              <a:t>not </a:t>
            </a:r>
            <a:r>
              <a:rPr sz="4400">
                <a:latin typeface="Calibri"/>
              </a:rPr>
              <a:t>in </a:t>
            </a:r>
            <a:r>
              <a:rPr sz="4400">
                <a:latin typeface="Calibri"/>
              </a:rPr>
              <a:t>advance.</a:t>
            </a:r>
          </a:p>
          <a:p>
            <a:pPr algn="r"/>
          </a:p>
          <a:p>
            <a:pPr algn="r"/>
          </a:p>
          <a:p>
            <a:pPr algn="r"/>
            <a:r>
              <a:rPr sz="1600">
                <a:latin typeface="Calibri"/>
              </a:rPr>
              <a:t>Quasastadius </a:t>
            </a:r>
            <a:r>
              <a:rPr sz="1600">
                <a:latin typeface="Calibri"/>
              </a:rPr>
              <a:t>Cusanus: </a:t>
            </a:r>
            <a:r>
              <a:rPr sz="1600">
                <a:latin typeface="Calibri"/>
              </a:rPr>
              <a:t>On </a:t>
            </a:r>
            <a:r>
              <a:rPr sz="1600">
                <a:latin typeface="Calibri"/>
              </a:rPr>
              <a:t>the </a:t>
            </a:r>
            <a:r>
              <a:rPr sz="1600">
                <a:latin typeface="Calibri"/>
              </a:rPr>
              <a:t>Complements </a:t>
            </a:r>
            <a:r>
              <a:rPr sz="1600">
                <a:latin typeface="Calibri"/>
              </a:rPr>
              <a:t>of </a:t>
            </a:r>
            <a:r>
              <a:rPr sz="1600">
                <a:latin typeface="Calibri"/>
              </a:rPr>
              <a:t>Theology </a:t>
            </a:r>
            <a:r>
              <a:rPr sz="1600">
                <a:latin typeface="Calibri"/>
              </a:rPr>
              <a:t>chapter </a:t>
            </a:r>
            <a:r>
              <a:rPr sz="1600">
                <a:latin typeface="Calibr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772709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D531A-ADE7-7FAE-7816-B0A2AD94E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7" name="Picture 4">
            <a:extLst>
              <a:ext uri="{FF2B5EF4-FFF2-40B4-BE49-F238E27FC236}">
                <a16:creationId xmlns:a16="http://schemas.microsoft.com/office/drawing/2014/main" id="{E5BBE43B-9542-CE6D-5B55-65BA1D67DC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0" y="673573"/>
            <a:ext cx="8964487" cy="1631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18" name="Rectangle 5">
            <a:extLst>
              <a:ext uri="{FF2B5EF4-FFF2-40B4-BE49-F238E27FC236}">
                <a16:creationId xmlns:a16="http://schemas.microsoft.com/office/drawing/2014/main" id="{F6202823-A2BD-6180-66CE-25052877EB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193"/>
            <a:ext cx="9252520" cy="594518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609600" indent="-609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1341438" indent="-5334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978025" indent="-4572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2538413" indent="-3810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3098800" indent="-3810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35560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40132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44704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9276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/>
            <a:r>
              <a:rPr sz="2900">
                <a:solidFill>
                  <a:srgbClr val="92D050"/>
                </a:solidFill>
                <a:latin typeface="Calibri"/>
              </a:rPr>
              <a:t>Unity </a:t>
            </a:r>
            <a:r>
              <a:rPr sz="2900">
                <a:solidFill>
                  <a:srgbClr val="92D050"/>
                </a:solidFill>
                <a:latin typeface="Calibri"/>
              </a:rPr>
              <a:t>of </a:t>
            </a:r>
            <a:r>
              <a:rPr sz="2900">
                <a:solidFill>
                  <a:srgbClr val="92D050"/>
                </a:solidFill>
                <a:latin typeface="Calibri"/>
              </a:rPr>
              <a:t>theology</a:t>
            </a:r>
          </a:p>
          <a:p>
            <a:pPr/>
            <a:r>
              <a:rPr sz="1800">
                <a:latin typeface="Calibri"/>
              </a:rPr>
              <a:t>ordinatio </a:t>
            </a:r>
            <a:r>
              <a:rPr sz="1800">
                <a:latin typeface="Calibri"/>
              </a:rPr>
              <a:t>ad </a:t>
            </a:r>
            <a:r>
              <a:rPr sz="1800">
                <a:latin typeface="Calibri"/>
              </a:rPr>
              <a:t>unum </a:t>
            </a:r>
            <a:r>
              <a:rPr sz="1800">
                <a:latin typeface="Calibri"/>
              </a:rPr>
              <a:t>absolutely </a:t>
            </a:r>
            <a:r>
              <a:rPr sz="1800">
                <a:latin typeface="Calibri"/>
              </a:rPr>
              <a:t>set:</a:t>
            </a:r>
          </a:p>
          <a:p>
            <a:pPr lvl="1"/>
            <a:r>
              <a:rPr sz="1800">
                <a:latin typeface="Calibri"/>
              </a:rPr>
              <a:t>In </a:t>
            </a:r>
            <a:r>
              <a:rPr sz="1800">
                <a:latin typeface="Calibri"/>
              </a:rPr>
              <a:t>God </a:t>
            </a:r>
            <a:r>
              <a:rPr sz="1800">
                <a:latin typeface="Calibri"/>
              </a:rPr>
              <a:t>as </a:t>
            </a:r>
            <a:r>
              <a:rPr sz="1800">
                <a:latin typeface="Calibri"/>
              </a:rPr>
              <a:t>Form </a:t>
            </a:r>
            <a:r>
              <a:rPr sz="1800">
                <a:latin typeface="Calibri"/>
              </a:rPr>
              <a:t>of </a:t>
            </a:r>
            <a:r>
              <a:rPr sz="1800">
                <a:latin typeface="Calibri"/>
              </a:rPr>
              <a:t>the </a:t>
            </a:r>
            <a:r>
              <a:rPr sz="1800">
                <a:latin typeface="Calibri"/>
              </a:rPr>
              <a:t>forms, </a:t>
            </a:r>
            <a:r>
              <a:rPr sz="1800">
                <a:latin typeface="Calibri"/>
              </a:rPr>
              <a:t>maximum </a:t>
            </a:r>
            <a:r>
              <a:rPr sz="1800">
                <a:latin typeface="Calibri"/>
              </a:rPr>
              <a:t>absolutum </a:t>
            </a:r>
            <a:r>
              <a:rPr sz="1800">
                <a:latin typeface="Calibri"/>
              </a:rPr>
              <a:t>are </a:t>
            </a:r>
            <a:r>
              <a:rPr sz="1800">
                <a:latin typeface="Calibri"/>
              </a:rPr>
              <a:t>all </a:t>
            </a:r>
            <a:r>
              <a:rPr sz="1800">
                <a:latin typeface="Calibri"/>
              </a:rPr>
              <a:t>relations </a:t>
            </a:r>
            <a:r>
              <a:rPr sz="1800">
                <a:latin typeface="Calibri"/>
              </a:rPr>
              <a:t>infected</a:t>
            </a:r>
          </a:p>
          <a:p>
            <a:pPr lvl="1"/>
            <a:r>
              <a:rPr sz="1800">
                <a:latin typeface="Calibri"/>
              </a:rPr>
              <a:t>Reference </a:t>
            </a:r>
            <a:r>
              <a:rPr sz="1800">
                <a:latin typeface="Calibri"/>
              </a:rPr>
              <a:t>to </a:t>
            </a:r>
            <a:r>
              <a:rPr sz="1800">
                <a:latin typeface="Calibri"/>
              </a:rPr>
              <a:t>the </a:t>
            </a:r>
            <a:r>
              <a:rPr sz="1800">
                <a:latin typeface="Calibri"/>
              </a:rPr>
              <a:t>immediacy </a:t>
            </a:r>
            <a:r>
              <a:rPr sz="1800">
                <a:latin typeface="Calibri"/>
              </a:rPr>
              <a:t>of </a:t>
            </a:r>
            <a:r>
              <a:rPr sz="1800">
                <a:latin typeface="Calibri"/>
              </a:rPr>
              <a:t>the </a:t>
            </a:r>
            <a:r>
              <a:rPr sz="1800">
                <a:latin typeface="Calibri"/>
              </a:rPr>
              <a:t>absolute </a:t>
            </a:r>
            <a:r>
              <a:rPr sz="1800">
                <a:latin typeface="Calibri"/>
              </a:rPr>
              <a:t>as </a:t>
            </a:r>
            <a:r>
              <a:rPr sz="1800">
                <a:latin typeface="Calibri"/>
              </a:rPr>
              <a:t>a </a:t>
            </a:r>
            <a:r>
              <a:rPr sz="1800">
                <a:latin typeface="Calibri"/>
              </a:rPr>
              <a:t>condition </a:t>
            </a:r>
            <a:r>
              <a:rPr sz="1800">
                <a:latin typeface="Calibri"/>
              </a:rPr>
              <a:t>of </a:t>
            </a:r>
            <a:r>
              <a:rPr sz="1800">
                <a:latin typeface="Calibri"/>
              </a:rPr>
              <a:t>all </a:t>
            </a:r>
            <a:r>
              <a:rPr sz="1800">
                <a:latin typeface="Calibri"/>
              </a:rPr>
              <a:t>being </a:t>
            </a:r>
            <a:r>
              <a:rPr sz="1800">
                <a:latin typeface="Calibri"/>
              </a:rPr>
              <a:t>(non </a:t>
            </a:r>
            <a:r>
              <a:rPr sz="1800">
                <a:latin typeface="Calibri"/>
              </a:rPr>
              <a:t>aliud </a:t>
            </a:r>
            <a:r>
              <a:rPr sz="1800">
                <a:latin typeface="Calibri"/>
              </a:rPr>
              <a:t>analoge </a:t>
            </a:r>
            <a:r>
              <a:rPr sz="1800">
                <a:latin typeface="Calibri"/>
              </a:rPr>
              <a:t>ordinatio </a:t>
            </a:r>
            <a:r>
              <a:rPr i="1" sz="1800">
                <a:latin typeface="Calibri"/>
              </a:rPr>
              <a:t>and </a:t>
            </a:r>
            <a:r>
              <a:rPr sz="1800">
                <a:latin typeface="Calibri"/>
              </a:rPr>
              <a:t>Scottish </a:t>
            </a:r>
            <a:r>
              <a:rPr sz="1800">
                <a:latin typeface="Calibri"/>
              </a:rPr>
              <a:t>univocity </a:t>
            </a:r>
            <a:r>
              <a:rPr sz="1800">
                <a:latin typeface="Calibri"/>
              </a:rPr>
              <a:t>/ </a:t>
            </a:r>
            <a:r>
              <a:rPr sz="1800">
                <a:latin typeface="Calibri"/>
              </a:rPr>
              <a:t>gradual </a:t>
            </a:r>
            <a:r>
              <a:rPr sz="1800">
                <a:latin typeface="Calibri"/>
              </a:rPr>
              <a:t>intensity)</a:t>
            </a:r>
          </a:p>
          <a:p>
            <a:pPr/>
          </a:p>
        </p:txBody>
      </p:sp>
      <p:sp>
        <p:nvSpPr>
          <p:cNvPr id="9219" name="Rectangle 6">
            <a:extLst>
              <a:ext uri="{FF2B5EF4-FFF2-40B4-BE49-F238E27FC236}">
                <a16:creationId xmlns:a16="http://schemas.microsoft.com/office/drawing/2014/main" id="{9EF3434F-9D77-9120-C201-003D39DB4F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15987"/>
            <a:ext cx="8208963" cy="720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1341438" indent="-5334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978025" indent="-4572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2538413" indent="-3810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3098800" indent="-3810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35560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40132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44704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9276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/>
            <a:r>
              <a:rPr sz="3200">
                <a:latin typeface="Calibri"/>
              </a:rPr>
              <a:t>Basic </a:t>
            </a:r>
            <a:r>
              <a:rPr sz="3200">
                <a:latin typeface="Calibri"/>
              </a:rPr>
              <a:t>questions </a:t>
            </a:r>
            <a:r>
              <a:rPr sz="3200">
                <a:latin typeface="Calibri"/>
              </a:rPr>
              <a:t>of </a:t>
            </a:r>
            <a:r>
              <a:rPr sz="3200">
                <a:latin typeface="Calibri"/>
              </a:rPr>
              <a:t>theological </a:t>
            </a:r>
            <a:r>
              <a:rPr sz="3200">
                <a:latin typeface="Calibri"/>
              </a:rPr>
              <a:t>science </a:t>
            </a:r>
            <a:r>
              <a:rPr sz="3200">
                <a:latin typeface="Calibri"/>
              </a:rPr>
              <a:t>theory</a:t>
            </a:r>
          </a:p>
        </p:txBody>
      </p:sp>
    </p:spTree>
    <p:extLst>
      <p:ext uri="{BB962C8B-B14F-4D97-AF65-F5344CB8AC3E}">
        <p14:creationId xmlns:p14="http://schemas.microsoft.com/office/powerpoint/2010/main" val="40405766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2A3B9-7D72-C94D-1D5C-CD576BFCD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7" name="Picture 4">
            <a:extLst>
              <a:ext uri="{FF2B5EF4-FFF2-40B4-BE49-F238E27FC236}">
                <a16:creationId xmlns:a16="http://schemas.microsoft.com/office/drawing/2014/main" id="{D26DB3EE-E17D-ACFE-C7AA-3FCCCA25B5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0" y="673573"/>
            <a:ext cx="8964487" cy="1631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18" name="Rectangle 5">
            <a:extLst>
              <a:ext uri="{FF2B5EF4-FFF2-40B4-BE49-F238E27FC236}">
                <a16:creationId xmlns:a16="http://schemas.microsoft.com/office/drawing/2014/main" id="{415F48A5-23D4-E5B1-B1B0-BC97F6DF83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193"/>
            <a:ext cx="9252520" cy="594518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609600" indent="-609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1341438" indent="-5334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978025" indent="-4572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2538413" indent="-3810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3098800" indent="-3810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35560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40132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44704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9276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/>
            <a:r>
              <a:rPr sz="2800">
                <a:solidFill>
                  <a:srgbClr val="92D050"/>
                </a:solidFill>
                <a:latin typeface="Calibri"/>
              </a:rPr>
              <a:t>3rd </a:t>
            </a:r>
            <a:r>
              <a:rPr sz="2800">
                <a:solidFill>
                  <a:srgbClr val="92D050"/>
                </a:solidFill>
                <a:latin typeface="Calibri"/>
              </a:rPr>
              <a:t>scientific </a:t>
            </a:r>
            <a:r>
              <a:rPr sz="2800">
                <a:solidFill>
                  <a:srgbClr val="92D050"/>
                </a:solidFill>
                <a:latin typeface="Calibri"/>
              </a:rPr>
              <a:t>status</a:t>
            </a:r>
          </a:p>
          <a:p>
            <a:pPr/>
            <a:r>
              <a:rPr sz="2000">
                <a:latin typeface="Calibri"/>
              </a:rPr>
              <a:t>Negative </a:t>
            </a:r>
            <a:r>
              <a:rPr sz="2000">
                <a:latin typeface="Calibri"/>
              </a:rPr>
              <a:t>theology </a:t>
            </a:r>
            <a:r>
              <a:rPr i="1" sz="2000">
                <a:latin typeface="Calibri"/>
              </a:rPr>
              <a:t>is </a:t>
            </a:r>
            <a:r>
              <a:rPr sz="2000">
                <a:latin typeface="Calibri"/>
              </a:rPr>
              <a:t>the </a:t>
            </a:r>
            <a:r>
              <a:rPr sz="2000">
                <a:latin typeface="Calibri"/>
              </a:rPr>
              <a:t>methodological </a:t>
            </a:r>
            <a:r>
              <a:rPr sz="2000">
                <a:latin typeface="Calibri"/>
              </a:rPr>
              <a:t>reflection </a:t>
            </a:r>
            <a:r>
              <a:rPr sz="2000">
                <a:latin typeface="Calibri"/>
              </a:rPr>
              <a:t>and </a:t>
            </a:r>
            <a:r>
              <a:rPr sz="2000">
                <a:latin typeface="Calibri"/>
              </a:rPr>
              <a:t>conditional </a:t>
            </a:r>
            <a:r>
              <a:rPr sz="2000">
                <a:latin typeface="Calibri"/>
              </a:rPr>
              <a:t>basis </a:t>
            </a:r>
            <a:r>
              <a:rPr sz="2000">
                <a:latin typeface="Calibri"/>
              </a:rPr>
              <a:t>of </a:t>
            </a:r>
            <a:r>
              <a:rPr sz="2000">
                <a:latin typeface="Calibri"/>
              </a:rPr>
              <a:t>discourse </a:t>
            </a:r>
            <a:r>
              <a:rPr sz="2000">
                <a:latin typeface="Calibri"/>
              </a:rPr>
              <a:t>on </a:t>
            </a:r>
            <a:r>
              <a:rPr sz="2000">
                <a:latin typeface="Calibri"/>
              </a:rPr>
              <a:t>the </a:t>
            </a:r>
            <a:r>
              <a:rPr sz="2000">
                <a:latin typeface="Calibri"/>
              </a:rPr>
              <a:t>Divine </a:t>
            </a:r>
            <a:r>
              <a:rPr sz="2000">
                <a:latin typeface="Calibri"/>
              </a:rPr>
              <a:t>isolating </a:t>
            </a:r>
            <a:r>
              <a:rPr sz="2000">
                <a:latin typeface="Calibri"/>
              </a:rPr>
              <a:t>piece </a:t>
            </a:r>
            <a:r>
              <a:rPr sz="2000">
                <a:latin typeface="Calibri"/>
              </a:rPr>
              <a:t>of </a:t>
            </a:r>
            <a:r>
              <a:rPr sz="2000">
                <a:latin typeface="Calibri"/>
              </a:rPr>
              <a:t>theory</a:t>
            </a:r>
          </a:p>
          <a:p>
            <a:pPr/>
            <a:r>
              <a:rPr sz="2000">
                <a:latin typeface="Calibri"/>
              </a:rPr>
              <a:t>... </a:t>
            </a:r>
            <a:r>
              <a:rPr sz="2000">
                <a:latin typeface="Calibri"/>
              </a:rPr>
              <a:t>by </a:t>
            </a:r>
            <a:r>
              <a:rPr sz="2000">
                <a:latin typeface="Calibri"/>
              </a:rPr>
              <a:t>being </a:t>
            </a:r>
            <a:r>
              <a:rPr sz="2000">
                <a:latin typeface="Calibri"/>
              </a:rPr>
              <a:t>a </a:t>
            </a:r>
            <a:r>
              <a:rPr sz="2000">
                <a:latin typeface="Calibri"/>
              </a:rPr>
              <a:t>boundary </a:t>
            </a:r>
            <a:r>
              <a:rPr sz="2000">
                <a:latin typeface="Calibri"/>
              </a:rPr>
              <a:t>reflection </a:t>
            </a:r>
            <a:r>
              <a:rPr sz="2000">
                <a:latin typeface="Calibri"/>
              </a:rPr>
              <a:t>on </a:t>
            </a:r>
            <a:r>
              <a:rPr sz="2000">
                <a:latin typeface="Calibri"/>
              </a:rPr>
              <a:t>the </a:t>
            </a:r>
            <a:r>
              <a:rPr sz="2000">
                <a:latin typeface="Calibri"/>
              </a:rPr>
              <a:t>absolute </a:t>
            </a:r>
            <a:r>
              <a:rPr sz="2000">
                <a:latin typeface="Calibri"/>
              </a:rPr>
              <a:t>precondition </a:t>
            </a:r>
            <a:r>
              <a:rPr sz="2000">
                <a:latin typeface="Calibri"/>
              </a:rPr>
              <a:t>of </a:t>
            </a:r>
            <a:r>
              <a:rPr sz="2000">
                <a:latin typeface="Calibri"/>
              </a:rPr>
              <a:t>definitive </a:t>
            </a:r>
            <a:r>
              <a:rPr sz="2000">
                <a:latin typeface="Calibri"/>
              </a:rPr>
              <a:t>provisions </a:t>
            </a:r>
            <a:r>
              <a:rPr sz="2000">
                <a:latin typeface="Calibri"/>
              </a:rPr>
              <a:t>in </a:t>
            </a:r>
            <a:r>
              <a:rPr sz="2000">
                <a:latin typeface="Calibri"/>
              </a:rPr>
              <a:t>general, </a:t>
            </a:r>
            <a:r>
              <a:rPr sz="2000">
                <a:latin typeface="Calibri"/>
              </a:rPr>
              <a:t>on </a:t>
            </a:r>
            <a:r>
              <a:rPr sz="2000">
                <a:latin typeface="Calibri"/>
              </a:rPr>
              <a:t>the </a:t>
            </a:r>
            <a:r>
              <a:rPr sz="2000">
                <a:latin typeface="Calibri"/>
              </a:rPr>
              <a:t>condition </a:t>
            </a:r>
            <a:r>
              <a:rPr sz="2000">
                <a:latin typeface="Calibri"/>
              </a:rPr>
              <a:t>of </a:t>
            </a:r>
            <a:r>
              <a:rPr sz="2000">
                <a:latin typeface="Calibri"/>
              </a:rPr>
              <a:t>making </a:t>
            </a:r>
            <a:r>
              <a:rPr sz="2000">
                <a:latin typeface="Calibri"/>
              </a:rPr>
              <a:t>knowledge </a:t>
            </a:r>
            <a:r>
              <a:rPr sz="2000">
                <a:latin typeface="Calibri"/>
              </a:rPr>
              <a:t>possible </a:t>
            </a:r>
            <a:r>
              <a:rPr sz="2000">
                <a:latin typeface="Calibri"/>
              </a:rPr>
              <a:t>in </a:t>
            </a:r>
            <a:r>
              <a:rPr sz="2000">
                <a:latin typeface="Calibri"/>
              </a:rPr>
              <a:t>all </a:t>
            </a:r>
            <a:r>
              <a:rPr sz="2000">
                <a:latin typeface="Calibri"/>
              </a:rPr>
              <a:t>regions </a:t>
            </a:r>
            <a:r>
              <a:rPr sz="2000">
                <a:latin typeface="Calibri"/>
              </a:rPr>
              <a:t>of </a:t>
            </a:r>
            <a:r>
              <a:rPr sz="2000">
                <a:latin typeface="Calibri"/>
              </a:rPr>
              <a:t>human </a:t>
            </a:r>
            <a:r>
              <a:rPr sz="2000">
                <a:latin typeface="Calibri"/>
              </a:rPr>
              <a:t>reason</a:t>
            </a:r>
          </a:p>
          <a:p>
            <a:pPr/>
          </a:p>
          <a:p>
            <a:pPr/>
          </a:p>
          <a:p>
            <a:pPr lvl="1"/>
          </a:p>
          <a:p>
            <a:pPr lvl="1"/>
          </a:p>
          <a:p>
            <a:pPr lvl="1"/>
          </a:p>
          <a:p>
            <a:pPr lvl="5"/>
          </a:p>
          <a:p>
            <a:pPr/>
          </a:p>
        </p:txBody>
      </p:sp>
      <p:sp>
        <p:nvSpPr>
          <p:cNvPr id="9219" name="Rectangle 6">
            <a:extLst>
              <a:ext uri="{FF2B5EF4-FFF2-40B4-BE49-F238E27FC236}">
                <a16:creationId xmlns:a16="http://schemas.microsoft.com/office/drawing/2014/main" id="{7193D6B2-9A50-B7E0-9E7C-D825067CE8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15987"/>
            <a:ext cx="8208963" cy="720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1341438" indent="-5334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978025" indent="-4572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2538413" indent="-3810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3098800" indent="-3810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35560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40132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44704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9276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/>
            <a:r>
              <a:rPr sz="3200">
                <a:latin typeface="Calibri"/>
              </a:rPr>
              <a:t>Basic </a:t>
            </a:r>
            <a:r>
              <a:rPr sz="3200">
                <a:latin typeface="Calibri"/>
              </a:rPr>
              <a:t>questions </a:t>
            </a:r>
            <a:r>
              <a:rPr sz="3200">
                <a:latin typeface="Calibri"/>
              </a:rPr>
              <a:t>of </a:t>
            </a:r>
            <a:r>
              <a:rPr sz="3200">
                <a:latin typeface="Calibri"/>
              </a:rPr>
              <a:t>theological </a:t>
            </a:r>
            <a:r>
              <a:rPr sz="3200">
                <a:latin typeface="Calibri"/>
              </a:rPr>
              <a:t>science </a:t>
            </a:r>
            <a:r>
              <a:rPr sz="3200">
                <a:latin typeface="Calibri"/>
              </a:rPr>
              <a:t>theory</a:t>
            </a:r>
          </a:p>
        </p:txBody>
      </p:sp>
    </p:spTree>
    <p:extLst>
      <p:ext uri="{BB962C8B-B14F-4D97-AF65-F5344CB8AC3E}">
        <p14:creationId xmlns:p14="http://schemas.microsoft.com/office/powerpoint/2010/main" val="32228938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FE9DB-2E62-2330-B252-DC31F7D52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7" name="Picture 4">
            <a:extLst>
              <a:ext uri="{FF2B5EF4-FFF2-40B4-BE49-F238E27FC236}">
                <a16:creationId xmlns:a16="http://schemas.microsoft.com/office/drawing/2014/main" id="{C7BB8926-C408-836F-EA92-EB95F909B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0" y="673573"/>
            <a:ext cx="8964487" cy="1631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18" name="Rectangle 5">
            <a:extLst>
              <a:ext uri="{FF2B5EF4-FFF2-40B4-BE49-F238E27FC236}">
                <a16:creationId xmlns:a16="http://schemas.microsoft.com/office/drawing/2014/main" id="{3FD946EE-7F2E-F580-FB89-A72F9DDE43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193"/>
            <a:ext cx="9252520" cy="594518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609600" indent="-609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1341438" indent="-5334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978025" indent="-4572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2538413" indent="-3810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3098800" indent="-3810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35560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40132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44704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9276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/>
            <a:r>
              <a:rPr sz="2800">
                <a:solidFill>
                  <a:srgbClr val="92D050"/>
                </a:solidFill>
                <a:latin typeface="Calibri"/>
              </a:rPr>
              <a:t>Method </a:t>
            </a:r>
            <a:r>
              <a:rPr sz="2800">
                <a:solidFill>
                  <a:srgbClr val="92D050"/>
                </a:solidFill>
                <a:latin typeface="Calibri"/>
              </a:rPr>
              <a:t>of </a:t>
            </a:r>
            <a:r>
              <a:rPr sz="2800">
                <a:solidFill>
                  <a:srgbClr val="92D050"/>
                </a:solidFill>
                <a:latin typeface="Calibri"/>
              </a:rPr>
              <a:t>theology</a:t>
            </a:r>
          </a:p>
          <a:p>
            <a:pPr/>
            <a:r>
              <a:rPr sz="1800">
                <a:latin typeface="Calibri"/>
              </a:rPr>
              <a:t>Theology </a:t>
            </a:r>
            <a:r>
              <a:rPr sz="1800">
                <a:latin typeface="Calibri"/>
              </a:rPr>
              <a:t>works </a:t>
            </a:r>
            <a:r>
              <a:rPr sz="1800">
                <a:latin typeface="Calibri"/>
              </a:rPr>
              <a:t>in </a:t>
            </a:r>
            <a:r>
              <a:rPr sz="1800">
                <a:latin typeface="Calibri"/>
              </a:rPr>
              <a:t>the </a:t>
            </a:r>
            <a:r>
              <a:rPr sz="1800">
                <a:latin typeface="Calibri"/>
              </a:rPr>
              <a:t>mode </a:t>
            </a:r>
            <a:r>
              <a:rPr sz="1800">
                <a:latin typeface="Calibri"/>
              </a:rPr>
              <a:t>of </a:t>
            </a:r>
            <a:r>
              <a:rPr sz="1800">
                <a:latin typeface="Calibri"/>
              </a:rPr>
              <a:t>limitation </a:t>
            </a:r>
            <a:r>
              <a:rPr sz="1800">
                <a:latin typeface="Calibri"/>
              </a:rPr>
              <a:t>and </a:t>
            </a:r>
            <a:r>
              <a:rPr sz="1800">
                <a:latin typeface="Calibri"/>
              </a:rPr>
              <a:t>return </a:t>
            </a:r>
            <a:r>
              <a:rPr sz="1800">
                <a:latin typeface="Calibri"/>
              </a:rPr>
              <a:t>to </a:t>
            </a:r>
            <a:r>
              <a:rPr sz="1800">
                <a:latin typeface="Calibri"/>
              </a:rPr>
              <a:t>the </a:t>
            </a:r>
            <a:r>
              <a:rPr sz="1800">
                <a:latin typeface="Calibri"/>
              </a:rPr>
              <a:t>absolute </a:t>
            </a:r>
            <a:r>
              <a:rPr sz="1800">
                <a:latin typeface="Calibri"/>
              </a:rPr>
              <a:t>basis </a:t>
            </a:r>
            <a:r>
              <a:rPr sz="1800">
                <a:latin typeface="Calibri"/>
              </a:rPr>
              <a:t>of </a:t>
            </a:r>
            <a:r>
              <a:rPr sz="1800">
                <a:latin typeface="Calibri"/>
              </a:rPr>
              <a:t>all </a:t>
            </a:r>
            <a:r>
              <a:rPr sz="1800">
                <a:latin typeface="Calibri"/>
              </a:rPr>
              <a:t>reality</a:t>
            </a:r>
          </a:p>
          <a:p>
            <a:pPr/>
            <a:r>
              <a:rPr sz="1800">
                <a:latin typeface="Calibri"/>
              </a:rPr>
              <a:t>indistinguishable </a:t>
            </a:r>
            <a:r>
              <a:rPr sz="1800">
                <a:latin typeface="Calibri"/>
              </a:rPr>
              <a:t>from </a:t>
            </a:r>
            <a:r>
              <a:rPr sz="1800">
                <a:latin typeface="Calibri"/>
              </a:rPr>
              <a:t>the </a:t>
            </a:r>
            <a:r>
              <a:rPr sz="1800">
                <a:latin typeface="Calibri"/>
              </a:rPr>
              <a:t>scientiae, </a:t>
            </a:r>
            <a:r>
              <a:rPr sz="1800">
                <a:latin typeface="Calibri"/>
              </a:rPr>
              <a:t>insofar </a:t>
            </a:r>
            <a:r>
              <a:rPr sz="1800">
                <a:latin typeface="Calibri"/>
              </a:rPr>
              <a:t>as </a:t>
            </a:r>
            <a:r>
              <a:rPr sz="1800">
                <a:latin typeface="Calibri"/>
              </a:rPr>
              <a:t>they </a:t>
            </a:r>
            <a:r>
              <a:rPr sz="1800">
                <a:latin typeface="Calibri"/>
              </a:rPr>
              <a:t>contribute </a:t>
            </a:r>
            <a:r>
              <a:rPr sz="1800">
                <a:latin typeface="Calibri"/>
              </a:rPr>
              <a:t>to </a:t>
            </a:r>
            <a:r>
              <a:rPr sz="1800">
                <a:latin typeface="Calibri"/>
              </a:rPr>
              <a:t>the </a:t>
            </a:r>
            <a:r>
              <a:rPr sz="1800">
                <a:latin typeface="Calibri"/>
              </a:rPr>
              <a:t>completion </a:t>
            </a:r>
            <a:r>
              <a:rPr sz="1800">
                <a:latin typeface="Calibri"/>
              </a:rPr>
              <a:t>of </a:t>
            </a:r>
            <a:r>
              <a:rPr sz="1800">
                <a:latin typeface="Calibri"/>
              </a:rPr>
              <a:t>human </a:t>
            </a:r>
            <a:r>
              <a:rPr sz="1800">
                <a:latin typeface="Calibri"/>
              </a:rPr>
              <a:t>search </a:t>
            </a:r>
            <a:r>
              <a:rPr sz="1800">
                <a:latin typeface="Calibri"/>
              </a:rPr>
              <a:t>for </a:t>
            </a:r>
            <a:r>
              <a:rPr sz="1800">
                <a:latin typeface="Calibri"/>
              </a:rPr>
              <a:t>truth </a:t>
            </a:r>
            <a:r>
              <a:rPr sz="1800">
                <a:latin typeface="Calibri"/>
              </a:rPr>
              <a:t>whose </a:t>
            </a:r>
            <a:r>
              <a:rPr sz="1800">
                <a:latin typeface="Calibri"/>
              </a:rPr>
              <a:t>full </a:t>
            </a:r>
            <a:r>
              <a:rPr sz="1800">
                <a:latin typeface="Calibri"/>
              </a:rPr>
              <a:t>meaning </a:t>
            </a:r>
            <a:r>
              <a:rPr sz="1800">
                <a:latin typeface="Calibri"/>
              </a:rPr>
              <a:t>coincides </a:t>
            </a:r>
            <a:r>
              <a:rPr sz="1800">
                <a:latin typeface="Calibri"/>
              </a:rPr>
              <a:t>with </a:t>
            </a:r>
            <a:r>
              <a:rPr sz="1800">
                <a:latin typeface="Calibri"/>
              </a:rPr>
              <a:t>the </a:t>
            </a:r>
            <a:r>
              <a:rPr sz="1800">
                <a:latin typeface="Calibri"/>
              </a:rPr>
              <a:t>transcendent </a:t>
            </a:r>
            <a:r>
              <a:rPr sz="1800">
                <a:latin typeface="Calibri"/>
              </a:rPr>
              <a:t>unity </a:t>
            </a:r>
            <a:r>
              <a:rPr sz="1800">
                <a:latin typeface="Calibri"/>
              </a:rPr>
              <a:t>of </a:t>
            </a:r>
            <a:r>
              <a:rPr sz="1800">
                <a:latin typeface="Calibri"/>
              </a:rPr>
              <a:t>knowledge</a:t>
            </a:r>
          </a:p>
          <a:p>
            <a:pPr/>
            <a:r>
              <a:rPr sz="1800">
                <a:latin typeface="Calibri"/>
              </a:rPr>
              <a:t>In </a:t>
            </a:r>
            <a:r>
              <a:rPr sz="1800">
                <a:latin typeface="Calibri"/>
              </a:rPr>
              <a:t>this </a:t>
            </a:r>
            <a:r>
              <a:rPr sz="1800">
                <a:latin typeface="Calibri"/>
              </a:rPr>
              <a:t>context, </a:t>
            </a:r>
            <a:r>
              <a:rPr sz="1800">
                <a:latin typeface="Calibri"/>
              </a:rPr>
              <a:t>theology </a:t>
            </a:r>
            <a:r>
              <a:rPr i="1" sz="1800">
                <a:latin typeface="Calibri"/>
              </a:rPr>
              <a:t>explicitly </a:t>
            </a:r>
            <a:r>
              <a:rPr sz="1800">
                <a:latin typeface="Calibri"/>
              </a:rPr>
              <a:t>reflects </a:t>
            </a:r>
            <a:r>
              <a:rPr sz="1800">
                <a:latin typeface="Calibri"/>
              </a:rPr>
              <a:t>the </a:t>
            </a:r>
            <a:r>
              <a:rPr sz="1800">
                <a:latin typeface="Calibri"/>
              </a:rPr>
              <a:t>possible </a:t>
            </a:r>
            <a:r>
              <a:rPr sz="1800">
                <a:latin typeface="Calibri"/>
              </a:rPr>
              <a:t>conditions </a:t>
            </a:r>
            <a:r>
              <a:rPr sz="1800">
                <a:latin typeface="Calibri"/>
              </a:rPr>
              <a:t>of </a:t>
            </a:r>
            <a:r>
              <a:rPr sz="1800">
                <a:latin typeface="Calibri"/>
              </a:rPr>
              <a:t>any </a:t>
            </a:r>
            <a:r>
              <a:rPr sz="1800">
                <a:latin typeface="Calibri"/>
              </a:rPr>
              <a:t>search </a:t>
            </a:r>
            <a:r>
              <a:rPr sz="1800">
                <a:latin typeface="Calibri"/>
              </a:rPr>
              <a:t>for </a:t>
            </a:r>
            <a:r>
              <a:rPr sz="1800">
                <a:latin typeface="Calibri"/>
              </a:rPr>
              <a:t>knowledge.</a:t>
            </a:r>
          </a:p>
          <a:p>
            <a:pPr/>
          </a:p>
          <a:p>
            <a:pPr lvl="1"/>
          </a:p>
          <a:p>
            <a:pPr lvl="1"/>
          </a:p>
          <a:p>
            <a:pPr lvl="1"/>
          </a:p>
          <a:p>
            <a:pPr lvl="5"/>
          </a:p>
          <a:p>
            <a:pPr/>
          </a:p>
        </p:txBody>
      </p:sp>
      <p:sp>
        <p:nvSpPr>
          <p:cNvPr id="9219" name="Rectangle 6">
            <a:extLst>
              <a:ext uri="{FF2B5EF4-FFF2-40B4-BE49-F238E27FC236}">
                <a16:creationId xmlns:a16="http://schemas.microsoft.com/office/drawing/2014/main" id="{5995B584-237D-5E19-3A72-BA56E1D2F9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15987"/>
            <a:ext cx="8208963" cy="720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1341438" indent="-5334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978025" indent="-4572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2538413" indent="-3810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3098800" indent="-3810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35560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40132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44704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9276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/>
            <a:r>
              <a:rPr sz="3200">
                <a:latin typeface="Calibri"/>
              </a:rPr>
              <a:t>Basic </a:t>
            </a:r>
            <a:r>
              <a:rPr sz="3200">
                <a:latin typeface="Calibri"/>
              </a:rPr>
              <a:t>questions </a:t>
            </a:r>
            <a:r>
              <a:rPr sz="3200">
                <a:latin typeface="Calibri"/>
              </a:rPr>
              <a:t>of </a:t>
            </a:r>
            <a:r>
              <a:rPr sz="3200">
                <a:latin typeface="Calibri"/>
              </a:rPr>
              <a:t>theological </a:t>
            </a:r>
            <a:r>
              <a:rPr sz="3200">
                <a:latin typeface="Calibri"/>
              </a:rPr>
              <a:t>science </a:t>
            </a:r>
            <a:r>
              <a:rPr sz="3200">
                <a:latin typeface="Calibri"/>
              </a:rPr>
              <a:t>theory</a:t>
            </a:r>
          </a:p>
        </p:txBody>
      </p:sp>
    </p:spTree>
    <p:extLst>
      <p:ext uri="{BB962C8B-B14F-4D97-AF65-F5344CB8AC3E}">
        <p14:creationId xmlns:p14="http://schemas.microsoft.com/office/powerpoint/2010/main" val="11973659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riped Right Arrow 1">
            <a:extLst>
              <a:ext uri="{FF2B5EF4-FFF2-40B4-BE49-F238E27FC236}">
                <a16:creationId xmlns:a16="http://schemas.microsoft.com/office/drawing/2014/main" id="{5CC9966E-F242-7F98-7369-1A294A9DE957}"/>
              </a:ext>
            </a:extLst>
          </p:cNvPr>
          <p:cNvSpPr/>
          <p:nvPr/>
        </p:nvSpPr>
        <p:spPr bwMode="auto">
          <a:xfrm>
            <a:off x="3131840" y="2204864"/>
            <a:ext cx="4032448" cy="2520280"/>
          </a:xfrm>
          <a:prstGeom prst="striped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numCol="1" rtlCol="0" anchor="t" anchorCtr="0" compatLnSpc="1">
            <a:prstTxWarp prst="textNoShape">
              <a:avLst/>
            </a:prstTxWarp>
          </a:bodyPr>
          <a:lstStyle/>
          <a:p>
            <a:pPr algn="l">
              <a:lnSpc>
                <a:spcPct val="100000"/>
              </a:lnSpc>
            </a:pPr>
          </a:p>
        </p:txBody>
      </p:sp>
      <p:sp>
        <p:nvSpPr>
          <p:cNvPr id="33793" name="Rectangle 2">
            <a:extLst>
              <a:ext uri="{FF2B5EF4-FFF2-40B4-BE49-F238E27FC236}">
                <a16:creationId xmlns:a16="http://schemas.microsoft.com/office/drawing/2014/main" id="{2781ECBF-064A-317D-F31E-2F06B4A662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163" y="2924944"/>
            <a:ext cx="4321175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/>
            <a:r>
              <a:rPr sz="2800">
                <a:latin typeface="Calibri"/>
              </a:rPr>
              <a:t>religious </a:t>
            </a:r>
            <a:r>
              <a:rPr sz="2800">
                <a:latin typeface="Calibri"/>
              </a:rPr>
              <a:t>primary </a:t>
            </a:r>
            <a:r>
              <a:rPr sz="2800">
                <a:latin typeface="Calibri"/>
              </a:rPr>
              <a:t>language:</a:t>
            </a:r>
          </a:p>
          <a:p>
            <a:pPr/>
            <a:r>
              <a:rPr sz="2800">
                <a:latin typeface="Calibri"/>
              </a:rPr>
              <a:t>Prayer, </a:t>
            </a:r>
            <a:r>
              <a:rPr sz="2800">
                <a:latin typeface="Calibri"/>
              </a:rPr>
              <a:t>Praise </a:t>
            </a:r>
            <a:r>
              <a:rPr sz="2800">
                <a:latin typeface="Calibri"/>
              </a:rPr>
              <a:t>and </a:t>
            </a:r>
            <a:r>
              <a:rPr sz="2800">
                <a:latin typeface="Calibri"/>
              </a:rPr>
              <a:t>Liturgy</a:t>
            </a:r>
          </a:p>
          <a:p>
            <a:pPr/>
          </a:p>
          <a:p>
            <a:p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81A440-4C4B-61BD-569E-D681F9EF3F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9249" y="2953107"/>
            <a:ext cx="3534751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/>
            <a:r>
              <a:rPr sz="2800">
                <a:latin typeface="Calibri"/>
              </a:rPr>
              <a:t>Scientific </a:t>
            </a:r>
            <a:r>
              <a:rPr sz="2800">
                <a:latin typeface="Calibri"/>
              </a:rPr>
              <a:t>and </a:t>
            </a:r>
            <a:r>
              <a:rPr sz="2800">
                <a:latin typeface="Calibri"/>
              </a:rPr>
              <a:t>linguistic </a:t>
            </a:r>
            <a:r>
              <a:rPr sz="2800">
                <a:latin typeface="Calibri"/>
              </a:rPr>
              <a:t>accuracy</a:t>
            </a:r>
          </a:p>
          <a:p>
            <a:pPr/>
          </a:p>
          <a:p>
            <a:pPr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64B04CF-6628-FCE7-097E-60853EAC90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9952" y="1543868"/>
            <a:ext cx="2304256" cy="3770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/>
            <a:r>
              <a:rPr sz="23900">
                <a:latin typeface="Calibri"/>
              </a:rPr>
              <a:t>- </a:t>
            </a:r>
            <a:r>
              <a:rPr sz="23900">
                <a:latin typeface="Calibri"/>
              </a:rPr>
              <a:t>What </a:t>
            </a:r>
            <a:r>
              <a:rPr sz="23900">
                <a:latin typeface="Calibri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9491333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>
            <a:extLst>
              <a:ext uri="{FF2B5EF4-FFF2-40B4-BE49-F238E27FC236}">
                <a16:creationId xmlns:a16="http://schemas.microsoft.com/office/drawing/2014/main" id="{FF12A3B0-A0D1-00F8-25BB-6771F8186E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700852"/>
            <a:ext cx="8642350" cy="5324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/>
            <a:r>
              <a:rPr sz="4800">
                <a:latin typeface="Calibri"/>
              </a:rPr>
              <a:t>With </a:t>
            </a:r>
            <a:r>
              <a:rPr sz="4800">
                <a:latin typeface="Calibri"/>
              </a:rPr>
              <a:t>the </a:t>
            </a:r>
            <a:r>
              <a:rPr sz="4800">
                <a:latin typeface="Calibri"/>
              </a:rPr>
              <a:t>help </a:t>
            </a:r>
            <a:r>
              <a:rPr sz="4800">
                <a:latin typeface="Calibri"/>
              </a:rPr>
              <a:t>of </a:t>
            </a:r>
            <a:r>
              <a:rPr sz="4800">
                <a:latin typeface="Calibri"/>
              </a:rPr>
              <a:t>learned </a:t>
            </a:r>
            <a:r>
              <a:rPr sz="4800">
                <a:latin typeface="Calibri"/>
              </a:rPr>
              <a:t>ignorance </a:t>
            </a:r>
            <a:r>
              <a:rPr sz="4800">
                <a:latin typeface="Calibri"/>
              </a:rPr>
              <a:t>(docta </a:t>
            </a:r>
            <a:r>
              <a:rPr sz="4800">
                <a:latin typeface="Calibri"/>
              </a:rPr>
              <a:t>ignorantia), </a:t>
            </a:r>
            <a:r>
              <a:rPr sz="4800">
                <a:latin typeface="Calibri"/>
              </a:rPr>
              <a:t>religion </a:t>
            </a:r>
            <a:r>
              <a:rPr sz="4800">
                <a:latin typeface="Calibri"/>
              </a:rPr>
              <a:t>captures </a:t>
            </a:r>
            <a:r>
              <a:rPr sz="4800">
                <a:latin typeface="Calibri"/>
              </a:rPr>
              <a:t>the </a:t>
            </a:r>
            <a:r>
              <a:rPr sz="4800">
                <a:latin typeface="Calibri"/>
              </a:rPr>
              <a:t>more </a:t>
            </a:r>
            <a:r>
              <a:rPr sz="4800">
                <a:latin typeface="Calibri"/>
              </a:rPr>
              <a:t>correct </a:t>
            </a:r>
            <a:r>
              <a:rPr sz="4800">
                <a:latin typeface="Calibri"/>
              </a:rPr>
              <a:t>faith </a:t>
            </a:r>
            <a:r>
              <a:rPr sz="4800">
                <a:latin typeface="Calibri"/>
              </a:rPr>
              <a:t>that </a:t>
            </a:r>
            <a:r>
              <a:rPr sz="4800">
                <a:latin typeface="Calibri"/>
              </a:rPr>
              <a:t>guides </a:t>
            </a:r>
            <a:r>
              <a:rPr sz="4800">
                <a:latin typeface="Calibri"/>
              </a:rPr>
              <a:t>our </a:t>
            </a:r>
            <a:r>
              <a:rPr sz="4800">
                <a:latin typeface="Calibri"/>
              </a:rPr>
              <a:t>worship </a:t>
            </a:r>
            <a:r>
              <a:rPr sz="4800">
                <a:latin typeface="Calibri"/>
              </a:rPr>
              <a:t>(cultura)</a:t>
            </a:r>
          </a:p>
          <a:p>
            <a:pPr algn="r"/>
          </a:p>
          <a:p>
            <a:pPr algn="r"/>
            <a:r>
              <a:rPr sz="1600">
                <a:latin typeface="Calibri"/>
              </a:rPr>
              <a:t>Cusanus: </a:t>
            </a:r>
            <a:r>
              <a:rPr sz="1600">
                <a:latin typeface="Calibri"/>
              </a:rPr>
              <a:t>De </a:t>
            </a:r>
            <a:r>
              <a:rPr sz="1600">
                <a:latin typeface="Calibri"/>
              </a:rPr>
              <a:t>docta </a:t>
            </a:r>
            <a:r>
              <a:rPr sz="1600">
                <a:latin typeface="Calibri"/>
              </a:rPr>
              <a:t>ignorantia </a:t>
            </a:r>
            <a:r>
              <a:rPr sz="1600">
                <a:latin typeface="Calibri"/>
              </a:rPr>
              <a:t>I </a:t>
            </a:r>
            <a:r>
              <a:rPr sz="1600">
                <a:latin typeface="Calibri"/>
              </a:rPr>
              <a:t>c. </a:t>
            </a:r>
            <a:r>
              <a:rPr sz="1600">
                <a:latin typeface="Calibri"/>
              </a:rPr>
              <a:t>26 </a:t>
            </a:r>
            <a:r>
              <a:rPr sz="1600">
                <a:latin typeface="Calibri"/>
              </a:rPr>
              <a:t>n. </a:t>
            </a:r>
            <a:r>
              <a:rPr sz="1600">
                <a:latin typeface="Calibri"/>
              </a:rPr>
              <a:t>86</a:t>
            </a:r>
          </a:p>
        </p:txBody>
      </p:sp>
    </p:spTree>
    <p:extLst>
      <p:ext uri="{BB962C8B-B14F-4D97-AF65-F5344CB8AC3E}">
        <p14:creationId xmlns:p14="http://schemas.microsoft.com/office/powerpoint/2010/main" val="2237836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>
            <a:extLst>
              <a:ext uri="{FF2B5EF4-FFF2-40B4-BE49-F238E27FC236}">
                <a16:creationId xmlns:a16="http://schemas.microsoft.com/office/drawing/2014/main" id="{C21DD847-11E9-E1C5-BB1A-3331EF6AF7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-6350"/>
            <a:ext cx="8642350" cy="6740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/>
            <a:r>
              <a:rPr sz="4800">
                <a:latin typeface="Calibri"/>
              </a:rPr>
              <a:t>Without </a:t>
            </a:r>
            <a:r>
              <a:rPr sz="4800">
                <a:latin typeface="Calibri"/>
              </a:rPr>
              <a:t>negative </a:t>
            </a:r>
            <a:r>
              <a:rPr sz="4800">
                <a:latin typeface="Calibri"/>
              </a:rPr>
              <a:t>theology, </a:t>
            </a:r>
            <a:r>
              <a:rPr sz="4800">
                <a:latin typeface="Calibri"/>
              </a:rPr>
              <a:t>God </a:t>
            </a:r>
            <a:r>
              <a:rPr sz="4800">
                <a:latin typeface="Calibri"/>
              </a:rPr>
              <a:t>would </a:t>
            </a:r>
            <a:r>
              <a:rPr sz="4800">
                <a:latin typeface="Calibri"/>
              </a:rPr>
              <a:t>not </a:t>
            </a:r>
            <a:r>
              <a:rPr sz="4800">
                <a:latin typeface="Calibri"/>
              </a:rPr>
              <a:t>be </a:t>
            </a:r>
            <a:r>
              <a:rPr sz="4800">
                <a:latin typeface="Calibri"/>
              </a:rPr>
              <a:t>worshiped </a:t>
            </a:r>
            <a:r>
              <a:rPr sz="4800">
                <a:latin typeface="Calibri"/>
              </a:rPr>
              <a:t>as </a:t>
            </a:r>
            <a:r>
              <a:rPr sz="4800">
                <a:latin typeface="Calibri"/>
              </a:rPr>
              <a:t>the </a:t>
            </a:r>
            <a:r>
              <a:rPr sz="4800">
                <a:latin typeface="Calibri"/>
              </a:rPr>
              <a:t>infinite </a:t>
            </a:r>
            <a:r>
              <a:rPr sz="4800">
                <a:latin typeface="Calibri"/>
              </a:rPr>
              <a:t>God </a:t>
            </a:r>
            <a:r>
              <a:rPr sz="4800">
                <a:latin typeface="Calibri"/>
              </a:rPr>
              <a:t>but </a:t>
            </a:r>
            <a:r>
              <a:rPr sz="4800">
                <a:latin typeface="Calibri"/>
              </a:rPr>
              <a:t>rather </a:t>
            </a:r>
            <a:r>
              <a:rPr sz="4800">
                <a:latin typeface="Calibri"/>
              </a:rPr>
              <a:t>as </a:t>
            </a:r>
            <a:r>
              <a:rPr sz="4800">
                <a:latin typeface="Calibri"/>
              </a:rPr>
              <a:t>a </a:t>
            </a:r>
            <a:r>
              <a:rPr sz="4800">
                <a:latin typeface="Calibri"/>
              </a:rPr>
              <a:t>creature.</a:t>
            </a:r>
          </a:p>
          <a:p>
            <a:pPr/>
            <a:r>
              <a:rPr sz="4800">
                <a:latin typeface="Calibri"/>
              </a:rPr>
              <a:t>But </a:t>
            </a:r>
            <a:r>
              <a:rPr sz="4800">
                <a:latin typeface="Calibri"/>
              </a:rPr>
              <a:t>such </a:t>
            </a:r>
            <a:r>
              <a:rPr sz="4800">
                <a:latin typeface="Calibri"/>
              </a:rPr>
              <a:t>worship </a:t>
            </a:r>
            <a:r>
              <a:rPr sz="4800">
                <a:latin typeface="Calibri"/>
              </a:rPr>
              <a:t>is </a:t>
            </a:r>
            <a:r>
              <a:rPr sz="4800">
                <a:latin typeface="Calibri"/>
              </a:rPr>
              <a:t>idolatry, </a:t>
            </a:r>
            <a:r>
              <a:rPr sz="4800">
                <a:latin typeface="Calibri"/>
              </a:rPr>
              <a:t>the </a:t>
            </a:r>
            <a:r>
              <a:rPr sz="4800">
                <a:latin typeface="Calibri"/>
              </a:rPr>
              <a:t>worship </a:t>
            </a:r>
            <a:r>
              <a:rPr sz="4800">
                <a:latin typeface="Calibri"/>
              </a:rPr>
              <a:t>of </a:t>
            </a:r>
            <a:r>
              <a:rPr sz="4800">
                <a:latin typeface="Calibri"/>
              </a:rPr>
              <a:t>idols.</a:t>
            </a:r>
          </a:p>
          <a:p>
            <a:pPr algn="r"/>
          </a:p>
          <a:p>
            <a:pPr algn="r"/>
            <a:r>
              <a:rPr sz="1600">
                <a:latin typeface="Calibri"/>
              </a:rPr>
              <a:t>Cusanus: </a:t>
            </a:r>
            <a:r>
              <a:rPr sz="1600">
                <a:latin typeface="Calibri"/>
              </a:rPr>
              <a:t>De </a:t>
            </a:r>
            <a:r>
              <a:rPr sz="1600">
                <a:latin typeface="Calibri"/>
              </a:rPr>
              <a:t>docta </a:t>
            </a:r>
            <a:r>
              <a:rPr sz="1600">
                <a:latin typeface="Calibri"/>
              </a:rPr>
              <a:t>ignorantia </a:t>
            </a:r>
            <a:r>
              <a:rPr sz="1600">
                <a:latin typeface="Calibri"/>
              </a:rPr>
              <a:t>I </a:t>
            </a:r>
            <a:r>
              <a:rPr sz="1600">
                <a:latin typeface="Calibri"/>
              </a:rPr>
              <a:t>c. </a:t>
            </a:r>
            <a:r>
              <a:rPr sz="1600">
                <a:latin typeface="Calibri"/>
              </a:rPr>
              <a:t>26 </a:t>
            </a:r>
            <a:r>
              <a:rPr sz="1600">
                <a:latin typeface="Calibri"/>
              </a:rPr>
              <a:t>n. </a:t>
            </a:r>
            <a:r>
              <a:rPr sz="1600">
                <a:latin typeface="Calibri"/>
              </a:rPr>
              <a:t>86</a:t>
            </a:r>
          </a:p>
        </p:txBody>
      </p:sp>
    </p:spTree>
    <p:extLst>
      <p:ext uri="{BB962C8B-B14F-4D97-AF65-F5344CB8AC3E}">
        <p14:creationId xmlns:p14="http://schemas.microsoft.com/office/powerpoint/2010/main" val="11410096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7F606085-3FBC-5F14-D171-D3BDA8808D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96881"/>
            <a:ext cx="9144000" cy="42165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/>
            <a:r>
              <a:rPr sz="4400">
                <a:latin typeface="Calibri"/>
              </a:rPr>
              <a:t>Faith </a:t>
            </a:r>
            <a:r>
              <a:rPr sz="4400">
                <a:latin typeface="Calibri"/>
              </a:rPr>
              <a:t>is </a:t>
            </a:r>
            <a:r>
              <a:rPr sz="4400">
                <a:latin typeface="Calibri"/>
              </a:rPr>
              <a:t>the </a:t>
            </a:r>
            <a:r>
              <a:rPr sz="4400">
                <a:latin typeface="Calibri"/>
              </a:rPr>
              <a:t>beginning </a:t>
            </a:r>
            <a:r>
              <a:rPr sz="4400">
                <a:latin typeface="Calibri"/>
              </a:rPr>
              <a:t>of </a:t>
            </a:r>
            <a:r>
              <a:rPr sz="4400">
                <a:latin typeface="Calibri"/>
              </a:rPr>
              <a:t>knowledge </a:t>
            </a:r>
            <a:r>
              <a:rPr sz="4400">
                <a:latin typeface="Calibri"/>
              </a:rPr>
              <a:t>(intellectus).</a:t>
            </a:r>
          </a:p>
          <a:p>
            <a:pPr/>
            <a:r>
              <a:rPr sz="4400">
                <a:latin typeface="Calibri"/>
              </a:rPr>
              <a:t>For </a:t>
            </a:r>
            <a:r>
              <a:rPr sz="4400">
                <a:latin typeface="Calibri"/>
              </a:rPr>
              <a:t>Isaiah </a:t>
            </a:r>
            <a:r>
              <a:rPr sz="4400">
                <a:latin typeface="Calibri"/>
              </a:rPr>
              <a:t>says, </a:t>
            </a:r>
            <a:r>
              <a:rPr sz="4400">
                <a:latin typeface="Calibri"/>
              </a:rPr>
              <a:t>"Unless </a:t>
            </a:r>
            <a:r>
              <a:rPr sz="4400">
                <a:latin typeface="Calibri"/>
              </a:rPr>
              <a:t>you </a:t>
            </a:r>
            <a:r>
              <a:rPr sz="4400">
                <a:latin typeface="Calibri"/>
              </a:rPr>
              <a:t>believe, </a:t>
            </a:r>
            <a:r>
              <a:rPr sz="4400">
                <a:latin typeface="Calibri"/>
              </a:rPr>
              <a:t>you </a:t>
            </a:r>
            <a:r>
              <a:rPr sz="4400">
                <a:latin typeface="Calibri"/>
              </a:rPr>
              <a:t>will </a:t>
            </a:r>
            <a:r>
              <a:rPr sz="4400">
                <a:latin typeface="Calibri"/>
              </a:rPr>
              <a:t>not </a:t>
            </a:r>
            <a:r>
              <a:rPr sz="4400">
                <a:latin typeface="Calibri"/>
              </a:rPr>
              <a:t>understand".</a:t>
            </a:r>
          </a:p>
          <a:p>
            <a:pPr/>
            <a:r>
              <a:rPr sz="4400">
                <a:latin typeface="Calibri"/>
              </a:rPr>
              <a:t>(Nisi </a:t>
            </a:r>
            <a:r>
              <a:rPr sz="4400">
                <a:latin typeface="Calibri"/>
              </a:rPr>
              <a:t>credideritis, </a:t>
            </a:r>
            <a:r>
              <a:rPr sz="4400">
                <a:latin typeface="Calibri"/>
              </a:rPr>
              <a:t>non </a:t>
            </a:r>
            <a:r>
              <a:rPr sz="4400">
                <a:latin typeface="Calibri"/>
              </a:rPr>
              <a:t>intelligetis)</a:t>
            </a:r>
          </a:p>
          <a:p>
            <a:pPr algn="r"/>
          </a:p>
          <a:p>
            <a:pPr algn="r"/>
          </a:p>
          <a:p>
            <a:pPr algn="r"/>
            <a:r>
              <a:rPr sz="1600">
                <a:latin typeface="Calibri"/>
              </a:rPr>
              <a:t>Cusanus: </a:t>
            </a:r>
            <a:r>
              <a:rPr sz="1600">
                <a:latin typeface="Calibri"/>
              </a:rPr>
              <a:t>Doc. </a:t>
            </a:r>
            <a:r>
              <a:rPr sz="1600">
                <a:latin typeface="Calibri"/>
              </a:rPr>
              <a:t>n° </a:t>
            </a:r>
            <a:r>
              <a:rPr sz="1600">
                <a:latin typeface="Calibri"/>
              </a:rPr>
              <a:t>244</a:t>
            </a:r>
          </a:p>
        </p:txBody>
      </p:sp>
    </p:spTree>
    <p:extLst>
      <p:ext uri="{BB962C8B-B14F-4D97-AF65-F5344CB8AC3E}">
        <p14:creationId xmlns:p14="http://schemas.microsoft.com/office/powerpoint/2010/main" val="21236808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38" name="Picture 6">
            <a:extLst>
              <a:ext uri="{FF2B5EF4-FFF2-40B4-BE49-F238E27FC236}">
                <a16:creationId xmlns:a16="http://schemas.microsoft.com/office/drawing/2014/main" id="{4765C603-C393-56E2-BA80-BABFA12C7B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42000" contrast="-36000"/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500"/>
                    </a14:imgEffect>
                    <a14:imgEffect>
                      <a14:saturation sat="6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5307" y="0"/>
            <a:ext cx="9958387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006A638-F1A3-F963-9A82-C2179F220FD8}"/>
              </a:ext>
            </a:extLst>
          </p:cNvPr>
          <p:cNvSpPr txBox="1">
            <a:spLocks noChangeArrowheads="1"/>
          </p:cNvSpPr>
          <p:nvPr/>
        </p:nvSpPr>
        <p:spPr>
          <a:xfrm>
            <a:off x="-145307" y="116632"/>
            <a:ext cx="9973891" cy="674136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FF33"/>
              </a:buClr>
              <a:buSzPct val="7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CC"/>
              </a:buClr>
              <a:buSzPct val="65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rPr sz="2800">
                <a:latin typeface="Times New Roman"/>
              </a:rPr>
              <a:t>For </a:t>
            </a:r>
            <a:r>
              <a:rPr sz="2800">
                <a:latin typeface="Times New Roman"/>
              </a:rPr>
              <a:t>the </a:t>
            </a:r>
            <a:r>
              <a:rPr sz="2800">
                <a:latin typeface="Times New Roman"/>
              </a:rPr>
              <a:t>wise </a:t>
            </a:r>
            <a:r>
              <a:rPr sz="2800">
                <a:latin typeface="Times New Roman"/>
              </a:rPr>
              <a:t>men </a:t>
            </a:r>
            <a:r>
              <a:rPr sz="2800">
                <a:latin typeface="Times New Roman"/>
              </a:rPr>
              <a:t>of </a:t>
            </a:r>
            <a:r>
              <a:rPr sz="2800">
                <a:latin typeface="Times New Roman"/>
              </a:rPr>
              <a:t>this </a:t>
            </a:r>
            <a:r>
              <a:rPr sz="2800">
                <a:latin typeface="Times New Roman"/>
              </a:rPr>
              <a:t>world </a:t>
            </a:r>
            <a:r>
              <a:rPr sz="2800">
                <a:latin typeface="Times New Roman"/>
              </a:rPr>
              <a:t>do </a:t>
            </a:r>
            <a:r>
              <a:rPr sz="2800">
                <a:latin typeface="Times New Roman"/>
              </a:rPr>
              <a:t>not </a:t>
            </a:r>
            <a:r>
              <a:rPr sz="2800">
                <a:latin typeface="Times New Roman"/>
              </a:rPr>
              <a:t>rest </a:t>
            </a:r>
            <a:r>
              <a:rPr sz="2800">
                <a:latin typeface="Times New Roman"/>
              </a:rPr>
              <a:t>unless </a:t>
            </a:r>
            <a:r>
              <a:rPr sz="2800">
                <a:latin typeface="Times New Roman"/>
              </a:rPr>
              <a:t>they </a:t>
            </a:r>
            <a:r>
              <a:rPr sz="2800">
                <a:latin typeface="Times New Roman"/>
              </a:rPr>
              <a:t>are </a:t>
            </a:r>
            <a:r>
              <a:rPr sz="2800">
                <a:latin typeface="Times New Roman"/>
              </a:rPr>
              <a:t>persuaded </a:t>
            </a:r>
            <a:r>
              <a:rPr sz="2800">
                <a:latin typeface="Times New Roman"/>
              </a:rPr>
              <a:t>by </a:t>
            </a:r>
            <a:r>
              <a:rPr sz="2800">
                <a:latin typeface="Times New Roman"/>
              </a:rPr>
              <a:t>faith </a:t>
            </a:r>
            <a:r>
              <a:rPr sz="2800">
                <a:latin typeface="Times New Roman"/>
              </a:rPr>
              <a:t>without </a:t>
            </a:r>
            <a:r>
              <a:rPr sz="2800">
                <a:latin typeface="Times New Roman"/>
              </a:rPr>
              <a:t>reason </a:t>
            </a:r>
            <a:r>
              <a:rPr sz="2800">
                <a:latin typeface="Times New Roman"/>
              </a:rPr>
              <a:t>or </a:t>
            </a:r>
            <a:r>
              <a:rPr sz="2800">
                <a:latin typeface="Times New Roman"/>
              </a:rPr>
              <a:t>ratio. </a:t>
            </a:r>
            <a:r>
              <a:rPr sz="2800">
                <a:latin typeface="Times New Roman"/>
              </a:rPr>
              <a:t>So </a:t>
            </a:r>
            <a:r>
              <a:rPr sz="2800">
                <a:latin typeface="Times New Roman"/>
              </a:rPr>
              <a:t>Peter </a:t>
            </a:r>
            <a:r>
              <a:rPr sz="2800">
                <a:latin typeface="Times New Roman"/>
              </a:rPr>
              <a:t>presented </a:t>
            </a:r>
            <a:r>
              <a:rPr sz="2800">
                <a:latin typeface="Times New Roman"/>
              </a:rPr>
              <a:t>a </a:t>
            </a:r>
            <a:r>
              <a:rPr sz="2800">
                <a:latin typeface="Times New Roman"/>
              </a:rPr>
              <a:t>ratio </a:t>
            </a:r>
            <a:r>
              <a:rPr sz="2800">
                <a:latin typeface="Times New Roman"/>
              </a:rPr>
              <a:t>for </a:t>
            </a:r>
            <a:r>
              <a:rPr sz="2800">
                <a:latin typeface="Times New Roman"/>
              </a:rPr>
              <a:t>their </a:t>
            </a:r>
            <a:r>
              <a:rPr sz="2800">
                <a:latin typeface="Times New Roman"/>
              </a:rPr>
              <a:t>faith </a:t>
            </a:r>
            <a:r>
              <a:rPr sz="2800">
                <a:latin typeface="Times New Roman"/>
              </a:rPr>
              <a:t>and </a:t>
            </a:r>
            <a:r>
              <a:rPr sz="2800">
                <a:latin typeface="Times New Roman"/>
              </a:rPr>
              <a:t>put </a:t>
            </a:r>
            <a:r>
              <a:rPr sz="2800">
                <a:latin typeface="Times New Roman"/>
              </a:rPr>
              <a:t>on </a:t>
            </a:r>
            <a:r>
              <a:rPr sz="2800">
                <a:latin typeface="Times New Roman"/>
              </a:rPr>
              <a:t>one. </a:t>
            </a:r>
            <a:r>
              <a:rPr sz="2800">
                <a:latin typeface="Times New Roman"/>
              </a:rPr>
              <a:t>The </a:t>
            </a:r>
            <a:r>
              <a:rPr sz="2800">
                <a:latin typeface="Times New Roman"/>
              </a:rPr>
              <a:t>wise </a:t>
            </a:r>
            <a:r>
              <a:rPr sz="2800">
                <a:latin typeface="Times New Roman"/>
              </a:rPr>
              <a:t>men </a:t>
            </a:r>
            <a:r>
              <a:rPr sz="2800">
                <a:latin typeface="Times New Roman"/>
              </a:rPr>
              <a:t>are </a:t>
            </a:r>
            <a:r>
              <a:rPr sz="2800">
                <a:latin typeface="Times New Roman"/>
              </a:rPr>
              <a:t>caught </a:t>
            </a:r>
            <a:r>
              <a:rPr sz="2800">
                <a:latin typeface="Times New Roman"/>
              </a:rPr>
              <a:t>when </a:t>
            </a:r>
            <a:r>
              <a:rPr sz="2800">
                <a:latin typeface="Times New Roman"/>
              </a:rPr>
              <a:t>they </a:t>
            </a:r>
            <a:r>
              <a:rPr sz="2800">
                <a:latin typeface="Times New Roman"/>
              </a:rPr>
              <a:t>see </a:t>
            </a:r>
            <a:r>
              <a:rPr sz="2800">
                <a:latin typeface="Times New Roman"/>
              </a:rPr>
              <a:t>that </a:t>
            </a:r>
            <a:r>
              <a:rPr sz="2800">
                <a:latin typeface="Times New Roman"/>
              </a:rPr>
              <a:t>wisdom </a:t>
            </a:r>
            <a:r>
              <a:rPr sz="2800">
                <a:latin typeface="Times New Roman"/>
              </a:rPr>
              <a:t>is </a:t>
            </a:r>
            <a:r>
              <a:rPr sz="2800">
                <a:latin typeface="Times New Roman"/>
              </a:rPr>
              <a:t>in </a:t>
            </a:r>
            <a:r>
              <a:rPr sz="2800">
                <a:latin typeface="Times New Roman"/>
              </a:rPr>
              <a:t>the </a:t>
            </a:r>
            <a:r>
              <a:rPr sz="2800">
                <a:latin typeface="Times New Roman"/>
              </a:rPr>
              <a:t>height </a:t>
            </a:r>
            <a:r>
              <a:rPr sz="2800">
                <a:latin typeface="Times New Roman"/>
              </a:rPr>
              <a:t>of </a:t>
            </a:r>
            <a:r>
              <a:rPr sz="2800">
                <a:latin typeface="Times New Roman"/>
              </a:rPr>
              <a:t>faith. </a:t>
            </a:r>
            <a:r>
              <a:rPr sz="2800">
                <a:latin typeface="Times New Roman"/>
              </a:rPr>
              <a:t>Then </a:t>
            </a:r>
            <a:r>
              <a:rPr sz="2800">
                <a:latin typeface="Times New Roman"/>
              </a:rPr>
              <a:t>Peter </a:t>
            </a:r>
            <a:r>
              <a:rPr sz="2800">
                <a:latin typeface="Times New Roman"/>
              </a:rPr>
              <a:t>and </a:t>
            </a:r>
            <a:r>
              <a:rPr sz="2800">
                <a:latin typeface="Times New Roman"/>
              </a:rPr>
              <a:t>all </a:t>
            </a:r>
            <a:r>
              <a:rPr sz="2800">
                <a:latin typeface="Times New Roman"/>
              </a:rPr>
              <a:t>his </a:t>
            </a:r>
            <a:r>
              <a:rPr sz="2800">
                <a:latin typeface="Times New Roman"/>
              </a:rPr>
              <a:t>companions </a:t>
            </a:r>
            <a:r>
              <a:rPr sz="2800">
                <a:latin typeface="Times New Roman"/>
              </a:rPr>
              <a:t>were </a:t>
            </a:r>
            <a:r>
              <a:rPr sz="2800">
                <a:latin typeface="Times New Roman"/>
              </a:rPr>
              <a:t>able </a:t>
            </a:r>
            <a:r>
              <a:rPr sz="2800">
                <a:latin typeface="Times New Roman"/>
              </a:rPr>
              <a:t>to </a:t>
            </a:r>
            <a:r>
              <a:rPr sz="2800">
                <a:latin typeface="Times New Roman"/>
              </a:rPr>
              <a:t>cast </a:t>
            </a:r>
            <a:r>
              <a:rPr sz="2800">
                <a:latin typeface="Times New Roman"/>
              </a:rPr>
              <a:t>out </a:t>
            </a:r>
            <a:r>
              <a:rPr sz="2800">
                <a:latin typeface="Times New Roman"/>
              </a:rPr>
              <a:t>their </a:t>
            </a:r>
            <a:r>
              <a:rPr sz="2800">
                <a:latin typeface="Times New Roman"/>
              </a:rPr>
              <a:t>nets </a:t>
            </a:r>
            <a:r>
              <a:rPr sz="2800">
                <a:latin typeface="Times New Roman"/>
              </a:rPr>
              <a:t>to </a:t>
            </a:r>
            <a:r>
              <a:rPr sz="2800">
                <a:latin typeface="Times New Roman"/>
              </a:rPr>
              <a:t>catch </a:t>
            </a:r>
            <a:r>
              <a:rPr sz="2800">
                <a:latin typeface="Times New Roman"/>
              </a:rPr>
              <a:t>great </a:t>
            </a:r>
            <a:r>
              <a:rPr sz="2800">
                <a:latin typeface="Times New Roman"/>
              </a:rPr>
              <a:t>fish </a:t>
            </a:r>
            <a:r>
              <a:rPr sz="2800">
                <a:latin typeface="Times New Roman"/>
              </a:rPr>
              <a:t>after </a:t>
            </a:r>
            <a:r>
              <a:rPr sz="2800">
                <a:latin typeface="Times New Roman"/>
              </a:rPr>
              <a:t>Peter </a:t>
            </a:r>
            <a:r>
              <a:rPr sz="2800">
                <a:latin typeface="Times New Roman"/>
              </a:rPr>
              <a:t>had </a:t>
            </a:r>
            <a:r>
              <a:rPr sz="2800">
                <a:latin typeface="Times New Roman"/>
              </a:rPr>
              <a:t>exalted </a:t>
            </a:r>
            <a:r>
              <a:rPr sz="2800">
                <a:latin typeface="Times New Roman"/>
              </a:rPr>
              <a:t>the </a:t>
            </a:r>
            <a:r>
              <a:rPr sz="2800">
                <a:latin typeface="Times New Roman"/>
              </a:rPr>
              <a:t>faith.</a:t>
            </a:r>
          </a:p>
          <a:p>
            <a:pPr algn="r"/>
            <a:r>
              <a:rPr sz="2000">
                <a:latin typeface="Times New Roman"/>
              </a:rPr>
              <a:t>Cusanus, </a:t>
            </a:r>
            <a:r>
              <a:rPr sz="2000">
                <a:latin typeface="Times New Roman"/>
              </a:rPr>
              <a:t>Sermo </a:t>
            </a:r>
            <a:r>
              <a:rPr sz="2000">
                <a:latin typeface="Times New Roman"/>
              </a:rPr>
              <a:t>CXCIII </a:t>
            </a:r>
            <a:r>
              <a:rPr sz="2000">
                <a:latin typeface="Times New Roman"/>
              </a:rPr>
              <a:t>No </a:t>
            </a:r>
            <a:r>
              <a:rPr sz="2000">
                <a:latin typeface="Times New Roman"/>
              </a:rPr>
              <a:t>6 </a:t>
            </a:r>
            <a:r>
              <a:rPr sz="2000">
                <a:latin typeface="Times New Roman"/>
              </a:rPr>
              <a:t>(6.7.1455)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FF2B5EF4-FFF2-40B4-BE49-F238E27FC236}">
                <a16:creationId xmlns:a16="http://schemas.microsoft.com/office/drawing/2014/main" id="{DA091CDF-D35D-03E1-1044-FB16805F51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42000" contrast="-36000"/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500"/>
                    </a14:imgEffect>
                    <a14:imgEffect>
                      <a14:saturation sat="6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5307" y="0"/>
            <a:ext cx="9958387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9960655B-5A7C-5767-18E2-3D7FC4AE8B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5936" y="1135254"/>
            <a:ext cx="4643437" cy="4587491"/>
          </a:xfrm>
          <a:prstGeom prst="rect">
            <a:avLst/>
          </a:prstGeom>
          <a:solidFill>
            <a:schemeClr val="bg2">
              <a:alpha val="58351"/>
            </a:schemeClr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FF33"/>
              </a:buClr>
              <a:buSzPct val="70000"/>
              <a:buFont typeface="Wingdings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buChar char="n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CC"/>
              </a:buClr>
              <a:buSzPct val="65000"/>
              <a:buFont typeface="Wingdings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rPr sz="3400">
                <a:latin typeface="Times New Roman"/>
              </a:rPr>
              <a:t>Always </a:t>
            </a:r>
            <a:r>
              <a:rPr sz="3400">
                <a:latin typeface="Times New Roman"/>
              </a:rPr>
              <a:t>be </a:t>
            </a:r>
            <a:r>
              <a:rPr sz="3400">
                <a:latin typeface="Times New Roman"/>
              </a:rPr>
              <a:t>ready </a:t>
            </a:r>
            <a:r>
              <a:rPr sz="3400">
                <a:latin typeface="Times New Roman"/>
              </a:rPr>
              <a:t>to </a:t>
            </a:r>
            <a:r>
              <a:rPr sz="3400">
                <a:latin typeface="Times New Roman"/>
              </a:rPr>
              <a:t>give </a:t>
            </a:r>
            <a:r>
              <a:rPr sz="3400">
                <a:latin typeface="Times New Roman"/>
              </a:rPr>
              <a:t>an </a:t>
            </a:r>
            <a:r>
              <a:rPr sz="3400">
                <a:latin typeface="Times New Roman"/>
              </a:rPr>
              <a:t>account </a:t>
            </a:r>
            <a:r>
              <a:rPr sz="3400">
                <a:latin typeface="Times New Roman"/>
              </a:rPr>
              <a:t>of </a:t>
            </a:r>
            <a:r>
              <a:rPr sz="3400">
                <a:latin typeface="Times New Roman"/>
              </a:rPr>
              <a:t>your </a:t>
            </a:r>
            <a:r>
              <a:rPr sz="3400">
                <a:latin typeface="Times New Roman"/>
              </a:rPr>
              <a:t>hope </a:t>
            </a:r>
            <a:r>
              <a:rPr sz="3400">
                <a:latin typeface="Times New Roman"/>
              </a:rPr>
              <a:t>to </a:t>
            </a:r>
            <a:r>
              <a:rPr sz="3400">
                <a:latin typeface="Times New Roman"/>
              </a:rPr>
              <a:t>anyone </a:t>
            </a:r>
            <a:r>
              <a:rPr sz="3400">
                <a:latin typeface="Times New Roman"/>
              </a:rPr>
              <a:t>who </a:t>
            </a:r>
            <a:r>
              <a:rPr sz="3400">
                <a:latin typeface="Times New Roman"/>
              </a:rPr>
              <a:t>asks </a:t>
            </a:r>
            <a:r>
              <a:rPr sz="3400">
                <a:latin typeface="Times New Roman"/>
              </a:rPr>
              <a:t>you </a:t>
            </a:r>
            <a:r>
              <a:rPr sz="3400">
                <a:latin typeface="Times New Roman"/>
              </a:rPr>
              <a:t>for </a:t>
            </a:r>
            <a:r>
              <a:rPr sz="3400">
                <a:latin typeface="Times New Roman"/>
              </a:rPr>
              <a:t>it.</a:t>
            </a:r>
          </a:p>
          <a:p>
            <a:pPr algn="r"/>
            <a:r>
              <a:rPr sz="3400">
                <a:latin typeface="Times New Roman"/>
              </a:rPr>
              <a:t>1 </a:t>
            </a:r>
            <a:r>
              <a:rPr sz="3400">
                <a:latin typeface="Times New Roman"/>
              </a:rPr>
              <a:t>Peter </a:t>
            </a:r>
            <a:r>
              <a:rPr sz="3400">
                <a:latin typeface="Times New Roman"/>
              </a:rPr>
              <a:t>3:15</a:t>
            </a:r>
          </a:p>
        </p:txBody>
      </p:sp>
    </p:spTree>
    <p:extLst>
      <p:ext uri="{BB962C8B-B14F-4D97-AF65-F5344CB8AC3E}">
        <p14:creationId xmlns:p14="http://schemas.microsoft.com/office/powerpoint/2010/main" val="21969086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52809-51F1-7F4B-6461-D0FB6AAB0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7" name="Picture 4">
            <a:extLst>
              <a:ext uri="{FF2B5EF4-FFF2-40B4-BE49-F238E27FC236}">
                <a16:creationId xmlns:a16="http://schemas.microsoft.com/office/drawing/2014/main" id="{984A2B9B-640B-F984-E004-C4BFD438A5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0" y="673573"/>
            <a:ext cx="8964487" cy="1631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18" name="Rectangle 5">
            <a:extLst>
              <a:ext uri="{FF2B5EF4-FFF2-40B4-BE49-F238E27FC236}">
                <a16:creationId xmlns:a16="http://schemas.microsoft.com/office/drawing/2014/main" id="{B05ED02C-7A23-E2EE-CB41-4820E79C44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193"/>
            <a:ext cx="9252520" cy="594518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609600" indent="-609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1341438" indent="-5334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978025" indent="-4572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2538413" indent="-3810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3098800" indent="-3810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35560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40132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44704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9276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/>
            <a:r>
              <a:rPr sz="2800">
                <a:solidFill>
                  <a:srgbClr val="92D050"/>
                </a:solidFill>
                <a:latin typeface="Calibri"/>
              </a:rPr>
              <a:t>Method </a:t>
            </a:r>
            <a:r>
              <a:rPr sz="2800">
                <a:solidFill>
                  <a:srgbClr val="92D050"/>
                </a:solidFill>
                <a:latin typeface="Calibri"/>
              </a:rPr>
              <a:t>of </a:t>
            </a:r>
            <a:r>
              <a:rPr sz="2800">
                <a:solidFill>
                  <a:srgbClr val="92D050"/>
                </a:solidFill>
                <a:latin typeface="Calibri"/>
              </a:rPr>
              <a:t>theology</a:t>
            </a:r>
          </a:p>
          <a:p>
            <a:pPr/>
            <a:r>
              <a:rPr sz="1800">
                <a:latin typeface="Calibri"/>
              </a:rPr>
              <a:t>Theology </a:t>
            </a:r>
            <a:r>
              <a:rPr sz="1800">
                <a:latin typeface="Calibri"/>
              </a:rPr>
              <a:t>works </a:t>
            </a:r>
            <a:r>
              <a:rPr sz="1800">
                <a:latin typeface="Calibri"/>
              </a:rPr>
              <a:t>in </a:t>
            </a:r>
            <a:r>
              <a:rPr sz="1800">
                <a:latin typeface="Calibri"/>
              </a:rPr>
              <a:t>the </a:t>
            </a:r>
            <a:r>
              <a:rPr sz="1800">
                <a:latin typeface="Calibri"/>
              </a:rPr>
              <a:t>mode </a:t>
            </a:r>
            <a:r>
              <a:rPr sz="1800">
                <a:latin typeface="Calibri"/>
              </a:rPr>
              <a:t>of </a:t>
            </a:r>
            <a:r>
              <a:rPr sz="1800">
                <a:latin typeface="Calibri"/>
              </a:rPr>
              <a:t>limitation </a:t>
            </a:r>
            <a:r>
              <a:rPr sz="1800">
                <a:latin typeface="Calibri"/>
              </a:rPr>
              <a:t>and </a:t>
            </a:r>
            <a:r>
              <a:rPr sz="1800">
                <a:latin typeface="Calibri"/>
              </a:rPr>
              <a:t>return </a:t>
            </a:r>
            <a:r>
              <a:rPr sz="1800">
                <a:latin typeface="Calibri"/>
              </a:rPr>
              <a:t>to </a:t>
            </a:r>
            <a:r>
              <a:rPr sz="1800">
                <a:latin typeface="Calibri"/>
              </a:rPr>
              <a:t>the </a:t>
            </a:r>
            <a:r>
              <a:rPr sz="1800">
                <a:latin typeface="Calibri"/>
              </a:rPr>
              <a:t>absolute </a:t>
            </a:r>
            <a:r>
              <a:rPr sz="1800">
                <a:latin typeface="Calibri"/>
              </a:rPr>
              <a:t>basis </a:t>
            </a:r>
            <a:r>
              <a:rPr sz="1800">
                <a:latin typeface="Calibri"/>
              </a:rPr>
              <a:t>of </a:t>
            </a:r>
            <a:r>
              <a:rPr sz="1800">
                <a:latin typeface="Calibri"/>
              </a:rPr>
              <a:t>all </a:t>
            </a:r>
            <a:r>
              <a:rPr sz="1800">
                <a:latin typeface="Calibri"/>
              </a:rPr>
              <a:t>reality</a:t>
            </a:r>
          </a:p>
          <a:p>
            <a:pPr/>
            <a:r>
              <a:rPr sz="1800">
                <a:latin typeface="Calibri"/>
              </a:rPr>
              <a:t>indistinguishable </a:t>
            </a:r>
            <a:r>
              <a:rPr sz="1800">
                <a:latin typeface="Calibri"/>
              </a:rPr>
              <a:t>from </a:t>
            </a:r>
            <a:r>
              <a:rPr sz="1800">
                <a:latin typeface="Calibri"/>
              </a:rPr>
              <a:t>the </a:t>
            </a:r>
            <a:r>
              <a:rPr sz="1800">
                <a:latin typeface="Calibri"/>
              </a:rPr>
              <a:t>scientiae, </a:t>
            </a:r>
            <a:r>
              <a:rPr sz="1800">
                <a:latin typeface="Calibri"/>
              </a:rPr>
              <a:t>insofar </a:t>
            </a:r>
            <a:r>
              <a:rPr sz="1800">
                <a:latin typeface="Calibri"/>
              </a:rPr>
              <a:t>as </a:t>
            </a:r>
            <a:r>
              <a:rPr sz="1800">
                <a:latin typeface="Calibri"/>
              </a:rPr>
              <a:t>they </a:t>
            </a:r>
            <a:r>
              <a:rPr sz="1800">
                <a:latin typeface="Calibri"/>
              </a:rPr>
              <a:t>contribute </a:t>
            </a:r>
            <a:r>
              <a:rPr sz="1800">
                <a:latin typeface="Calibri"/>
              </a:rPr>
              <a:t>to </a:t>
            </a:r>
            <a:r>
              <a:rPr sz="1800">
                <a:latin typeface="Calibri"/>
              </a:rPr>
              <a:t>the </a:t>
            </a:r>
            <a:r>
              <a:rPr sz="1800">
                <a:latin typeface="Calibri"/>
              </a:rPr>
              <a:t>completion </a:t>
            </a:r>
            <a:r>
              <a:rPr sz="1800">
                <a:latin typeface="Calibri"/>
              </a:rPr>
              <a:t>of </a:t>
            </a:r>
            <a:r>
              <a:rPr sz="1800">
                <a:latin typeface="Calibri"/>
              </a:rPr>
              <a:t>human </a:t>
            </a:r>
            <a:r>
              <a:rPr sz="1800">
                <a:latin typeface="Calibri"/>
              </a:rPr>
              <a:t>search </a:t>
            </a:r>
            <a:r>
              <a:rPr sz="1800">
                <a:latin typeface="Calibri"/>
              </a:rPr>
              <a:t>for </a:t>
            </a:r>
            <a:r>
              <a:rPr sz="1800">
                <a:latin typeface="Calibri"/>
              </a:rPr>
              <a:t>truth </a:t>
            </a:r>
            <a:r>
              <a:rPr sz="1800">
                <a:latin typeface="Calibri"/>
              </a:rPr>
              <a:t>whose </a:t>
            </a:r>
            <a:r>
              <a:rPr sz="1800">
                <a:latin typeface="Calibri"/>
              </a:rPr>
              <a:t>full </a:t>
            </a:r>
            <a:r>
              <a:rPr sz="1800">
                <a:latin typeface="Calibri"/>
              </a:rPr>
              <a:t>meaning </a:t>
            </a:r>
            <a:r>
              <a:rPr sz="1800">
                <a:latin typeface="Calibri"/>
              </a:rPr>
              <a:t>coincides </a:t>
            </a:r>
            <a:r>
              <a:rPr sz="1800">
                <a:latin typeface="Calibri"/>
              </a:rPr>
              <a:t>with </a:t>
            </a:r>
            <a:r>
              <a:rPr sz="1800">
                <a:latin typeface="Calibri"/>
              </a:rPr>
              <a:t>the </a:t>
            </a:r>
            <a:r>
              <a:rPr sz="1800">
                <a:latin typeface="Calibri"/>
              </a:rPr>
              <a:t>transcendent </a:t>
            </a:r>
            <a:r>
              <a:rPr sz="1800">
                <a:latin typeface="Calibri"/>
              </a:rPr>
              <a:t>unity </a:t>
            </a:r>
            <a:r>
              <a:rPr sz="1800">
                <a:latin typeface="Calibri"/>
              </a:rPr>
              <a:t>of </a:t>
            </a:r>
            <a:r>
              <a:rPr sz="1800">
                <a:latin typeface="Calibri"/>
              </a:rPr>
              <a:t>knowledge</a:t>
            </a:r>
          </a:p>
          <a:p>
            <a:pPr/>
            <a:r>
              <a:rPr sz="1800">
                <a:latin typeface="Calibri"/>
              </a:rPr>
              <a:t>In </a:t>
            </a:r>
            <a:r>
              <a:rPr sz="1800">
                <a:latin typeface="Calibri"/>
              </a:rPr>
              <a:t>this </a:t>
            </a:r>
            <a:r>
              <a:rPr sz="1800">
                <a:latin typeface="Calibri"/>
              </a:rPr>
              <a:t>context </a:t>
            </a:r>
            <a:r>
              <a:rPr sz="1800">
                <a:latin typeface="Calibri"/>
              </a:rPr>
              <a:t>different, </a:t>
            </a:r>
            <a:r>
              <a:rPr sz="1800">
                <a:latin typeface="Calibri"/>
              </a:rPr>
              <a:t>insofar </a:t>
            </a:r>
            <a:r>
              <a:rPr sz="1800">
                <a:latin typeface="Calibri"/>
              </a:rPr>
              <a:t>as </a:t>
            </a:r>
            <a:r>
              <a:rPr sz="1800">
                <a:latin typeface="Calibri"/>
              </a:rPr>
              <a:t>theology </a:t>
            </a:r>
            <a:r>
              <a:rPr i="1" sz="1800">
                <a:latin typeface="Calibri"/>
              </a:rPr>
              <a:t>explicitly </a:t>
            </a:r>
            <a:r>
              <a:rPr sz="1800">
                <a:latin typeface="Calibri"/>
              </a:rPr>
              <a:t>reflects </a:t>
            </a:r>
            <a:r>
              <a:rPr sz="1800">
                <a:latin typeface="Calibri"/>
              </a:rPr>
              <a:t>the </a:t>
            </a:r>
            <a:r>
              <a:rPr sz="1800">
                <a:latin typeface="Calibri"/>
              </a:rPr>
              <a:t>conditions </a:t>
            </a:r>
            <a:r>
              <a:rPr sz="1800">
                <a:latin typeface="Calibri"/>
              </a:rPr>
              <a:t>of </a:t>
            </a:r>
            <a:r>
              <a:rPr sz="1800">
                <a:latin typeface="Calibri"/>
              </a:rPr>
              <a:t>possibility </a:t>
            </a:r>
            <a:r>
              <a:rPr sz="1800">
                <a:latin typeface="Calibri"/>
              </a:rPr>
              <a:t>for </a:t>
            </a:r>
            <a:r>
              <a:rPr sz="1800">
                <a:latin typeface="Calibri"/>
              </a:rPr>
              <a:t>any </a:t>
            </a:r>
            <a:r>
              <a:rPr sz="1800">
                <a:latin typeface="Calibri"/>
              </a:rPr>
              <a:t>search </a:t>
            </a:r>
            <a:r>
              <a:rPr sz="1800">
                <a:latin typeface="Calibri"/>
              </a:rPr>
              <a:t>for </a:t>
            </a:r>
            <a:r>
              <a:rPr sz="1800">
                <a:latin typeface="Calibri"/>
              </a:rPr>
              <a:t>knowledge:</a:t>
            </a:r>
          </a:p>
          <a:p>
            <a:pPr lvl="1"/>
            <a:r>
              <a:rPr sz="1800">
                <a:latin typeface="Calibri"/>
              </a:rPr>
              <a:t>The </a:t>
            </a:r>
            <a:r>
              <a:rPr sz="1800">
                <a:latin typeface="Calibri"/>
              </a:rPr>
              <a:t>Transcendent </a:t>
            </a:r>
            <a:r>
              <a:rPr sz="1800">
                <a:latin typeface="Calibri"/>
              </a:rPr>
              <a:t>Basis </a:t>
            </a:r>
            <a:r>
              <a:rPr sz="1800">
                <a:latin typeface="Calibri"/>
              </a:rPr>
              <a:t>of </a:t>
            </a:r>
            <a:r>
              <a:rPr sz="1800">
                <a:latin typeface="Calibri"/>
              </a:rPr>
              <a:t>Knowledge</a:t>
            </a:r>
          </a:p>
          <a:p>
            <a:pPr lvl="1"/>
            <a:r>
              <a:rPr sz="1800">
                <a:latin typeface="Calibri"/>
              </a:rPr>
              <a:t>The </a:t>
            </a:r>
            <a:r>
              <a:rPr sz="1800">
                <a:latin typeface="Calibri"/>
              </a:rPr>
              <a:t>fides </a:t>
            </a:r>
            <a:r>
              <a:rPr sz="1800">
                <a:latin typeface="Calibri"/>
              </a:rPr>
              <a:t>into </a:t>
            </a:r>
            <a:r>
              <a:rPr sz="1800">
                <a:latin typeface="Calibri"/>
              </a:rPr>
              <a:t>the </a:t>
            </a:r>
            <a:r>
              <a:rPr sz="1800">
                <a:latin typeface="Calibri"/>
              </a:rPr>
              <a:t>meaningfulness </a:t>
            </a:r>
            <a:r>
              <a:rPr sz="1800">
                <a:latin typeface="Calibri"/>
              </a:rPr>
              <a:t>of </a:t>
            </a:r>
            <a:r>
              <a:rPr sz="1800">
                <a:latin typeface="Calibri"/>
              </a:rPr>
              <a:t>reality</a:t>
            </a:r>
          </a:p>
          <a:p>
            <a:pPr lvl="1"/>
            <a:r>
              <a:rPr sz="1800">
                <a:latin typeface="Calibri"/>
              </a:rPr>
              <a:t>... </a:t>
            </a:r>
            <a:r>
              <a:rPr sz="1800">
                <a:latin typeface="Calibri"/>
              </a:rPr>
              <a:t>as </a:t>
            </a:r>
            <a:r>
              <a:rPr sz="1800">
                <a:latin typeface="Calibri"/>
              </a:rPr>
              <a:t>it </a:t>
            </a:r>
            <a:r>
              <a:rPr sz="1800">
                <a:latin typeface="Calibri"/>
              </a:rPr>
              <a:t>ever </a:t>
            </a:r>
            <a:r>
              <a:rPr sz="1800">
                <a:latin typeface="Calibri"/>
              </a:rPr>
              <a:t>really </a:t>
            </a:r>
            <a:r>
              <a:rPr sz="1800">
                <a:latin typeface="Calibri"/>
              </a:rPr>
              <a:t>is </a:t>
            </a:r>
            <a:r>
              <a:rPr sz="1800">
                <a:latin typeface="Calibri"/>
              </a:rPr>
              <a:t>in </a:t>
            </a:r>
            <a:r>
              <a:rPr sz="1800">
                <a:latin typeface="Calibri"/>
              </a:rPr>
              <a:t>contingent </a:t>
            </a:r>
            <a:r>
              <a:rPr sz="1800">
                <a:latin typeface="Calibri"/>
              </a:rPr>
              <a:t>conditions</a:t>
            </a:r>
          </a:p>
          <a:p>
            <a:pPr/>
            <a:r>
              <a:rPr sz="1800">
                <a:latin typeface="Calibri"/>
              </a:rPr>
              <a:t>This </a:t>
            </a:r>
            <a:r>
              <a:rPr sz="1800">
                <a:latin typeface="Calibri"/>
              </a:rPr>
              <a:t>is </a:t>
            </a:r>
            <a:r>
              <a:rPr sz="1800">
                <a:latin typeface="Calibri"/>
              </a:rPr>
              <a:t>a </a:t>
            </a:r>
            <a:r>
              <a:rPr sz="1800">
                <a:latin typeface="Calibri"/>
              </a:rPr>
              <a:t>very </a:t>
            </a:r>
            <a:r>
              <a:rPr sz="1800">
                <a:latin typeface="Calibri"/>
              </a:rPr>
              <a:t>important </a:t>
            </a:r>
            <a:r>
              <a:rPr sz="1800">
                <a:latin typeface="Calibri"/>
              </a:rPr>
              <a:t>aspect </a:t>
            </a:r>
            <a:r>
              <a:rPr sz="1800">
                <a:latin typeface="Calibri"/>
              </a:rPr>
              <a:t>of </a:t>
            </a:r>
            <a:r>
              <a:rPr sz="1800">
                <a:latin typeface="Calibri"/>
              </a:rPr>
              <a:t>the </a:t>
            </a:r>
            <a:r>
              <a:rPr sz="1800">
                <a:latin typeface="Calibri"/>
              </a:rPr>
              <a:t>European </a:t>
            </a:r>
            <a:r>
              <a:rPr sz="1800">
                <a:latin typeface="Calibri"/>
              </a:rPr>
              <a:t>Union's </a:t>
            </a:r>
            <a:r>
              <a:rPr sz="1800">
                <a:latin typeface="Calibri"/>
              </a:rPr>
              <a:t>strategy.</a:t>
            </a:r>
          </a:p>
          <a:p>
            <a:pPr/>
            <a:r>
              <a:rPr sz="1800">
                <a:latin typeface="Calibri"/>
              </a:rPr>
              <a:t>aigmatic </a:t>
            </a:r>
            <a:r>
              <a:rPr sz="1800">
                <a:latin typeface="Calibri"/>
              </a:rPr>
              <a:t>use </a:t>
            </a:r>
            <a:r>
              <a:rPr sz="1800">
                <a:latin typeface="Calibri"/>
              </a:rPr>
              <a:t>(mathematical) </a:t>
            </a:r>
            <a:r>
              <a:rPr sz="1800">
                <a:latin typeface="Calibri"/>
              </a:rPr>
              <a:t>symbols</a:t>
            </a:r>
          </a:p>
          <a:p>
            <a:pPr/>
          </a:p>
          <a:p>
            <a:pPr lvl="1"/>
          </a:p>
          <a:p>
            <a:pPr lvl="1"/>
          </a:p>
          <a:p>
            <a:pPr lvl="1"/>
          </a:p>
          <a:p>
            <a:pPr lvl="5"/>
          </a:p>
          <a:p>
            <a:pPr/>
          </a:p>
        </p:txBody>
      </p:sp>
      <p:sp>
        <p:nvSpPr>
          <p:cNvPr id="9219" name="Rectangle 6">
            <a:extLst>
              <a:ext uri="{FF2B5EF4-FFF2-40B4-BE49-F238E27FC236}">
                <a16:creationId xmlns:a16="http://schemas.microsoft.com/office/drawing/2014/main" id="{AE6684B5-93BB-5B4B-2C4E-7B5BD37CA5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15987"/>
            <a:ext cx="8208963" cy="720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1341438" indent="-5334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978025" indent="-4572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2538413" indent="-3810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3098800" indent="-3810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35560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40132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44704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9276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/>
            <a:r>
              <a:rPr sz="3200">
                <a:latin typeface="Calibri"/>
              </a:rPr>
              <a:t>Basic </a:t>
            </a:r>
            <a:r>
              <a:rPr sz="3200">
                <a:latin typeface="Calibri"/>
              </a:rPr>
              <a:t>questions </a:t>
            </a:r>
            <a:r>
              <a:rPr sz="3200">
                <a:latin typeface="Calibri"/>
              </a:rPr>
              <a:t>of </a:t>
            </a:r>
            <a:r>
              <a:rPr sz="3200">
                <a:latin typeface="Calibri"/>
              </a:rPr>
              <a:t>theological </a:t>
            </a:r>
            <a:r>
              <a:rPr sz="3200">
                <a:latin typeface="Calibri"/>
              </a:rPr>
              <a:t>science </a:t>
            </a:r>
            <a:r>
              <a:rPr sz="3200">
                <a:latin typeface="Calibri"/>
              </a:rPr>
              <a:t>theory</a:t>
            </a:r>
          </a:p>
        </p:txBody>
      </p:sp>
    </p:spTree>
    <p:extLst>
      <p:ext uri="{BB962C8B-B14F-4D97-AF65-F5344CB8AC3E}">
        <p14:creationId xmlns:p14="http://schemas.microsoft.com/office/powerpoint/2010/main" val="37325234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F77B2-2BF0-5E13-997A-12781432D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7" name="Picture 4">
            <a:extLst>
              <a:ext uri="{FF2B5EF4-FFF2-40B4-BE49-F238E27FC236}">
                <a16:creationId xmlns:a16="http://schemas.microsoft.com/office/drawing/2014/main" id="{ACF9BD19-90F0-FEAD-8D05-126EAB056C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0" y="673573"/>
            <a:ext cx="8964487" cy="1631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18" name="Rectangle 5">
            <a:extLst>
              <a:ext uri="{FF2B5EF4-FFF2-40B4-BE49-F238E27FC236}">
                <a16:creationId xmlns:a16="http://schemas.microsoft.com/office/drawing/2014/main" id="{7487D851-0F06-8480-1E05-B23ECCC9DC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193"/>
            <a:ext cx="9144000" cy="594518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609600" indent="-609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1341438" indent="-5334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978025" indent="-4572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2538413" indent="-3810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3098800" indent="-3810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35560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40132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44704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9276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/>
            <a:r>
              <a:rPr sz="2800">
                <a:solidFill>
                  <a:srgbClr val="92D050"/>
                </a:solidFill>
                <a:latin typeface="Calibri"/>
              </a:rPr>
              <a:t>5. </a:t>
            </a:r>
            <a:r>
              <a:rPr sz="2800">
                <a:solidFill>
                  <a:srgbClr val="92D050"/>
                </a:solidFill>
                <a:latin typeface="Calibri"/>
              </a:rPr>
              <a:t>certainty </a:t>
            </a:r>
            <a:r>
              <a:rPr sz="2800">
                <a:solidFill>
                  <a:srgbClr val="92D050"/>
                </a:solidFill>
                <a:latin typeface="Calibri"/>
              </a:rPr>
              <a:t>and </a:t>
            </a:r>
            <a:r>
              <a:rPr sz="2800">
                <a:solidFill>
                  <a:srgbClr val="92D050"/>
                </a:solidFill>
                <a:latin typeface="Calibri"/>
              </a:rPr>
              <a:t>epistemic </a:t>
            </a:r>
            <a:r>
              <a:rPr sz="2800">
                <a:solidFill>
                  <a:srgbClr val="92D050"/>
                </a:solidFill>
                <a:latin typeface="Calibri"/>
              </a:rPr>
              <a:t>status </a:t>
            </a:r>
            <a:r>
              <a:rPr sz="2800">
                <a:solidFill>
                  <a:srgbClr val="92D050"/>
                </a:solidFill>
                <a:latin typeface="Calibri"/>
              </a:rPr>
              <a:t>of </a:t>
            </a:r>
            <a:r>
              <a:rPr sz="2800">
                <a:solidFill>
                  <a:srgbClr val="92D050"/>
                </a:solidFill>
                <a:latin typeface="Calibri"/>
              </a:rPr>
              <a:t>theology</a:t>
            </a:r>
          </a:p>
          <a:p>
            <a:pPr/>
            <a:r>
              <a:rPr sz="2000">
                <a:latin typeface="Calibri"/>
              </a:rPr>
              <a:t>Based </a:t>
            </a:r>
            <a:r>
              <a:rPr sz="2000">
                <a:latin typeface="Calibri"/>
              </a:rPr>
              <a:t>on </a:t>
            </a:r>
            <a:r>
              <a:rPr sz="2000">
                <a:latin typeface="Calibri"/>
              </a:rPr>
              <a:t>the </a:t>
            </a:r>
            <a:r>
              <a:rPr sz="2000">
                <a:latin typeface="Calibri"/>
              </a:rPr>
              <a:t>act </a:t>
            </a:r>
            <a:r>
              <a:rPr sz="2000">
                <a:latin typeface="Calibri"/>
              </a:rPr>
              <a:t>and </a:t>
            </a:r>
            <a:r>
              <a:rPr sz="2000">
                <a:latin typeface="Calibri"/>
              </a:rPr>
              <a:t>habits </a:t>
            </a:r>
            <a:r>
              <a:rPr sz="2000">
                <a:latin typeface="Calibri"/>
              </a:rPr>
              <a:t>of </a:t>
            </a:r>
            <a:r>
              <a:rPr sz="2000">
                <a:latin typeface="Calibri"/>
              </a:rPr>
              <a:t>faith.</a:t>
            </a:r>
          </a:p>
          <a:p>
            <a:pPr/>
            <a:r>
              <a:rPr sz="2000">
                <a:latin typeface="Calibri"/>
              </a:rPr>
              <a:t>certain </a:t>
            </a:r>
            <a:r>
              <a:rPr sz="2000">
                <a:latin typeface="Calibri"/>
              </a:rPr>
              <a:t>because </a:t>
            </a:r>
            <a:r>
              <a:rPr sz="2000">
                <a:latin typeface="Calibri"/>
              </a:rPr>
              <a:t>they </a:t>
            </a:r>
            <a:r>
              <a:rPr sz="2000">
                <a:latin typeface="Calibri"/>
              </a:rPr>
              <a:t>are </a:t>
            </a:r>
            <a:r>
              <a:rPr sz="2000">
                <a:latin typeface="Calibri"/>
              </a:rPr>
              <a:t>based </a:t>
            </a:r>
            <a:r>
              <a:rPr sz="2000">
                <a:latin typeface="Calibri"/>
              </a:rPr>
              <a:t>on </a:t>
            </a:r>
            <a:r>
              <a:rPr sz="2000">
                <a:latin typeface="Calibri"/>
              </a:rPr>
              <a:t>visio </a:t>
            </a:r>
            <a:r>
              <a:rPr sz="2000">
                <a:latin typeface="Calibri"/>
              </a:rPr>
              <a:t>intellectualis </a:t>
            </a:r>
            <a:r>
              <a:rPr sz="2000">
                <a:latin typeface="Calibri"/>
              </a:rPr>
              <a:t>(Nota </a:t>
            </a:r>
            <a:r>
              <a:rPr sz="2000">
                <a:latin typeface="Calibri"/>
              </a:rPr>
              <a:t>marg. </a:t>
            </a:r>
            <a:r>
              <a:rPr sz="2000">
                <a:latin typeface="Calibri"/>
              </a:rPr>
              <a:t>In </a:t>
            </a:r>
            <a:r>
              <a:rPr sz="2000">
                <a:latin typeface="Calibri"/>
              </a:rPr>
              <a:t>Cod. </a:t>
            </a:r>
            <a:r>
              <a:rPr sz="2000">
                <a:latin typeface="Calibri"/>
              </a:rPr>
              <a:t>Cus. </a:t>
            </a:r>
            <a:r>
              <a:rPr sz="2000">
                <a:latin typeface="Calibri"/>
              </a:rPr>
              <a:t>184 </a:t>
            </a:r>
            <a:r>
              <a:rPr sz="2000">
                <a:latin typeface="Calibri"/>
              </a:rPr>
              <a:t>f. </a:t>
            </a:r>
            <a:r>
              <a:rPr sz="2000">
                <a:latin typeface="Calibri"/>
              </a:rPr>
              <a:t>12r) </a:t>
            </a:r>
            <a:r>
              <a:rPr sz="2000">
                <a:latin typeface="Calibri"/>
              </a:rPr>
              <a:t>and </a:t>
            </a:r>
            <a:r>
              <a:rPr sz="2000">
                <a:latin typeface="Calibri"/>
              </a:rPr>
              <a:t>already </a:t>
            </a:r>
            <a:r>
              <a:rPr sz="2000">
                <a:latin typeface="Calibri"/>
              </a:rPr>
              <a:t>participating </a:t>
            </a:r>
            <a:r>
              <a:rPr sz="2000">
                <a:latin typeface="Calibri"/>
              </a:rPr>
              <a:t>in </a:t>
            </a:r>
            <a:r>
              <a:rPr sz="2000">
                <a:latin typeface="Calibri"/>
              </a:rPr>
              <a:t>it </a:t>
            </a:r>
            <a:r>
              <a:rPr sz="2000">
                <a:latin typeface="Calibri"/>
              </a:rPr>
              <a:t>(see </a:t>
            </a:r>
            <a:r>
              <a:rPr sz="2000">
                <a:latin typeface="Calibri"/>
              </a:rPr>
              <a:t>Sermo </a:t>
            </a:r>
            <a:r>
              <a:rPr sz="2000">
                <a:latin typeface="Calibri"/>
              </a:rPr>
              <a:t>CCXXXII </a:t>
            </a:r>
            <a:r>
              <a:rPr sz="2000">
                <a:latin typeface="Calibri"/>
              </a:rPr>
              <a:t>n. </a:t>
            </a:r>
            <a:r>
              <a:rPr sz="2000">
                <a:latin typeface="Calibri"/>
              </a:rPr>
              <a:t>6; </a:t>
            </a:r>
            <a:r>
              <a:rPr sz="2000">
                <a:latin typeface="Calibri"/>
              </a:rPr>
              <a:t>Acceptance </a:t>
            </a:r>
            <a:r>
              <a:rPr sz="2000">
                <a:latin typeface="Calibri"/>
              </a:rPr>
              <a:t>of </a:t>
            </a:r>
            <a:r>
              <a:rPr sz="2000">
                <a:latin typeface="Calibri"/>
              </a:rPr>
              <a:t>the </a:t>
            </a:r>
            <a:r>
              <a:rPr sz="2000">
                <a:latin typeface="Calibri"/>
              </a:rPr>
              <a:t>sonship </a:t>
            </a:r>
            <a:r>
              <a:rPr sz="2000">
                <a:latin typeface="Calibri"/>
              </a:rPr>
              <a:t>of </a:t>
            </a:r>
            <a:r>
              <a:rPr sz="2000">
                <a:latin typeface="Calibri"/>
              </a:rPr>
              <a:t>God </a:t>
            </a:r>
            <a:r>
              <a:rPr sz="2000">
                <a:latin typeface="Calibri"/>
              </a:rPr>
              <a:t>in </a:t>
            </a:r>
            <a:r>
              <a:rPr sz="2000">
                <a:latin typeface="Calibri"/>
              </a:rPr>
              <a:t>Christ </a:t>
            </a:r>
            <a:r>
              <a:rPr sz="2000">
                <a:latin typeface="Calibri"/>
              </a:rPr>
              <a:t>as </a:t>
            </a:r>
            <a:r>
              <a:rPr sz="2000">
                <a:latin typeface="Calibri"/>
              </a:rPr>
              <a:t>given </a:t>
            </a:r>
            <a:r>
              <a:rPr sz="2000">
                <a:latin typeface="Calibri"/>
              </a:rPr>
              <a:t>in </a:t>
            </a:r>
            <a:r>
              <a:rPr sz="2000">
                <a:latin typeface="Calibri"/>
              </a:rPr>
              <a:t>doctrina </a:t>
            </a:r>
            <a:r>
              <a:rPr sz="2000">
                <a:latin typeface="Calibri"/>
              </a:rPr>
              <a:t>christi: </a:t>
            </a:r>
            <a:r>
              <a:rPr sz="2000">
                <a:latin typeface="Calibri"/>
              </a:rPr>
              <a:t>Sermo </a:t>
            </a:r>
            <a:r>
              <a:rPr sz="2000">
                <a:latin typeface="Calibri"/>
              </a:rPr>
              <a:t>XXIX </a:t>
            </a:r>
            <a:r>
              <a:rPr sz="2000">
                <a:latin typeface="Calibri"/>
              </a:rPr>
              <a:t>n. </a:t>
            </a:r>
            <a:r>
              <a:rPr sz="2000">
                <a:latin typeface="Calibri"/>
              </a:rPr>
              <a:t>2; </a:t>
            </a:r>
            <a:r>
              <a:rPr sz="2000">
                <a:latin typeface="Calibri"/>
              </a:rPr>
              <a:t>XXIV </a:t>
            </a:r>
            <a:r>
              <a:rPr sz="2000">
                <a:latin typeface="Calibri"/>
              </a:rPr>
              <a:t>n. </a:t>
            </a:r>
            <a:r>
              <a:rPr sz="2000">
                <a:latin typeface="Calibri"/>
              </a:rPr>
              <a:t>33)</a:t>
            </a:r>
          </a:p>
          <a:p>
            <a:pPr/>
            <a:r>
              <a:rPr sz="2000">
                <a:latin typeface="Calibri"/>
              </a:rPr>
              <a:t>Speculative, </a:t>
            </a:r>
            <a:r>
              <a:rPr sz="2000">
                <a:latin typeface="Calibri"/>
              </a:rPr>
              <a:t>insofar </a:t>
            </a:r>
            <a:r>
              <a:rPr sz="2000">
                <a:latin typeface="Calibri"/>
              </a:rPr>
              <a:t>as </a:t>
            </a:r>
            <a:r>
              <a:rPr sz="2000">
                <a:latin typeface="Calibri"/>
              </a:rPr>
              <a:t>it </a:t>
            </a:r>
            <a:r>
              <a:rPr sz="2000">
                <a:latin typeface="Calibri"/>
              </a:rPr>
              <a:t>finds </a:t>
            </a:r>
            <a:r>
              <a:rPr sz="2000">
                <a:latin typeface="Calibri"/>
              </a:rPr>
              <a:t>its </a:t>
            </a:r>
            <a:r>
              <a:rPr sz="2000">
                <a:latin typeface="Calibri"/>
              </a:rPr>
              <a:t>purpose </a:t>
            </a:r>
            <a:r>
              <a:rPr sz="2000">
                <a:latin typeface="Calibri"/>
              </a:rPr>
              <a:t>in </a:t>
            </a:r>
            <a:r>
              <a:rPr sz="2000">
                <a:latin typeface="Calibri"/>
              </a:rPr>
              <a:t>contemplation </a:t>
            </a:r>
            <a:r>
              <a:rPr sz="2000">
                <a:latin typeface="Calibri"/>
              </a:rPr>
              <a:t>and </a:t>
            </a:r>
            <a:r>
              <a:rPr sz="2000">
                <a:latin typeface="Calibri"/>
              </a:rPr>
              <a:t>visio </a:t>
            </a:r>
            <a:r>
              <a:rPr sz="2000">
                <a:latin typeface="Calibri"/>
              </a:rPr>
              <a:t>intellectualis;</a:t>
            </a:r>
          </a:p>
          <a:p>
            <a:pPr/>
            <a:r>
              <a:rPr sz="2000">
                <a:latin typeface="Calibri"/>
              </a:rPr>
              <a:t>Practically, </a:t>
            </a:r>
            <a:r>
              <a:rPr sz="2000">
                <a:latin typeface="Calibri"/>
              </a:rPr>
              <a:t>because </a:t>
            </a:r>
            <a:r>
              <a:rPr sz="2000">
                <a:latin typeface="Calibri"/>
              </a:rPr>
              <a:t>this </a:t>
            </a:r>
            <a:r>
              <a:rPr sz="2000">
                <a:latin typeface="Calibri"/>
              </a:rPr>
              <a:t>endeavor </a:t>
            </a:r>
            <a:r>
              <a:rPr sz="2000">
                <a:latin typeface="Calibri"/>
              </a:rPr>
              <a:t>captures </a:t>
            </a:r>
            <a:r>
              <a:rPr sz="2000">
                <a:latin typeface="Calibri"/>
              </a:rPr>
              <a:t>the </a:t>
            </a:r>
            <a:r>
              <a:rPr sz="2000">
                <a:latin typeface="Calibri"/>
              </a:rPr>
              <a:t>whole </a:t>
            </a:r>
            <a:r>
              <a:rPr sz="2000">
                <a:latin typeface="Calibri"/>
              </a:rPr>
              <a:t>person </a:t>
            </a:r>
            <a:r>
              <a:rPr sz="2000">
                <a:latin typeface="Calibri"/>
              </a:rPr>
              <a:t>in </a:t>
            </a:r>
            <a:r>
              <a:rPr sz="2000">
                <a:latin typeface="Calibri"/>
              </a:rPr>
              <a:t>his </a:t>
            </a:r>
            <a:r>
              <a:rPr sz="2000">
                <a:latin typeface="Calibri"/>
              </a:rPr>
              <a:t>actions </a:t>
            </a:r>
            <a:r>
              <a:rPr sz="2000">
                <a:latin typeface="Calibri"/>
              </a:rPr>
              <a:t>and </a:t>
            </a:r>
            <a:r>
              <a:rPr sz="2000">
                <a:latin typeface="Calibri"/>
              </a:rPr>
              <a:t>will.</a:t>
            </a:r>
          </a:p>
          <a:p>
            <a:pPr/>
            <a:r>
              <a:rPr sz="2000">
                <a:latin typeface="Calibri"/>
              </a:rPr>
              <a:t>Determination </a:t>
            </a:r>
            <a:r>
              <a:rPr sz="2000">
                <a:latin typeface="Calibri"/>
              </a:rPr>
              <a:t>and </a:t>
            </a:r>
            <a:r>
              <a:rPr sz="2000">
                <a:latin typeface="Calibri"/>
              </a:rPr>
              <a:t>(theologically </a:t>
            </a:r>
            <a:r>
              <a:rPr sz="2000">
                <a:latin typeface="Calibri"/>
              </a:rPr>
              <a:t>justified) </a:t>
            </a:r>
            <a:r>
              <a:rPr sz="2000">
                <a:latin typeface="Calibri"/>
              </a:rPr>
              <a:t>methodical </a:t>
            </a:r>
            <a:r>
              <a:rPr sz="2000">
                <a:latin typeface="Calibri"/>
              </a:rPr>
              <a:t>suspension </a:t>
            </a:r>
            <a:r>
              <a:rPr sz="2000">
                <a:latin typeface="Calibri"/>
              </a:rPr>
              <a:t>of </a:t>
            </a:r>
            <a:r>
              <a:rPr sz="2000">
                <a:latin typeface="Calibri"/>
              </a:rPr>
              <a:t>contingent </a:t>
            </a:r>
            <a:r>
              <a:rPr sz="2000">
                <a:latin typeface="Calibri"/>
              </a:rPr>
              <a:t>conditions </a:t>
            </a:r>
            <a:r>
              <a:rPr sz="2000">
                <a:latin typeface="Calibri"/>
              </a:rPr>
              <a:t>of </a:t>
            </a:r>
            <a:r>
              <a:rPr sz="2000">
                <a:latin typeface="Calibri"/>
              </a:rPr>
              <a:t>enablement </a:t>
            </a:r>
            <a:r>
              <a:rPr sz="2000">
                <a:latin typeface="Calibri"/>
              </a:rPr>
              <a:t>Universalisation </a:t>
            </a:r>
            <a:r>
              <a:rPr sz="2000">
                <a:latin typeface="Calibri"/>
              </a:rPr>
              <a:t>of </a:t>
            </a:r>
            <a:r>
              <a:rPr sz="2000">
                <a:latin typeface="Calibri"/>
              </a:rPr>
              <a:t>knowledge </a:t>
            </a:r>
            <a:r>
              <a:rPr sz="2000">
                <a:latin typeface="Calibri"/>
              </a:rPr>
              <a:t>acquisition</a:t>
            </a:r>
          </a:p>
          <a:p>
            <a:pPr/>
            <a:r>
              <a:rPr sz="2000">
                <a:latin typeface="Calibri"/>
              </a:rPr>
              <a:t>viewpoint </a:t>
            </a:r>
            <a:r>
              <a:rPr sz="2000">
                <a:latin typeface="Calibri"/>
              </a:rPr>
              <a:t>absolute </a:t>
            </a:r>
            <a:r>
              <a:rPr sz="2000">
                <a:latin typeface="Calibri"/>
              </a:rPr>
              <a:t>sense </a:t>
            </a:r>
            <a:r>
              <a:rPr sz="2000">
                <a:latin typeface="Calibri"/>
              </a:rPr>
              <a:t>horizon, </a:t>
            </a:r>
            <a:r>
              <a:rPr sz="2000">
                <a:latin typeface="Calibri"/>
              </a:rPr>
              <a:t>full </a:t>
            </a:r>
            <a:r>
              <a:rPr sz="2000">
                <a:latin typeface="Calibri"/>
              </a:rPr>
              <a:t>circle), </a:t>
            </a:r>
            <a:r>
              <a:rPr sz="2000">
                <a:latin typeface="Calibri"/>
              </a:rPr>
              <a:t>situation </a:t>
            </a:r>
            <a:r>
              <a:rPr sz="2000">
                <a:latin typeface="Calibri"/>
              </a:rPr>
              <a:t>of </a:t>
            </a:r>
            <a:r>
              <a:rPr sz="2000">
                <a:latin typeface="Calibri"/>
              </a:rPr>
              <a:t>knowledge </a:t>
            </a:r>
            <a:r>
              <a:rPr sz="2000">
                <a:latin typeface="Calibri"/>
              </a:rPr>
              <a:t>at </a:t>
            </a:r>
            <a:r>
              <a:rPr sz="2000">
                <a:latin typeface="Calibri"/>
              </a:rPr>
              <a:t>all</a:t>
            </a:r>
          </a:p>
          <a:p>
            <a:pPr/>
            <a:r>
              <a:rPr sz="2000">
                <a:latin typeface="Calibri"/>
              </a:rPr>
              <a:t>only </a:t>
            </a:r>
            <a:r>
              <a:rPr sz="2000">
                <a:latin typeface="Calibri"/>
              </a:rPr>
              <a:t>approximate </a:t>
            </a:r>
            <a:r>
              <a:rPr sz="2000">
                <a:latin typeface="Calibri"/>
              </a:rPr>
              <a:t>( </a:t>
            </a:r>
            <a:r>
              <a:rPr sz="2000">
                <a:latin typeface="Calibri"/>
              </a:rPr>
              <a:t>self-adhesive)</a:t>
            </a:r>
          </a:p>
          <a:p>
            <a:pPr/>
            <a:r>
              <a:rPr sz="2000">
                <a:latin typeface="Calibri"/>
              </a:rPr>
              <a:t>Social </a:t>
            </a:r>
            <a:r>
              <a:rPr sz="2000">
                <a:latin typeface="Calibri"/>
              </a:rPr>
              <a:t>mediocrity </a:t>
            </a:r>
            <a:r>
              <a:rPr sz="2000">
                <a:latin typeface="Calibri"/>
              </a:rPr>
              <a:t>(see </a:t>
            </a:r>
            <a:r>
              <a:rPr sz="2000">
                <a:latin typeface="Calibri"/>
              </a:rPr>
              <a:t>De </a:t>
            </a:r>
            <a:r>
              <a:rPr sz="2000">
                <a:latin typeface="Calibri"/>
              </a:rPr>
              <a:t>vision </a:t>
            </a:r>
            <a:r>
              <a:rPr sz="2000">
                <a:latin typeface="Calibri"/>
              </a:rPr>
              <a:t>dei)</a:t>
            </a:r>
          </a:p>
          <a:p>
            <a:pPr/>
          </a:p>
          <a:p>
            <a:pPr/>
          </a:p>
          <a:p>
            <a:pPr/>
          </a:p>
          <a:p>
            <a:pPr/>
          </a:p>
          <a:p>
            <a:pPr lvl="1"/>
          </a:p>
          <a:p>
            <a:pPr lvl="1"/>
          </a:p>
          <a:p>
            <a:pPr lvl="1"/>
          </a:p>
          <a:p>
            <a:pPr lvl="5"/>
          </a:p>
          <a:p>
            <a:pPr/>
          </a:p>
        </p:txBody>
      </p:sp>
      <p:sp>
        <p:nvSpPr>
          <p:cNvPr id="9219" name="Rectangle 6">
            <a:extLst>
              <a:ext uri="{FF2B5EF4-FFF2-40B4-BE49-F238E27FC236}">
                <a16:creationId xmlns:a16="http://schemas.microsoft.com/office/drawing/2014/main" id="{AF16B4B3-3D26-B6F3-9768-F437F4E25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15987"/>
            <a:ext cx="8208963" cy="720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1341438" indent="-5334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978025" indent="-4572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2538413" indent="-3810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3098800" indent="-3810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35560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40132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44704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9276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/>
            <a:r>
              <a:rPr sz="3200">
                <a:latin typeface="Calibri"/>
              </a:rPr>
              <a:t>Basic </a:t>
            </a:r>
            <a:r>
              <a:rPr sz="3200">
                <a:latin typeface="Calibri"/>
              </a:rPr>
              <a:t>questions </a:t>
            </a:r>
            <a:r>
              <a:rPr sz="3200">
                <a:latin typeface="Calibri"/>
              </a:rPr>
              <a:t>of </a:t>
            </a:r>
            <a:r>
              <a:rPr sz="3200">
                <a:latin typeface="Calibri"/>
              </a:rPr>
              <a:t>theological </a:t>
            </a:r>
            <a:r>
              <a:rPr sz="3200">
                <a:latin typeface="Calibri"/>
              </a:rPr>
              <a:t>science </a:t>
            </a:r>
            <a:r>
              <a:rPr sz="3200">
                <a:latin typeface="Calibri"/>
              </a:rPr>
              <a:t>theory</a:t>
            </a:r>
          </a:p>
        </p:txBody>
      </p:sp>
    </p:spTree>
    <p:extLst>
      <p:ext uri="{BB962C8B-B14F-4D97-AF65-F5344CB8AC3E}">
        <p14:creationId xmlns:p14="http://schemas.microsoft.com/office/powerpoint/2010/main" val="25937220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8989B-8CCB-3B07-13DA-FFA0E7D0F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5">
            <a:extLst>
              <a:ext uri="{FF2B5EF4-FFF2-40B4-BE49-F238E27FC236}">
                <a16:creationId xmlns:a16="http://schemas.microsoft.com/office/drawing/2014/main" id="{F1636B8B-51BB-279F-B724-94B2C105AD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86" y="2994"/>
            <a:ext cx="9252520" cy="65223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609600" indent="-609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1341438" indent="-5334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978025" indent="-4572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2538413" indent="-3810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3098800" indent="-3810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35560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40132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44704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927600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/>
            <a:r>
              <a:rPr sz="2800">
                <a:latin typeface="Calibri"/>
              </a:rPr>
              <a:t>The </a:t>
            </a:r>
            <a:r>
              <a:rPr sz="2800">
                <a:latin typeface="Calibri"/>
              </a:rPr>
              <a:t>Parable </a:t>
            </a:r>
            <a:r>
              <a:rPr sz="2800">
                <a:latin typeface="Calibri"/>
              </a:rPr>
              <a:t>of </a:t>
            </a:r>
            <a:r>
              <a:rPr sz="2800">
                <a:latin typeface="Calibri"/>
              </a:rPr>
              <a:t>the </a:t>
            </a:r>
            <a:r>
              <a:rPr sz="2800">
                <a:latin typeface="Calibri"/>
              </a:rPr>
              <a:t>Doctor </a:t>
            </a:r>
            <a:r>
              <a:rPr sz="2800">
                <a:latin typeface="Calibri"/>
              </a:rPr>
              <a:t>and </a:t>
            </a:r>
            <a:r>
              <a:rPr sz="2800">
                <a:latin typeface="Calibri"/>
              </a:rPr>
              <a:t>the </a:t>
            </a:r>
            <a:r>
              <a:rPr sz="2800">
                <a:latin typeface="Calibri"/>
              </a:rPr>
              <a:t>Remedy</a:t>
            </a:r>
          </a:p>
          <a:p>
            <a:pPr/>
            <a:r>
              <a:rPr sz="2100">
                <a:latin typeface="Calibri"/>
              </a:rPr>
              <a:t>If </a:t>
            </a:r>
            <a:r>
              <a:rPr sz="2100">
                <a:latin typeface="Calibri"/>
              </a:rPr>
              <a:t>someone </a:t>
            </a:r>
            <a:r>
              <a:rPr sz="2100">
                <a:latin typeface="Calibri"/>
              </a:rPr>
              <a:t>had </a:t>
            </a:r>
            <a:r>
              <a:rPr sz="2100">
                <a:latin typeface="Calibri"/>
              </a:rPr>
              <a:t>a </a:t>
            </a:r>
            <a:r>
              <a:rPr sz="2100">
                <a:latin typeface="Calibri"/>
              </a:rPr>
              <a:t>medicine </a:t>
            </a:r>
            <a:r>
              <a:rPr sz="2100">
                <a:latin typeface="Calibri"/>
              </a:rPr>
              <a:t>that </a:t>
            </a:r>
            <a:r>
              <a:rPr sz="2100">
                <a:latin typeface="Calibri"/>
              </a:rPr>
              <a:t>would </a:t>
            </a:r>
            <a:r>
              <a:rPr sz="2100">
                <a:latin typeface="Calibri"/>
              </a:rPr>
              <a:t>make </a:t>
            </a:r>
            <a:r>
              <a:rPr sz="2100">
                <a:latin typeface="Calibri"/>
              </a:rPr>
              <a:t>him </a:t>
            </a:r>
            <a:r>
              <a:rPr sz="2100">
                <a:latin typeface="Calibri"/>
              </a:rPr>
              <a:t>immortal </a:t>
            </a:r>
            <a:r>
              <a:rPr sz="2100">
                <a:latin typeface="Calibri"/>
              </a:rPr>
              <a:t>with </a:t>
            </a:r>
            <a:r>
              <a:rPr sz="2100">
                <a:latin typeface="Calibri"/>
              </a:rPr>
              <a:t>the </a:t>
            </a:r>
            <a:r>
              <a:rPr sz="2100">
                <a:latin typeface="Calibri"/>
              </a:rPr>
              <a:t>greatest </a:t>
            </a:r>
            <a:r>
              <a:rPr sz="2100">
                <a:latin typeface="Calibri"/>
              </a:rPr>
              <a:t>happiness, </a:t>
            </a:r>
            <a:r>
              <a:rPr sz="2100">
                <a:latin typeface="Calibri"/>
              </a:rPr>
              <a:t>but </a:t>
            </a:r>
            <a:r>
              <a:rPr sz="2100">
                <a:latin typeface="Calibri"/>
              </a:rPr>
              <a:t>did </a:t>
            </a:r>
            <a:r>
              <a:rPr sz="2100">
                <a:latin typeface="Calibri"/>
              </a:rPr>
              <a:t>not </a:t>
            </a:r>
            <a:r>
              <a:rPr sz="2100">
                <a:latin typeface="Calibri"/>
              </a:rPr>
              <a:t>understand </a:t>
            </a:r>
            <a:r>
              <a:rPr sz="2100">
                <a:latin typeface="Calibri"/>
              </a:rPr>
              <a:t>how </a:t>
            </a:r>
            <a:r>
              <a:rPr sz="2100">
                <a:latin typeface="Calibri"/>
              </a:rPr>
              <a:t>to </a:t>
            </a:r>
            <a:r>
              <a:rPr sz="2100">
                <a:latin typeface="Calibri"/>
              </a:rPr>
              <a:t>use </a:t>
            </a:r>
            <a:r>
              <a:rPr sz="2100">
                <a:latin typeface="Calibri"/>
              </a:rPr>
              <a:t>it </a:t>
            </a:r>
            <a:r>
              <a:rPr sz="2100">
                <a:latin typeface="Calibri"/>
              </a:rPr>
              <a:t>- </a:t>
            </a:r>
            <a:r>
              <a:rPr sz="2100">
                <a:latin typeface="Calibri"/>
              </a:rPr>
              <a:t>even </a:t>
            </a:r>
            <a:r>
              <a:rPr sz="2100">
                <a:latin typeface="Calibri"/>
              </a:rPr>
              <a:t>though </a:t>
            </a:r>
            <a:r>
              <a:rPr sz="2100">
                <a:latin typeface="Calibri"/>
              </a:rPr>
              <a:t>he </a:t>
            </a:r>
            <a:r>
              <a:rPr sz="2100">
                <a:latin typeface="Calibri"/>
              </a:rPr>
              <a:t>knew </a:t>
            </a:r>
            <a:r>
              <a:rPr sz="2100">
                <a:latin typeface="Calibri"/>
              </a:rPr>
              <a:t>the </a:t>
            </a:r>
            <a:r>
              <a:rPr sz="2100">
                <a:latin typeface="Calibri"/>
              </a:rPr>
              <a:t>truth </a:t>
            </a:r>
            <a:r>
              <a:rPr sz="2100">
                <a:latin typeface="Calibri"/>
              </a:rPr>
              <a:t>was </a:t>
            </a:r>
            <a:r>
              <a:rPr sz="2100">
                <a:latin typeface="Calibri"/>
              </a:rPr>
              <a:t>in </a:t>
            </a:r>
            <a:r>
              <a:rPr sz="2100">
                <a:latin typeface="Calibri"/>
              </a:rPr>
              <a:t>it </a:t>
            </a:r>
            <a:r>
              <a:rPr sz="2100">
                <a:latin typeface="Calibri"/>
              </a:rPr>
              <a:t>- </a:t>
            </a:r>
            <a:r>
              <a:rPr sz="2100">
                <a:latin typeface="Calibri"/>
              </a:rPr>
              <a:t>and </a:t>
            </a:r>
            <a:r>
              <a:rPr sz="2100">
                <a:latin typeface="Calibri"/>
              </a:rPr>
              <a:t>then </a:t>
            </a:r>
            <a:r>
              <a:rPr sz="2100">
                <a:latin typeface="Calibri"/>
              </a:rPr>
              <a:t>came </a:t>
            </a:r>
            <a:r>
              <a:rPr sz="2100">
                <a:latin typeface="Calibri"/>
              </a:rPr>
              <a:t>a </a:t>
            </a:r>
            <a:r>
              <a:rPr sz="2100">
                <a:latin typeface="Calibri"/>
              </a:rPr>
              <a:t>doctor </a:t>
            </a:r>
            <a:r>
              <a:rPr sz="2100">
                <a:latin typeface="Calibri"/>
              </a:rPr>
              <a:t>who </a:t>
            </a:r>
            <a:r>
              <a:rPr sz="2100">
                <a:latin typeface="Calibri"/>
              </a:rPr>
              <a:t>explained </a:t>
            </a:r>
            <a:r>
              <a:rPr sz="2100">
                <a:latin typeface="Calibri"/>
              </a:rPr>
              <a:t>the </a:t>
            </a:r>
            <a:r>
              <a:rPr sz="2100">
                <a:latin typeface="Calibri"/>
              </a:rPr>
              <a:t>medicine </a:t>
            </a:r>
            <a:r>
              <a:rPr sz="2100">
                <a:latin typeface="Calibri"/>
              </a:rPr>
              <a:t>to </a:t>
            </a:r>
            <a:r>
              <a:rPr sz="2100">
                <a:latin typeface="Calibri"/>
              </a:rPr>
              <a:t>him, </a:t>
            </a:r>
            <a:r>
              <a:rPr sz="2100">
                <a:latin typeface="Calibri"/>
              </a:rPr>
              <a:t>but </a:t>
            </a:r>
            <a:r>
              <a:rPr sz="2100">
                <a:latin typeface="Calibri"/>
              </a:rPr>
              <a:t>the </a:t>
            </a:r>
            <a:r>
              <a:rPr sz="2100">
                <a:latin typeface="Calibri"/>
              </a:rPr>
              <a:t>pharmacy </a:t>
            </a:r>
            <a:r>
              <a:rPr sz="2100">
                <a:latin typeface="Calibri"/>
              </a:rPr>
              <a:t>where </a:t>
            </a:r>
            <a:r>
              <a:rPr sz="2100">
                <a:latin typeface="Calibri"/>
              </a:rPr>
              <a:t>the </a:t>
            </a:r>
            <a:r>
              <a:rPr sz="2100">
                <a:latin typeface="Calibri"/>
              </a:rPr>
              <a:t>antidote </a:t>
            </a:r>
            <a:r>
              <a:rPr sz="2100">
                <a:latin typeface="Calibri"/>
              </a:rPr>
              <a:t>could </a:t>
            </a:r>
            <a:r>
              <a:rPr sz="2100">
                <a:latin typeface="Calibri"/>
              </a:rPr>
              <a:t>be </a:t>
            </a:r>
            <a:r>
              <a:rPr sz="2100">
                <a:latin typeface="Calibri"/>
              </a:rPr>
              <a:t>found </a:t>
            </a:r>
            <a:r>
              <a:rPr sz="2100">
                <a:latin typeface="Calibri"/>
              </a:rPr>
              <a:t>didn't </a:t>
            </a:r>
            <a:r>
              <a:rPr sz="2100">
                <a:latin typeface="Calibri"/>
              </a:rPr>
              <a:t>show, </a:t>
            </a:r>
            <a:r>
              <a:rPr sz="2100">
                <a:latin typeface="Calibri"/>
              </a:rPr>
              <a:t>yes, </a:t>
            </a:r>
            <a:r>
              <a:rPr sz="2100">
                <a:latin typeface="Calibri"/>
              </a:rPr>
              <a:t>even </a:t>
            </a:r>
            <a:r>
              <a:rPr sz="2100">
                <a:latin typeface="Calibri"/>
              </a:rPr>
              <a:t>said </a:t>
            </a:r>
            <a:r>
              <a:rPr sz="2100">
                <a:latin typeface="Calibri"/>
              </a:rPr>
              <a:t>that </a:t>
            </a:r>
            <a:r>
              <a:rPr sz="2100">
                <a:latin typeface="Calibri"/>
              </a:rPr>
              <a:t>what </a:t>
            </a:r>
            <a:r>
              <a:rPr sz="2100">
                <a:latin typeface="Calibri"/>
              </a:rPr>
              <a:t>he </a:t>
            </a:r>
            <a:r>
              <a:rPr sz="2100">
                <a:latin typeface="Calibri"/>
              </a:rPr>
              <a:t>was </a:t>
            </a:r>
            <a:r>
              <a:rPr sz="2100">
                <a:latin typeface="Calibri"/>
              </a:rPr>
              <a:t>talking </a:t>
            </a:r>
            <a:r>
              <a:rPr sz="2100">
                <a:latin typeface="Calibri"/>
              </a:rPr>
              <a:t>about </a:t>
            </a:r>
            <a:r>
              <a:rPr sz="2100">
                <a:latin typeface="Calibri"/>
              </a:rPr>
              <a:t>couldn't </a:t>
            </a:r>
            <a:r>
              <a:rPr sz="2100">
                <a:latin typeface="Calibri"/>
              </a:rPr>
              <a:t>be </a:t>
            </a:r>
            <a:r>
              <a:rPr sz="2100">
                <a:latin typeface="Calibri"/>
              </a:rPr>
              <a:t>found </a:t>
            </a:r>
            <a:r>
              <a:rPr sz="2100">
                <a:latin typeface="Calibri"/>
              </a:rPr>
              <a:t>in </a:t>
            </a:r>
            <a:r>
              <a:rPr sz="2100">
                <a:latin typeface="Calibri"/>
              </a:rPr>
              <a:t>any </a:t>
            </a:r>
            <a:r>
              <a:rPr sz="2100">
                <a:latin typeface="Calibri"/>
              </a:rPr>
              <a:t>pharmacy </a:t>
            </a:r>
            <a:r>
              <a:rPr sz="2100">
                <a:latin typeface="Calibri"/>
              </a:rPr>
              <a:t>in </a:t>
            </a:r>
            <a:r>
              <a:rPr sz="2100">
                <a:latin typeface="Calibri"/>
              </a:rPr>
              <a:t>this </a:t>
            </a:r>
            <a:r>
              <a:rPr sz="2100">
                <a:latin typeface="Calibri"/>
              </a:rPr>
              <a:t>world, </a:t>
            </a:r>
            <a:r>
              <a:rPr sz="2100">
                <a:latin typeface="Calibri"/>
              </a:rPr>
              <a:t>then </a:t>
            </a:r>
            <a:r>
              <a:rPr sz="2100">
                <a:latin typeface="Calibri"/>
              </a:rPr>
              <a:t>that </a:t>
            </a:r>
            <a:r>
              <a:rPr sz="2100">
                <a:latin typeface="Calibri"/>
              </a:rPr>
              <a:t>doctor </a:t>
            </a:r>
            <a:r>
              <a:rPr sz="2100">
                <a:latin typeface="Calibri"/>
              </a:rPr>
              <a:t>wouldn't </a:t>
            </a:r>
            <a:r>
              <a:rPr sz="2100">
                <a:latin typeface="Calibri"/>
              </a:rPr>
              <a:t>be </a:t>
            </a:r>
            <a:r>
              <a:rPr sz="2100">
                <a:latin typeface="Calibri"/>
              </a:rPr>
              <a:t>a </a:t>
            </a:r>
            <a:r>
              <a:rPr sz="2100">
                <a:latin typeface="Calibri"/>
              </a:rPr>
              <a:t>comforter </a:t>
            </a:r>
            <a:r>
              <a:rPr sz="2100">
                <a:latin typeface="Calibri"/>
              </a:rPr>
              <a:t>but </a:t>
            </a:r>
            <a:r>
              <a:rPr sz="2100">
                <a:latin typeface="Calibri"/>
              </a:rPr>
              <a:t>rather </a:t>
            </a:r>
            <a:r>
              <a:rPr sz="2100">
                <a:latin typeface="Calibri"/>
              </a:rPr>
              <a:t>a </a:t>
            </a:r>
            <a:r>
              <a:rPr sz="2100">
                <a:latin typeface="Calibri"/>
              </a:rPr>
              <a:t>troublemaker, </a:t>
            </a:r>
            <a:r>
              <a:rPr sz="2100">
                <a:latin typeface="Calibri"/>
              </a:rPr>
              <a:t>and </a:t>
            </a:r>
            <a:r>
              <a:rPr sz="2100">
                <a:latin typeface="Calibri"/>
              </a:rPr>
              <a:t>his </a:t>
            </a:r>
            <a:r>
              <a:rPr sz="2100">
                <a:latin typeface="Calibri"/>
              </a:rPr>
              <a:t>knowledge </a:t>
            </a:r>
            <a:r>
              <a:rPr sz="2100">
                <a:latin typeface="Calibri"/>
              </a:rPr>
              <a:t>would </a:t>
            </a:r>
            <a:r>
              <a:rPr sz="2100">
                <a:latin typeface="Calibri"/>
              </a:rPr>
              <a:t>be </a:t>
            </a:r>
            <a:r>
              <a:rPr sz="2100">
                <a:latin typeface="Calibri"/>
              </a:rPr>
              <a:t>more </a:t>
            </a:r>
            <a:r>
              <a:rPr sz="2100">
                <a:latin typeface="Calibri"/>
              </a:rPr>
              <a:t>lethal </a:t>
            </a:r>
            <a:r>
              <a:rPr sz="2100">
                <a:latin typeface="Calibri"/>
              </a:rPr>
              <a:t>and </a:t>
            </a:r>
            <a:r>
              <a:rPr sz="2100">
                <a:latin typeface="Calibri"/>
              </a:rPr>
              <a:t>despondent </a:t>
            </a:r>
            <a:r>
              <a:rPr sz="2100">
                <a:latin typeface="Calibri"/>
              </a:rPr>
              <a:t>than </a:t>
            </a:r>
            <a:r>
              <a:rPr sz="2100">
                <a:latin typeface="Calibri"/>
              </a:rPr>
              <a:t>experiential.</a:t>
            </a:r>
          </a:p>
          <a:p>
            <a:pPr/>
            <a:r>
              <a:rPr sz="2100">
                <a:latin typeface="Calibri"/>
              </a:rPr>
              <a:t>But </a:t>
            </a:r>
            <a:r>
              <a:rPr sz="2100">
                <a:latin typeface="Calibri"/>
              </a:rPr>
              <a:t>if </a:t>
            </a:r>
            <a:r>
              <a:rPr sz="2100">
                <a:latin typeface="Calibri"/>
              </a:rPr>
              <a:t>another </a:t>
            </a:r>
            <a:r>
              <a:rPr sz="2100">
                <a:latin typeface="Calibri"/>
              </a:rPr>
              <a:t>doctor </a:t>
            </a:r>
            <a:r>
              <a:rPr sz="2100">
                <a:latin typeface="Calibri"/>
              </a:rPr>
              <a:t>said, </a:t>
            </a:r>
            <a:r>
              <a:rPr sz="2100">
                <a:latin typeface="Calibri"/>
              </a:rPr>
              <a:t>"Your </a:t>
            </a:r>
            <a:r>
              <a:rPr sz="2100">
                <a:latin typeface="Calibri"/>
              </a:rPr>
              <a:t>medicine </a:t>
            </a:r>
            <a:r>
              <a:rPr sz="2100">
                <a:latin typeface="Calibri"/>
              </a:rPr>
              <a:t>is </a:t>
            </a:r>
            <a:r>
              <a:rPr sz="2100">
                <a:latin typeface="Calibri"/>
              </a:rPr>
              <a:t>true </a:t>
            </a:r>
            <a:r>
              <a:rPr sz="2100">
                <a:latin typeface="Calibri"/>
              </a:rPr>
              <a:t>and </a:t>
            </a:r>
            <a:r>
              <a:rPr sz="2100">
                <a:latin typeface="Calibri"/>
              </a:rPr>
              <a:t>speaks </a:t>
            </a:r>
            <a:r>
              <a:rPr sz="2100">
                <a:latin typeface="Calibri"/>
              </a:rPr>
              <a:t>only </a:t>
            </a:r>
            <a:r>
              <a:rPr sz="2100">
                <a:latin typeface="Calibri"/>
              </a:rPr>
              <a:t>of </a:t>
            </a:r>
            <a:r>
              <a:rPr sz="2100">
                <a:latin typeface="Calibri"/>
              </a:rPr>
              <a:t>me </a:t>
            </a:r>
            <a:r>
              <a:rPr sz="2100">
                <a:latin typeface="Calibri"/>
              </a:rPr>
              <a:t>who </a:t>
            </a:r>
            <a:r>
              <a:rPr sz="2100">
                <a:latin typeface="Calibri"/>
              </a:rPr>
              <a:t>am </a:t>
            </a:r>
            <a:r>
              <a:rPr sz="2100">
                <a:latin typeface="Calibri"/>
              </a:rPr>
              <a:t>spirit, </a:t>
            </a:r>
            <a:r>
              <a:rPr sz="2100">
                <a:latin typeface="Calibri"/>
              </a:rPr>
              <a:t>and </a:t>
            </a:r>
            <a:r>
              <a:rPr sz="2100">
                <a:latin typeface="Calibri"/>
              </a:rPr>
              <a:t>I </a:t>
            </a:r>
            <a:r>
              <a:rPr sz="2100">
                <a:latin typeface="Calibri"/>
              </a:rPr>
              <a:t>want </a:t>
            </a:r>
            <a:r>
              <a:rPr sz="2100">
                <a:latin typeface="Calibri"/>
              </a:rPr>
              <a:t>you </a:t>
            </a:r>
            <a:r>
              <a:rPr sz="2100">
                <a:latin typeface="Calibri"/>
              </a:rPr>
              <a:t>to </a:t>
            </a:r>
            <a:r>
              <a:rPr sz="2100">
                <a:latin typeface="Calibri"/>
              </a:rPr>
              <a:t>be </a:t>
            </a:r>
            <a:r>
              <a:rPr sz="2100">
                <a:latin typeface="Calibri"/>
              </a:rPr>
              <a:t>clothed </a:t>
            </a:r>
            <a:r>
              <a:rPr sz="2100">
                <a:latin typeface="Calibri"/>
              </a:rPr>
              <a:t>with </a:t>
            </a:r>
            <a:r>
              <a:rPr sz="2100">
                <a:latin typeface="Calibri"/>
              </a:rPr>
              <a:t>my </a:t>
            </a:r>
            <a:r>
              <a:rPr sz="2100">
                <a:latin typeface="Calibri"/>
              </a:rPr>
              <a:t>power </a:t>
            </a:r>
            <a:r>
              <a:rPr sz="2100">
                <a:latin typeface="Calibri"/>
              </a:rPr>
              <a:t>which </a:t>
            </a:r>
            <a:r>
              <a:rPr sz="2100">
                <a:latin typeface="Calibri"/>
              </a:rPr>
              <a:t>is </a:t>
            </a:r>
            <a:r>
              <a:rPr sz="2100">
                <a:latin typeface="Calibri"/>
              </a:rPr>
              <a:t>supreme. </a:t>
            </a:r>
            <a:r>
              <a:rPr sz="2100">
                <a:latin typeface="Calibri"/>
              </a:rPr>
              <a:t>And </a:t>
            </a:r>
            <a:r>
              <a:rPr sz="2100">
                <a:latin typeface="Calibri"/>
              </a:rPr>
              <a:t>behold, </a:t>
            </a:r>
            <a:r>
              <a:rPr sz="2100">
                <a:latin typeface="Calibri"/>
              </a:rPr>
              <a:t>I </a:t>
            </a:r>
            <a:r>
              <a:rPr sz="2100">
                <a:latin typeface="Calibri"/>
              </a:rPr>
              <a:t>will </a:t>
            </a:r>
            <a:r>
              <a:rPr sz="2100">
                <a:latin typeface="Calibri"/>
              </a:rPr>
              <a:t>be </a:t>
            </a:r>
            <a:r>
              <a:rPr sz="2100">
                <a:latin typeface="Calibri"/>
              </a:rPr>
              <a:t>the </a:t>
            </a:r>
            <a:r>
              <a:rPr sz="2100">
                <a:latin typeface="Calibri"/>
              </a:rPr>
              <a:t>anointing </a:t>
            </a:r>
            <a:r>
              <a:rPr sz="2100">
                <a:latin typeface="Calibri"/>
              </a:rPr>
              <a:t>that </a:t>
            </a:r>
            <a:r>
              <a:rPr sz="2100">
                <a:latin typeface="Calibri"/>
              </a:rPr>
              <a:t>descends </a:t>
            </a:r>
            <a:r>
              <a:rPr sz="2100">
                <a:latin typeface="Calibri"/>
              </a:rPr>
              <a:t>into </a:t>
            </a:r>
            <a:r>
              <a:rPr sz="2100">
                <a:latin typeface="Calibri"/>
              </a:rPr>
              <a:t>your </a:t>
            </a:r>
            <a:r>
              <a:rPr sz="2100">
                <a:latin typeface="Calibri"/>
              </a:rPr>
              <a:t>mind </a:t>
            </a:r>
            <a:r>
              <a:rPr sz="2100">
                <a:latin typeface="Calibri"/>
              </a:rPr>
              <a:t>and </a:t>
            </a:r>
            <a:r>
              <a:rPr sz="2100">
                <a:latin typeface="Calibri"/>
              </a:rPr>
              <a:t>accomplishes </a:t>
            </a:r>
            <a:r>
              <a:rPr sz="2100">
                <a:latin typeface="Calibri"/>
              </a:rPr>
              <a:t>all </a:t>
            </a:r>
            <a:r>
              <a:rPr sz="2100">
                <a:latin typeface="Calibri"/>
              </a:rPr>
              <a:t>that </a:t>
            </a:r>
            <a:r>
              <a:rPr sz="2100">
                <a:latin typeface="Calibri"/>
              </a:rPr>
              <a:t>the </a:t>
            </a:r>
            <a:r>
              <a:rPr sz="2100">
                <a:latin typeface="Calibri"/>
              </a:rPr>
              <a:t>medicine </a:t>
            </a:r>
            <a:r>
              <a:rPr sz="2100">
                <a:latin typeface="Calibri"/>
              </a:rPr>
              <a:t>promises" </a:t>
            </a:r>
            <a:r>
              <a:rPr sz="2100">
                <a:latin typeface="Calibri"/>
              </a:rPr>
              <a:t>- </a:t>
            </a:r>
            <a:r>
              <a:rPr sz="2100">
                <a:latin typeface="Calibri"/>
              </a:rPr>
              <a:t>o </a:t>
            </a:r>
            <a:r>
              <a:rPr sz="2100">
                <a:latin typeface="Calibri"/>
              </a:rPr>
              <a:t>what </a:t>
            </a:r>
            <a:r>
              <a:rPr sz="2100">
                <a:latin typeface="Calibri"/>
              </a:rPr>
              <a:t>joy </a:t>
            </a:r>
            <a:r>
              <a:rPr sz="2100">
                <a:latin typeface="Calibri"/>
              </a:rPr>
              <a:t>this </a:t>
            </a:r>
            <a:r>
              <a:rPr sz="2100">
                <a:latin typeface="Calibri"/>
              </a:rPr>
              <a:t>physician </a:t>
            </a:r>
            <a:r>
              <a:rPr sz="2100">
                <a:latin typeface="Calibri"/>
              </a:rPr>
              <a:t>would </a:t>
            </a:r>
            <a:r>
              <a:rPr sz="2100">
                <a:latin typeface="Calibri"/>
              </a:rPr>
              <a:t>have </a:t>
            </a:r>
            <a:r>
              <a:rPr sz="2100">
                <a:latin typeface="Calibri"/>
              </a:rPr>
              <a:t>in </a:t>
            </a:r>
            <a:r>
              <a:rPr sz="2100">
                <a:latin typeface="Calibri"/>
              </a:rPr>
              <a:t>being </a:t>
            </a:r>
            <a:r>
              <a:rPr sz="2100">
                <a:latin typeface="Calibri"/>
              </a:rPr>
              <a:t>admitted </a:t>
            </a:r>
            <a:r>
              <a:rPr sz="2100">
                <a:latin typeface="Calibri"/>
              </a:rPr>
              <a:t>to </a:t>
            </a:r>
            <a:r>
              <a:rPr sz="2100">
                <a:latin typeface="Calibri"/>
              </a:rPr>
              <a:t>the </a:t>
            </a:r>
            <a:r>
              <a:rPr sz="2100">
                <a:latin typeface="Calibri"/>
              </a:rPr>
              <a:t>inn </a:t>
            </a:r>
            <a:r>
              <a:rPr sz="2100">
                <a:latin typeface="Calibri"/>
              </a:rPr>
              <a:t>of </a:t>
            </a:r>
            <a:r>
              <a:rPr sz="2100">
                <a:latin typeface="Calibri"/>
              </a:rPr>
              <a:t>the </a:t>
            </a:r>
            <a:r>
              <a:rPr sz="2100">
                <a:latin typeface="Calibri"/>
              </a:rPr>
              <a:t>reasonable </a:t>
            </a:r>
            <a:r>
              <a:rPr sz="2100">
                <a:latin typeface="Calibri"/>
              </a:rPr>
              <a:t>spirit! </a:t>
            </a:r>
            <a:r>
              <a:rPr sz="2100">
                <a:latin typeface="Calibri"/>
              </a:rPr>
              <a:t>And </a:t>
            </a:r>
            <a:r>
              <a:rPr sz="2100">
                <a:latin typeface="Calibri"/>
              </a:rPr>
              <a:t>if </a:t>
            </a:r>
            <a:r>
              <a:rPr sz="2100">
                <a:latin typeface="Calibri"/>
              </a:rPr>
              <a:t>this </a:t>
            </a:r>
            <a:r>
              <a:rPr sz="2100">
                <a:latin typeface="Calibri"/>
              </a:rPr>
              <a:t>physician </a:t>
            </a:r>
            <a:r>
              <a:rPr sz="2100">
                <a:latin typeface="Calibri"/>
              </a:rPr>
              <a:t>foresaw, </a:t>
            </a:r>
            <a:r>
              <a:rPr sz="2100">
                <a:latin typeface="Calibri"/>
              </a:rPr>
              <a:t>so </a:t>
            </a:r>
            <a:r>
              <a:rPr sz="2100">
                <a:latin typeface="Calibri"/>
              </a:rPr>
              <a:t>that </a:t>
            </a:r>
            <a:r>
              <a:rPr sz="2100">
                <a:latin typeface="Calibri"/>
              </a:rPr>
              <a:t>you </a:t>
            </a:r>
            <a:r>
              <a:rPr sz="2100">
                <a:latin typeface="Calibri"/>
              </a:rPr>
              <a:t>might </a:t>
            </a:r>
            <a:r>
              <a:rPr sz="2100">
                <a:latin typeface="Calibri"/>
              </a:rPr>
              <a:t>be </a:t>
            </a:r>
            <a:r>
              <a:rPr sz="2100">
                <a:latin typeface="Calibri"/>
              </a:rPr>
              <a:t>even </a:t>
            </a:r>
            <a:r>
              <a:rPr sz="2100">
                <a:latin typeface="Calibri"/>
              </a:rPr>
              <a:t>more </a:t>
            </a:r>
            <a:r>
              <a:rPr sz="2100">
                <a:latin typeface="Calibri"/>
              </a:rPr>
              <a:t>certain, </a:t>
            </a:r>
            <a:r>
              <a:rPr sz="2100">
                <a:latin typeface="Calibri"/>
              </a:rPr>
              <a:t>the </a:t>
            </a:r>
            <a:r>
              <a:rPr sz="2100">
                <a:latin typeface="Calibri"/>
              </a:rPr>
              <a:t>pledge </a:t>
            </a:r>
            <a:r>
              <a:rPr sz="2100">
                <a:latin typeface="Calibri"/>
              </a:rPr>
              <a:t>of </a:t>
            </a:r>
            <a:r>
              <a:rPr sz="2100">
                <a:latin typeface="Calibri"/>
              </a:rPr>
              <a:t>his </a:t>
            </a:r>
            <a:r>
              <a:rPr sz="2100">
                <a:latin typeface="Calibri"/>
              </a:rPr>
              <a:t>power </a:t>
            </a:r>
            <a:r>
              <a:rPr sz="2100">
                <a:latin typeface="Calibri"/>
              </a:rPr>
              <a:t>in </a:t>
            </a:r>
            <a:r>
              <a:rPr sz="2100">
                <a:latin typeface="Calibri"/>
              </a:rPr>
              <a:t>the </a:t>
            </a:r>
            <a:r>
              <a:rPr sz="2100">
                <a:latin typeface="Calibri"/>
              </a:rPr>
              <a:t>soul, </a:t>
            </a:r>
            <a:r>
              <a:rPr sz="2100">
                <a:latin typeface="Calibri"/>
              </a:rPr>
              <a:t>so </a:t>
            </a:r>
            <a:r>
              <a:rPr sz="2100">
                <a:latin typeface="Calibri"/>
              </a:rPr>
              <a:t>that </a:t>
            </a:r>
            <a:r>
              <a:rPr sz="2100">
                <a:latin typeface="Calibri"/>
              </a:rPr>
              <a:t>you </a:t>
            </a:r>
            <a:r>
              <a:rPr sz="2100">
                <a:latin typeface="Calibri"/>
              </a:rPr>
              <a:t>may </a:t>
            </a:r>
            <a:r>
              <a:rPr sz="2100">
                <a:latin typeface="Calibri"/>
              </a:rPr>
              <a:t>feel </a:t>
            </a:r>
            <a:r>
              <a:rPr sz="2100">
                <a:latin typeface="Calibri"/>
              </a:rPr>
              <a:t>how </a:t>
            </a:r>
            <a:r>
              <a:rPr sz="2100">
                <a:latin typeface="Calibri"/>
              </a:rPr>
              <a:t>in </a:t>
            </a:r>
            <a:r>
              <a:rPr sz="2100">
                <a:latin typeface="Calibri"/>
              </a:rPr>
              <a:t>all </a:t>
            </a:r>
            <a:r>
              <a:rPr sz="2100">
                <a:latin typeface="Calibri"/>
              </a:rPr>
              <a:t>adversity </a:t>
            </a:r>
            <a:r>
              <a:rPr sz="2100">
                <a:latin typeface="Calibri"/>
              </a:rPr>
              <a:t>the </a:t>
            </a:r>
            <a:r>
              <a:rPr sz="2100">
                <a:latin typeface="Calibri"/>
              </a:rPr>
              <a:t>presence </a:t>
            </a:r>
            <a:r>
              <a:rPr sz="2100">
                <a:latin typeface="Calibri"/>
              </a:rPr>
              <a:t>of </a:t>
            </a:r>
            <a:r>
              <a:rPr sz="2100">
                <a:latin typeface="Calibri"/>
              </a:rPr>
              <a:t>the </a:t>
            </a:r>
            <a:r>
              <a:rPr sz="2100">
                <a:latin typeface="Calibri"/>
              </a:rPr>
              <a:t>guest </a:t>
            </a:r>
            <a:r>
              <a:rPr sz="2100">
                <a:latin typeface="Calibri"/>
              </a:rPr>
              <a:t>increases </a:t>
            </a:r>
            <a:r>
              <a:rPr sz="2100">
                <a:latin typeface="Calibri"/>
              </a:rPr>
              <a:t>the </a:t>
            </a:r>
            <a:r>
              <a:rPr sz="2100">
                <a:latin typeface="Calibri"/>
              </a:rPr>
              <a:t>joy, </a:t>
            </a:r>
            <a:r>
              <a:rPr sz="2100">
                <a:latin typeface="Calibri"/>
              </a:rPr>
              <a:t>the </a:t>
            </a:r>
            <a:r>
              <a:rPr sz="2100">
                <a:latin typeface="Calibri"/>
              </a:rPr>
              <a:t>pledge </a:t>
            </a:r>
            <a:r>
              <a:rPr sz="2100">
                <a:latin typeface="Calibri"/>
              </a:rPr>
              <a:t>of </a:t>
            </a:r>
            <a:r>
              <a:rPr sz="2100">
                <a:latin typeface="Calibri"/>
              </a:rPr>
              <a:t>exaltation </a:t>
            </a:r>
            <a:r>
              <a:rPr sz="2100">
                <a:latin typeface="Calibri"/>
              </a:rPr>
              <a:t>brings </a:t>
            </a:r>
            <a:r>
              <a:rPr sz="2100">
                <a:latin typeface="Calibri"/>
              </a:rPr>
              <a:t>untold </a:t>
            </a:r>
            <a:r>
              <a:rPr sz="2100">
                <a:latin typeface="Calibri"/>
              </a:rPr>
              <a:t>consolation, </a:t>
            </a:r>
            <a:r>
              <a:rPr sz="2100">
                <a:latin typeface="Calibri"/>
              </a:rPr>
              <a:t>because </a:t>
            </a:r>
            <a:r>
              <a:rPr sz="2100">
                <a:latin typeface="Calibri"/>
              </a:rPr>
              <a:t>you </a:t>
            </a:r>
            <a:r>
              <a:rPr sz="2100">
                <a:latin typeface="Calibri"/>
              </a:rPr>
              <a:t>saw </a:t>
            </a:r>
            <a:r>
              <a:rPr sz="2100">
                <a:latin typeface="Calibri"/>
              </a:rPr>
              <a:t>that </a:t>
            </a:r>
            <a:r>
              <a:rPr sz="2100">
                <a:latin typeface="Calibri"/>
              </a:rPr>
              <a:t>by </a:t>
            </a:r>
            <a:r>
              <a:rPr sz="2100">
                <a:latin typeface="Calibri"/>
              </a:rPr>
              <a:t>sowing </a:t>
            </a:r>
            <a:r>
              <a:rPr sz="2100">
                <a:latin typeface="Calibri"/>
              </a:rPr>
              <a:t>together </a:t>
            </a:r>
            <a:r>
              <a:rPr sz="2100">
                <a:latin typeface="Calibri"/>
              </a:rPr>
              <a:t>"the </a:t>
            </a:r>
            <a:r>
              <a:rPr sz="2100">
                <a:latin typeface="Calibri"/>
              </a:rPr>
              <a:t>peace </a:t>
            </a:r>
            <a:r>
              <a:rPr sz="2100">
                <a:latin typeface="Calibri"/>
              </a:rPr>
              <a:t>of </a:t>
            </a:r>
            <a:r>
              <a:rPr sz="2100">
                <a:latin typeface="Calibri"/>
              </a:rPr>
              <a:t>mind, </a:t>
            </a:r>
            <a:r>
              <a:rPr sz="2100">
                <a:latin typeface="Calibri"/>
              </a:rPr>
              <a:t>in </a:t>
            </a:r>
            <a:r>
              <a:rPr sz="2100">
                <a:latin typeface="Calibri"/>
              </a:rPr>
              <a:t>the </a:t>
            </a:r>
            <a:r>
              <a:rPr sz="2100">
                <a:latin typeface="Calibri"/>
              </a:rPr>
              <a:t>heat </a:t>
            </a:r>
            <a:r>
              <a:rPr sz="2100">
                <a:latin typeface="Calibri"/>
              </a:rPr>
              <a:t>of </a:t>
            </a:r>
            <a:r>
              <a:rPr sz="2100">
                <a:latin typeface="Calibri"/>
              </a:rPr>
              <a:t>our </a:t>
            </a:r>
            <a:r>
              <a:rPr sz="2100">
                <a:latin typeface="Calibri"/>
              </a:rPr>
              <a:t>hearts", </a:t>
            </a:r>
            <a:r>
              <a:rPr sz="2100">
                <a:latin typeface="Calibri"/>
              </a:rPr>
              <a:t>all </a:t>
            </a:r>
            <a:r>
              <a:rPr sz="2100">
                <a:latin typeface="Calibri"/>
              </a:rPr>
              <a:t>things </a:t>
            </a:r>
            <a:r>
              <a:rPr sz="2100">
                <a:latin typeface="Calibri"/>
              </a:rPr>
              <a:t>would </a:t>
            </a:r>
            <a:r>
              <a:rPr sz="2100">
                <a:latin typeface="Calibri"/>
              </a:rPr>
              <a:t>be </a:t>
            </a:r>
            <a:r>
              <a:rPr sz="2100">
                <a:latin typeface="Calibri"/>
              </a:rPr>
              <a:t>destroyed </a:t>
            </a:r>
            <a:r>
              <a:rPr sz="2100">
                <a:latin typeface="Calibri"/>
              </a:rPr>
              <a:t>underneath </a:t>
            </a:r>
            <a:r>
              <a:rPr sz="2100">
                <a:latin typeface="Calibri"/>
              </a:rPr>
              <a:t>us. </a:t>
            </a:r>
            <a:r>
              <a:rPr sz="2100">
                <a:latin typeface="Calibri"/>
              </a:rPr>
              <a:t>(CCXXII)</a:t>
            </a:r>
          </a:p>
        </p:txBody>
      </p:sp>
    </p:spTree>
    <p:extLst>
      <p:ext uri="{BB962C8B-B14F-4D97-AF65-F5344CB8AC3E}">
        <p14:creationId xmlns:p14="http://schemas.microsoft.com/office/powerpoint/2010/main" val="31950953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17BD2-5B6E-0DB6-B11D-4888FB734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2">
            <a:extLst>
              <a:ext uri="{FF2B5EF4-FFF2-40B4-BE49-F238E27FC236}">
                <a16:creationId xmlns:a16="http://schemas.microsoft.com/office/drawing/2014/main" id="{5AACE55B-E421-5939-30AA-2B95860FC22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1372393"/>
            <a:ext cx="9144000" cy="31035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8980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/>
            <a:r>
              <a:rPr b="1" i="1" sz="3800">
                <a:latin typeface="Times New Roman"/>
              </a:rPr>
              <a:t>In </a:t>
            </a:r>
            <a:r>
              <a:rPr b="1" i="1" sz="3800">
                <a:latin typeface="Times New Roman"/>
              </a:rPr>
              <a:t>altitude </a:t>
            </a:r>
            <a:r>
              <a:rPr b="1" i="1" sz="3800">
                <a:latin typeface="Times New Roman"/>
              </a:rPr>
              <a:t>intelligentiaeThe </a:t>
            </a:r>
            <a:r>
              <a:rPr b="1" i="1" sz="3800">
                <a:latin typeface="Times New Roman"/>
              </a:rPr>
              <a:t>transformation </a:t>
            </a:r>
            <a:r>
              <a:rPr b="1" i="1" sz="3800">
                <a:latin typeface="Times New Roman"/>
              </a:rPr>
              <a:t>of </a:t>
            </a:r>
            <a:r>
              <a:rPr sz="3800">
                <a:latin typeface="Times New Roman"/>
              </a:rPr>
              <a:t>the </a:t>
            </a:r>
            <a:r>
              <a:rPr b="1" i="1" sz="3800">
                <a:latin typeface="Times New Roman"/>
              </a:rPr>
              <a:t>scientific </a:t>
            </a:r>
            <a:r>
              <a:rPr b="1" i="1" sz="3800">
                <a:latin typeface="Times New Roman"/>
              </a:rPr>
              <a:t>theory </a:t>
            </a:r>
            <a:r>
              <a:rPr b="1" i="1" sz="3800">
                <a:latin typeface="Times New Roman"/>
              </a:rPr>
              <a:t>of </a:t>
            </a:r>
            <a:r>
              <a:rPr b="1" i="1" sz="3800">
                <a:latin typeface="Times New Roman"/>
              </a:rPr>
              <a:t>theology </a:t>
            </a:r>
            <a:r>
              <a:rPr b="1" i="1" sz="3800">
                <a:latin typeface="Times New Roman"/>
              </a:rPr>
              <a:t>at </a:t>
            </a:r>
            <a:r>
              <a:rPr b="1" i="1" sz="3800">
                <a:latin typeface="Times New Roman"/>
              </a:rPr>
              <a:t>Cusanus</a:t>
            </a:r>
          </a:p>
        </p:txBody>
      </p:sp>
      <p:sp>
        <p:nvSpPr>
          <p:cNvPr id="6146" name="Rectangle 3">
            <a:extLst>
              <a:ext uri="{FF2B5EF4-FFF2-40B4-BE49-F238E27FC236}">
                <a16:creationId xmlns:a16="http://schemas.microsoft.com/office/drawing/2014/main" id="{4130037E-8DC3-D278-5F62-32847047E5F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979613" y="5981700"/>
            <a:ext cx="7035800" cy="6159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/>
            <a:r>
              <a:rPr sz="1800">
                <a:latin typeface="Times New Roman"/>
              </a:rPr>
              <a:t>Dr. </a:t>
            </a:r>
            <a:r>
              <a:rPr sz="1800">
                <a:latin typeface="Times New Roman"/>
              </a:rPr>
              <a:t>Christian </a:t>
            </a:r>
            <a:r>
              <a:rPr sz="1800">
                <a:latin typeface="Times New Roman"/>
              </a:rPr>
              <a:t>Strobel</a:t>
            </a:r>
          </a:p>
        </p:txBody>
      </p:sp>
      <p:pic>
        <p:nvPicPr>
          <p:cNvPr id="6147" name="Picture 1029">
            <a:extLst>
              <a:ext uri="{FF2B5EF4-FFF2-40B4-BE49-F238E27FC236}">
                <a16:creationId xmlns:a16="http://schemas.microsoft.com/office/drawing/2014/main" id="{A8D1454F-A2CE-1FD1-C8E8-24436760CC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25"/>
          <a:stretch>
            <a:fillRect/>
          </a:stretch>
        </p:blipFill>
        <p:spPr bwMode="invGray">
          <a:xfrm>
            <a:off x="0" y="0"/>
            <a:ext cx="91440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8" name="Picture 1030">
            <a:extLst>
              <a:ext uri="{FF2B5EF4-FFF2-40B4-BE49-F238E27FC236}">
                <a16:creationId xmlns:a16="http://schemas.microsoft.com/office/drawing/2014/main" id="{ADFB6BCB-647E-EED5-CC3E-0EBE88CB7E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4232" y="5901438"/>
            <a:ext cx="4495800" cy="96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9" name="Picture 1030">
            <a:extLst>
              <a:ext uri="{FF2B5EF4-FFF2-40B4-BE49-F238E27FC236}">
                <a16:creationId xmlns:a16="http://schemas.microsoft.com/office/drawing/2014/main" id="{45DBC940-1800-7164-1634-99B0A5EA71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4101" y="3068960"/>
            <a:ext cx="6369050" cy="877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77341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Impressionen">
  <a:themeElements>
    <a:clrScheme name="Impressionen 1">
      <a:dk1>
        <a:srgbClr val="000000"/>
      </a:dk1>
      <a:lt1>
        <a:srgbClr val="FFFFCC"/>
      </a:lt1>
      <a:dk2>
        <a:srgbClr val="4D4D4D"/>
      </a:dk2>
      <a:lt2>
        <a:srgbClr val="FFCC00"/>
      </a:lt2>
      <a:accent1>
        <a:srgbClr val="808000"/>
      </a:accent1>
      <a:accent2>
        <a:srgbClr val="CC9900"/>
      </a:accent2>
      <a:accent3>
        <a:srgbClr val="B2B2B2"/>
      </a:accent3>
      <a:accent4>
        <a:srgbClr val="DADAAE"/>
      </a:accent4>
      <a:accent5>
        <a:srgbClr val="C0C0AA"/>
      </a:accent5>
      <a:accent6>
        <a:srgbClr val="B98A00"/>
      </a:accent6>
      <a:hlink>
        <a:srgbClr val="CC6600"/>
      </a:hlink>
      <a:folHlink>
        <a:srgbClr val="969696"/>
      </a:folHlink>
    </a:clrScheme>
    <a:fontScheme name="Impressione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DE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DE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Impressionen 1">
        <a:dk1>
          <a:srgbClr val="000000"/>
        </a:dk1>
        <a:lt1>
          <a:srgbClr val="FFFFCC"/>
        </a:lt1>
        <a:dk2>
          <a:srgbClr val="4D4D4D"/>
        </a:dk2>
        <a:lt2>
          <a:srgbClr val="FFCC00"/>
        </a:lt2>
        <a:accent1>
          <a:srgbClr val="808000"/>
        </a:accent1>
        <a:accent2>
          <a:srgbClr val="CC9900"/>
        </a:accent2>
        <a:accent3>
          <a:srgbClr val="B2B2B2"/>
        </a:accent3>
        <a:accent4>
          <a:srgbClr val="DADAAE"/>
        </a:accent4>
        <a:accent5>
          <a:srgbClr val="C0C0AA"/>
        </a:accent5>
        <a:accent6>
          <a:srgbClr val="B98A00"/>
        </a:accent6>
        <a:hlink>
          <a:srgbClr val="CC66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mpressionen 2">
        <a:dk1>
          <a:srgbClr val="660033"/>
        </a:dk1>
        <a:lt1>
          <a:srgbClr val="FFFFFF"/>
        </a:lt1>
        <a:dk2>
          <a:srgbClr val="B60009"/>
        </a:dk2>
        <a:lt2>
          <a:srgbClr val="B2B2B2"/>
        </a:lt2>
        <a:accent1>
          <a:srgbClr val="CCCC00"/>
        </a:accent1>
        <a:accent2>
          <a:srgbClr val="DE9ABC"/>
        </a:accent2>
        <a:accent3>
          <a:srgbClr val="FFFFFF"/>
        </a:accent3>
        <a:accent4>
          <a:srgbClr val="56002A"/>
        </a:accent4>
        <a:accent5>
          <a:srgbClr val="E2E2AA"/>
        </a:accent5>
        <a:accent6>
          <a:srgbClr val="C98BAA"/>
        </a:accent6>
        <a:hlink>
          <a:srgbClr val="FFAFA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mpressionen 3">
        <a:dk1>
          <a:srgbClr val="000000"/>
        </a:dk1>
        <a:lt1>
          <a:srgbClr val="FFFFFF"/>
        </a:lt1>
        <a:dk2>
          <a:srgbClr val="000000"/>
        </a:dk2>
        <a:lt2>
          <a:srgbClr val="B2B2B2"/>
        </a:lt2>
        <a:accent1>
          <a:srgbClr val="C0C0C0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C8C8C8"/>
        </a:accent6>
        <a:hlink>
          <a:srgbClr val="80808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mpressionen 4">
        <a:dk1>
          <a:srgbClr val="2C2C42"/>
        </a:dk1>
        <a:lt1>
          <a:srgbClr val="FFFFCC"/>
        </a:lt1>
        <a:dk2>
          <a:srgbClr val="666699"/>
        </a:dk2>
        <a:lt2>
          <a:srgbClr val="FFCC00"/>
        </a:lt2>
        <a:accent1>
          <a:srgbClr val="FF9933"/>
        </a:accent1>
        <a:accent2>
          <a:srgbClr val="808000"/>
        </a:accent2>
        <a:accent3>
          <a:srgbClr val="B8B8CA"/>
        </a:accent3>
        <a:accent4>
          <a:srgbClr val="DADAAE"/>
        </a:accent4>
        <a:accent5>
          <a:srgbClr val="FFCAAD"/>
        </a:accent5>
        <a:accent6>
          <a:srgbClr val="737300"/>
        </a:accent6>
        <a:hlink>
          <a:srgbClr val="CC6600"/>
        </a:hlink>
        <a:folHlink>
          <a:srgbClr val="3333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mpressionen 5">
        <a:dk1>
          <a:srgbClr val="50000F"/>
        </a:dk1>
        <a:lt1>
          <a:srgbClr val="FFCC00"/>
        </a:lt1>
        <a:dk2>
          <a:srgbClr val="800000"/>
        </a:dk2>
        <a:lt2>
          <a:srgbClr val="FFFFCC"/>
        </a:lt2>
        <a:accent1>
          <a:srgbClr val="808000"/>
        </a:accent1>
        <a:accent2>
          <a:srgbClr val="993366"/>
        </a:accent2>
        <a:accent3>
          <a:srgbClr val="C0AAAA"/>
        </a:accent3>
        <a:accent4>
          <a:srgbClr val="DAAE00"/>
        </a:accent4>
        <a:accent5>
          <a:srgbClr val="C0C0AA"/>
        </a:accent5>
        <a:accent6>
          <a:srgbClr val="8A2D5C"/>
        </a:accent6>
        <a:hlink>
          <a:srgbClr val="FF5050"/>
        </a:hlink>
        <a:folHlink>
          <a:srgbClr val="99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mpressionen 6">
        <a:dk1>
          <a:srgbClr val="333300"/>
        </a:dk1>
        <a:lt1>
          <a:srgbClr val="FFCC00"/>
        </a:lt1>
        <a:dk2>
          <a:srgbClr val="666633"/>
        </a:dk2>
        <a:lt2>
          <a:srgbClr val="FFFFCC"/>
        </a:lt2>
        <a:accent1>
          <a:srgbClr val="8F7401"/>
        </a:accent1>
        <a:accent2>
          <a:srgbClr val="CC6600"/>
        </a:accent2>
        <a:accent3>
          <a:srgbClr val="B8B8AD"/>
        </a:accent3>
        <a:accent4>
          <a:srgbClr val="DAAE00"/>
        </a:accent4>
        <a:accent5>
          <a:srgbClr val="C6BCAA"/>
        </a:accent5>
        <a:accent6>
          <a:srgbClr val="B95C00"/>
        </a:accent6>
        <a:hlink>
          <a:srgbClr val="666699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mpressionen 7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 2013 - 2022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 2013 - 2022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3458</TotalTime>
  <Words>2440</Words>
  <Application>Microsoft Macintosh PowerPoint</Application>
  <PresentationFormat>On-screen Show (4:3)</PresentationFormat>
  <Paragraphs>254</Paragraphs>
  <Slides>31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Calibri</vt:lpstr>
      <vt:lpstr>Times New Roman</vt:lpstr>
      <vt:lpstr>Wingdings</vt:lpstr>
      <vt:lpstr>Impressionen</vt:lpstr>
      <vt:lpstr>PowerPoint Presentation</vt:lpstr>
      <vt:lpstr>„In altitudinem intelligentiae“  Die Transformation der Wissenschaftstheorie der Theologie bei Cusanus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„In altitudinem intelligentiae“  Die Transformation der Wissenschaftstheorie der Theologie bei Cusanus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Nikolaus von Kues  (1401-1464)</dc:title>
  <cp:lastModifiedBy>C. S.</cp:lastModifiedBy>
  <cp:revision>212</cp:revision>
  <dcterms:modified xsi:type="dcterms:W3CDTF">2025-06-17T06:55:11Z</dcterms:modified>
</cp:coreProperties>
</file>